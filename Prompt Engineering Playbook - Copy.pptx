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29" r:id="rId2"/>
    <p:sldId id="330" r:id="rId3"/>
    <p:sldId id="367" r:id="rId4"/>
    <p:sldId id="353" r:id="rId5"/>
    <p:sldId id="366" r:id="rId6"/>
    <p:sldId id="354" r:id="rId7"/>
    <p:sldId id="365" r:id="rId8"/>
    <p:sldId id="379" r:id="rId9"/>
    <p:sldId id="369" r:id="rId10"/>
    <p:sldId id="378" r:id="rId11"/>
    <p:sldId id="377" r:id="rId12"/>
    <p:sldId id="360" r:id="rId13"/>
    <p:sldId id="361" r:id="rId14"/>
    <p:sldId id="376" r:id="rId15"/>
    <p:sldId id="373" r:id="rId16"/>
    <p:sldId id="364" r:id="rId17"/>
    <p:sldId id="350" r:id="rId18"/>
    <p:sldId id="296" r:id="rId19"/>
    <p:sldId id="305" r:id="rId20"/>
    <p:sldId id="300" r:id="rId21"/>
    <p:sldId id="306" r:id="rId22"/>
    <p:sldId id="304" r:id="rId23"/>
    <p:sldId id="308" r:id="rId24"/>
    <p:sldId id="370" r:id="rId25"/>
    <p:sldId id="257" r:id="rId26"/>
    <p:sldId id="262" r:id="rId27"/>
    <p:sldId id="263" r:id="rId28"/>
    <p:sldId id="264" r:id="rId29"/>
    <p:sldId id="265" r:id="rId30"/>
    <p:sldId id="266" r:id="rId31"/>
    <p:sldId id="319" r:id="rId32"/>
    <p:sldId id="261" r:id="rId33"/>
    <p:sldId id="259" r:id="rId34"/>
    <p:sldId id="320" r:id="rId35"/>
    <p:sldId id="267" r:id="rId36"/>
    <p:sldId id="268" r:id="rId37"/>
    <p:sldId id="321" r:id="rId38"/>
    <p:sldId id="270" r:id="rId39"/>
    <p:sldId id="31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94A3B8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7C3AE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0CA-4DE7-BB19-16E8957D87A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1B2430"/>
                    </a:solidFill>
                    <a:latin typeface="Source Sans Pr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Standard</c:v>
              </c:pt>
              <c:pt idx="1">
                <c:v>Chain-of-thought</c:v>
              </c:pt>
              <c:pt idx="2">
                <c:v>Self-consistency</c:v>
              </c:pt>
            </c:strLit>
          </c:cat>
          <c:val>
            <c:numLit>
              <c:formatCode>General</c:formatCode>
              <c:ptCount val="3"/>
              <c:pt idx="0">
                <c:v>17.899999999999999</c:v>
              </c:pt>
              <c:pt idx="1">
                <c:v>56.9</c:v>
              </c:pt>
              <c:pt idx="2">
                <c:v>74.400000000000006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0CA-4DE7-BB19-16E8957D87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0C4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B2430"/>
                </a:solidFill>
                <a:latin typeface="Source Sans Pro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AFE8-A441-EA49-91FC-A60681A5C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C0E45-FC12-A367-15D8-2BA694FB3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AC5A-48CE-1398-7ABE-D930BA21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3C41A-2DED-1CC2-CD04-C6D409B6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2F036-2A54-3423-1861-F0599EAD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9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E2BA-11F0-C913-EC5D-0894D9DA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A9AE7-90BF-597E-1B34-148D66160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8C5DD-3979-AFFF-955A-A9C6238F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E499E-A490-E26C-7048-30900DF9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C5430-4253-7A08-774E-13FF2425D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7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0DC9-8767-585B-0562-ADA5DA662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BFA03-B093-CDF8-E74C-C04C6B95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96586-A144-AD5F-19EB-E241A932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D2D24-8983-FD6F-9826-B0632391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5F716-995C-D67D-81F2-3A6D91E2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1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4CAE-CAC7-AB17-B568-EF64317A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4A23C-A1CD-BBD2-C55E-3945B4D07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F7228-E4EB-D7A0-50EF-925F6A7C3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44B52-473C-7C21-799E-BE0FD2CD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690DA-973D-9B04-85D3-BE7A7C0F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8C99E-ACF0-809C-2E8A-F073B920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6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A2F4-5E18-6876-A0C0-5B6869076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71566-71D5-46AE-7010-225485163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BD138-5ED6-4546-DD39-EC78F9E29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C6590-BE8C-A18D-75D0-6C6893183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200D8-635C-5122-1828-1BC66F90A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7B952D-158C-1E9E-6D46-F500C104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7F93E-D7BE-068F-6A95-BF1545F0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D4B88-F32F-6282-7B1B-31F39829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1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7210-359A-2ABF-749B-03FE8573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AC2FF-22AF-20E4-5B84-41D2D665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5A4D7-B7AD-F401-09A4-B4BA4303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F243A-D35B-9CCF-4D6A-594C5E4B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7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BA649-171C-16AC-B8C8-E58790F6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B633B-18DF-E852-4740-7E1FA6AC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AF911-C317-559D-9744-2DE525D4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6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0DCC-672D-9AB6-2181-82B4F2F5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AD279-F824-72DB-FF45-601B18E51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07100-3CA6-488D-6012-17ADA5FA0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E5E2B-AE4D-7EA4-2D62-89859EB6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A6067-97F9-528B-71D8-11467A1D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A857B-FDC6-8033-10EF-ADC97004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8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77E9-4E1C-025C-C390-034F6AD1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D3E911-DC3E-6D3F-FF78-62B08949D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1557D-D69C-CB97-F1E3-E6CD34933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359C6-A46D-D1E1-0001-F18E86510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47C0E-ADBB-5495-D1BD-7D1790BF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B31F0-6898-A1D4-043B-90C3E292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79A8-5721-53F7-4D73-F84E9092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C546B-6854-3FD7-6810-691BA6E9F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2E8F9-B39F-9ED1-6C38-BA3515AF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E4B9E-E2C0-6CB6-6961-3FFE275E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D3D33-D62A-499B-6D29-C2E04574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5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7679AD-37CB-9F48-B38B-908ED9542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307B2-5A15-6950-520F-321C83440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C95E7-ADE3-4549-BFBD-C21BEE17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CA654-1C98-90C3-C203-E72910CA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99163-9F93-CDE7-3A5A-641CFEDB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7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F351B-0D6A-4991-6740-6DC332D6F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2484E-AE78-7C43-FB39-8371F750A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7CF6C-734C-F37C-F3E6-CCC2CEE3C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1C95C-B599-4C0B-969A-621E4FC1EDD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ACC79-6BC2-2005-A8D0-A4265AF0E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ABA8E-4959-EC58-EC21-676EFF5A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60160-C3A2-4271-955A-6731906BEFD0}" type="slidenum">
              <a:rPr lang="en-US" smtClean="0"/>
              <a:t>‹#›</a:t>
            </a:fld>
            <a:endParaRPr lang="en-US"/>
          </a:p>
        </p:txBody>
      </p:sp>
      <p:sp>
        <p:nvSpPr>
          <p:cNvPr id="901" name="AccentBarLef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AccentCorner"/>
          <p:cNvSpPr/>
          <p:nvPr/>
        </p:nvSpPr>
        <p:spPr>
          <a:xfrm>
            <a:off x="8687000" y="6400000"/>
            <a:ext cx="457200" cy="457200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000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1B243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B243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4EE5-5E3A-E605-5087-8271A6318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1B2430"/>
                </a:solidFill>
              </a:rPr>
              <a:t>Prompt Engineering Playbook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4C113-303B-FC8B-1391-FDFD5FF602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1800" dirty="0">
                <a:solidFill>
                  <a:srgbClr val="2563EB"/>
                </a:solidFill>
              </a:rPr>
              <a:t>Frameworks, Techniques &amp; Industry Applications for Working with LLMs</a:t>
            </a:r>
          </a:p>
        </p:txBody>
      </p:sp>
    </p:spTree>
    <p:extLst>
      <p:ext uri="{BB962C8B-B14F-4D97-AF65-F5344CB8AC3E}">
        <p14:creationId xmlns:p14="http://schemas.microsoft.com/office/powerpoint/2010/main" val="221220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157B-31C2-76C1-9D7F-7C586B7D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D1A86-2CD5-AD84-8AD4-AB4A770C4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Why prompting matters</a:t>
            </a:r>
            <a:r>
              <a:rPr lang="en-US" sz="2000" dirty="0">
                <a:solidFill>
                  <a:srgbClr val="475569"/>
                </a:solidFill>
              </a:rPr>
              <a:t>: failure modes and the prompts-as-code mindset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RCTFC</a:t>
            </a:r>
            <a:r>
              <a:rPr lang="en-US" sz="2000" dirty="0">
                <a:solidFill>
                  <a:srgbClr val="475569"/>
                </a:solidFill>
              </a:rPr>
              <a:t>: a five-field prompt structure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Few-shot prompting</a:t>
            </a:r>
            <a:r>
              <a:rPr lang="en-US" sz="2000" dirty="0">
                <a:solidFill>
                  <a:srgbClr val="475569"/>
                </a:solidFill>
              </a:rPr>
              <a:t>: steering output with examples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Chain-of-thought</a:t>
            </a:r>
            <a:r>
              <a:rPr lang="en-US" sz="2000" dirty="0">
                <a:solidFill>
                  <a:srgbClr val="475569"/>
                </a:solidFill>
              </a:rPr>
              <a:t>: reasoning before answering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Prompt chaining</a:t>
            </a:r>
            <a:r>
              <a:rPr lang="en-US" sz="2000" dirty="0">
                <a:solidFill>
                  <a:srgbClr val="475569"/>
                </a:solidFill>
              </a:rPr>
              <a:t>: multi-call pipelines joined by code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Meta prompting</a:t>
            </a:r>
            <a:r>
              <a:rPr lang="en-US" sz="2000" dirty="0">
                <a:solidFill>
                  <a:srgbClr val="475569"/>
                </a:solidFill>
              </a:rPr>
              <a:t>: LLMs that write and refine prompts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Technique comparison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Industry prompt library</a:t>
            </a:r>
            <a:r>
              <a:rPr lang="en-US" sz="2000" dirty="0">
                <a:solidFill>
                  <a:srgbClr val="475569"/>
                </a:solidFill>
              </a:rPr>
              <a:t>: DevOps, IT infrastructure, Python backend, finance, HR, banking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/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4195981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4909-8914-902C-A7A4-8C890E74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model, same task: the prompt decides whether the output is usable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905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27000" rIns="177800" bIns="127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DC2626"/>
                </a:solidFill>
              </a:rPr>
              <a:t>VAGUE PROMPT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Summarize this incident.</a:t>
            </a:r>
          </a:p>
        </p:txBody>
      </p:sp>
      <p:sp>
        <p:nvSpPr>
          <p:cNvPr id="101" name="Diagram 101"/>
          <p:cNvSpPr/>
          <p:nvPr/>
        </p:nvSpPr>
        <p:spPr>
          <a:xfrm>
            <a:off x="838200" y="3683000"/>
            <a:ext cx="34290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27000" rIns="177800" bIns="127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SPECIFIED PROMPT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Role: on-call SRE lead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Context: logs, timeline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Task: find root cause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Format: 5-bullet postmortem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Constraints: cite log lines</a:t>
            </a:r>
          </a:p>
        </p:txBody>
      </p:sp>
      <p:sp>
        <p:nvSpPr>
          <p:cNvPr id="102" name="Diagram 102"/>
          <p:cNvSpPr/>
          <p:nvPr/>
        </p:nvSpPr>
        <p:spPr>
          <a:xfrm>
            <a:off x="5029200" y="1905000"/>
            <a:ext cx="1905000" cy="3873500"/>
          </a:xfrm>
          <a:prstGeom prst="roundRect">
            <a:avLst>
              <a:gd name="adj" fmla="val 6000"/>
            </a:avLst>
          </a:prstGeom>
          <a:solidFill>
            <a:srgbClr val="0F1B2E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FFFF"/>
                </a:solidFill>
              </a:rPr>
              <a:t>LLM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CBD5E1"/>
                </a:solidFill>
              </a:rPr>
              <a:t>same model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CBD5E1"/>
                </a:solidFill>
              </a:rPr>
              <a:t>same weights</a:t>
            </a:r>
          </a:p>
        </p:txBody>
      </p:sp>
      <p:sp>
        <p:nvSpPr>
          <p:cNvPr id="103" name="Diagram 103"/>
          <p:cNvSpPr/>
          <p:nvPr/>
        </p:nvSpPr>
        <p:spPr>
          <a:xfrm>
            <a:off x="7696200" y="1905000"/>
            <a:ext cx="36576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27000" rIns="177800" bIns="127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OUTPUT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Generic summary. The model guesses the audience, length, format and focus.</a:t>
            </a:r>
          </a:p>
        </p:txBody>
      </p:sp>
      <p:sp>
        <p:nvSpPr>
          <p:cNvPr id="104" name="Diagram 104"/>
          <p:cNvSpPr/>
          <p:nvPr/>
        </p:nvSpPr>
        <p:spPr>
          <a:xfrm>
            <a:off x="7696200" y="3683000"/>
            <a:ext cx="36576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27000" rIns="177800" bIns="127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OUTPUT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Root cause, timeline and fix in the requested format, each claim tied to a log line.</a:t>
            </a:r>
          </a:p>
        </p:txBody>
      </p:sp>
      <p:cxnSp>
        <p:nvCxnSpPr>
          <p:cNvPr id="105" name="Arrow 105"/>
          <p:cNvCxnSpPr/>
          <p:nvPr/>
        </p:nvCxnSpPr>
        <p:spPr>
          <a:xfrm>
            <a:off x="4267200" y="2667000"/>
            <a:ext cx="762000" cy="0"/>
          </a:xfrm>
          <a:prstGeom prst="straightConnector1">
            <a:avLst/>
          </a:prstGeom>
          <a:ln w="22225">
            <a:solidFill>
              <a:srgbClr val="94A3B8"/>
            </a:solidFill>
            <a:tailEnd type="triangle" w="med" len="med"/>
          </a:ln>
        </p:spPr>
      </p:cxnSp>
      <p:cxnSp>
        <p:nvCxnSpPr>
          <p:cNvPr id="106" name="Arrow 106"/>
          <p:cNvCxnSpPr/>
          <p:nvPr/>
        </p:nvCxnSpPr>
        <p:spPr>
          <a:xfrm>
            <a:off x="4267200" y="4724400"/>
            <a:ext cx="762000" cy="0"/>
          </a:xfrm>
          <a:prstGeom prst="straightConnector1">
            <a:avLst/>
          </a:prstGeom>
          <a:ln w="22225">
            <a:solidFill>
              <a:srgbClr val="94A3B8"/>
            </a:solidFill>
            <a:tailEnd type="triangle" w="med" len="med"/>
          </a:ln>
        </p:spPr>
      </p:cxnSp>
      <p:cxnSp>
        <p:nvCxnSpPr>
          <p:cNvPr id="107" name="Arrow 107"/>
          <p:cNvCxnSpPr/>
          <p:nvPr/>
        </p:nvCxnSpPr>
        <p:spPr>
          <a:xfrm>
            <a:off x="6934200" y="2667000"/>
            <a:ext cx="762000" cy="0"/>
          </a:xfrm>
          <a:prstGeom prst="straightConnector1">
            <a:avLst/>
          </a:prstGeom>
          <a:ln w="22225">
            <a:solidFill>
              <a:srgbClr val="94A3B8"/>
            </a:solidFill>
            <a:tailEnd type="triangle" w="med" len="med"/>
          </a:ln>
        </p:spPr>
      </p:cxnSp>
      <p:cxnSp>
        <p:nvCxnSpPr>
          <p:cNvPr id="108" name="Arrow 108"/>
          <p:cNvCxnSpPr/>
          <p:nvPr/>
        </p:nvCxnSpPr>
        <p:spPr>
          <a:xfrm>
            <a:off x="6934200" y="4724400"/>
            <a:ext cx="762000" cy="0"/>
          </a:xfrm>
          <a:prstGeom prst="straightConnector1">
            <a:avLst/>
          </a:prstGeom>
          <a:ln w="22225">
            <a:solidFill>
              <a:srgbClr val="94A3B8"/>
            </a:solidFill>
            <a:tailEnd type="triangle" w="med" len="med"/>
          </a:ln>
        </p:spPr>
      </p:cxnSp>
      <p:sp>
        <p:nvSpPr>
          <p:cNvPr id="109" name="Diagram 109"/>
          <p:cNvSpPr/>
          <p:nvPr/>
        </p:nvSpPr>
        <p:spPr>
          <a:xfrm>
            <a:off x="838200" y="5969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475569"/>
                </a:solidFill>
              </a:rPr>
              <a:t>Why: </a:t>
            </a:r>
            <a:r>
              <a:rPr lang="en-US" sz="1400" dirty="0">
                <a:solidFill>
                  <a:srgbClr val="475569"/>
                </a:solidFill>
              </a:rPr>
              <a:t>an LLM samples from P(output | prompt). Each missing detail widens that distribution, and the model falls back to the most generic continuation.</a:t>
            </a:r>
          </a:p>
        </p:txBody>
      </p:sp>
    </p:spTree>
    <p:extLst>
      <p:ext uri="{BB962C8B-B14F-4D97-AF65-F5344CB8AC3E}">
        <p14:creationId xmlns:p14="http://schemas.microsoft.com/office/powerpoint/2010/main" val="96521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5732-07E1-3FFC-1779-9FCD7A8E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techniques, each fixing a different failure mode</a:t>
            </a:r>
          </a:p>
        </p:txBody>
      </p:sp>
      <p:sp>
        <p:nvSpPr>
          <p:cNvPr id="100" name="Diagram 100"/>
          <p:cNvSpPr/>
          <p:nvPr/>
        </p:nvSpPr>
        <p:spPr>
          <a:xfrm>
            <a:off x="1600200" y="17780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TECHNIQUE</a:t>
            </a:r>
          </a:p>
        </p:txBody>
      </p:sp>
      <p:sp>
        <p:nvSpPr>
          <p:cNvPr id="101" name="Diagram 101"/>
          <p:cNvSpPr/>
          <p:nvPr/>
        </p:nvSpPr>
        <p:spPr>
          <a:xfrm>
            <a:off x="4191000" y="17780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FAILURE IT FIXES</a:t>
            </a:r>
          </a:p>
        </p:txBody>
      </p:sp>
      <p:sp>
        <p:nvSpPr>
          <p:cNvPr id="102" name="Diagram 102"/>
          <p:cNvSpPr/>
          <p:nvPr/>
        </p:nvSpPr>
        <p:spPr>
          <a:xfrm>
            <a:off x="8001000" y="17780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MECHANISM</a:t>
            </a:r>
          </a:p>
        </p:txBody>
      </p:sp>
      <p:sp>
        <p:nvSpPr>
          <p:cNvPr id="103" name="Diagram 103"/>
          <p:cNvSpPr/>
          <p:nvPr/>
        </p:nvSpPr>
        <p:spPr>
          <a:xfrm>
            <a:off x="838200" y="2133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i="1" dirty="0">
                <a:solidFill>
                  <a:srgbClr val="475569"/>
                </a:solidFill>
              </a:rPr>
              <a:t>Inside one prompt</a:t>
            </a:r>
          </a:p>
        </p:txBody>
      </p:sp>
      <p:sp>
        <p:nvSpPr>
          <p:cNvPr id="104" name="Diagram 104"/>
          <p:cNvSpPr/>
          <p:nvPr/>
        </p:nvSpPr>
        <p:spPr>
          <a:xfrm>
            <a:off x="838200" y="4445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i="1" dirty="0">
                <a:solidFill>
                  <a:srgbClr val="475569"/>
                </a:solidFill>
              </a:rPr>
              <a:t>Across multiple LLM calls</a:t>
            </a:r>
          </a:p>
        </p:txBody>
      </p:sp>
      <p:sp>
        <p:nvSpPr>
          <p:cNvPr id="105" name="Diagram 105"/>
          <p:cNvSpPr/>
          <p:nvPr/>
        </p:nvSpPr>
        <p:spPr>
          <a:xfrm>
            <a:off x="838200" y="2438400"/>
            <a:ext cx="105156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06" name="Diagram 106"/>
          <p:cNvSpPr/>
          <p:nvPr/>
        </p:nvSpPr>
        <p:spPr>
          <a:xfrm>
            <a:off x="838200" y="2438400"/>
            <a:ext cx="63500" cy="584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07" name="Diagram 107"/>
          <p:cNvSpPr/>
          <p:nvPr/>
        </p:nvSpPr>
        <p:spPr>
          <a:xfrm>
            <a:off x="1600200" y="2438400"/>
            <a:ext cx="241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563EB"/>
                </a:solidFill>
              </a:rPr>
              <a:t>RCTFC</a:t>
            </a:r>
          </a:p>
        </p:txBody>
      </p:sp>
      <p:sp>
        <p:nvSpPr>
          <p:cNvPr id="108" name="Diagram 108"/>
          <p:cNvSpPr/>
          <p:nvPr/>
        </p:nvSpPr>
        <p:spPr>
          <a:xfrm>
            <a:off x="4191000" y="2438400"/>
            <a:ext cx="368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Model guesses intent, audience and format</a:t>
            </a:r>
          </a:p>
        </p:txBody>
      </p:sp>
      <p:sp>
        <p:nvSpPr>
          <p:cNvPr id="109" name="Diagram 109"/>
          <p:cNvSpPr/>
          <p:nvPr/>
        </p:nvSpPr>
        <p:spPr>
          <a:xfrm>
            <a:off x="8001000" y="2438400"/>
            <a:ext cx="3251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Explicit Role, Context, Task, Format, Constraints fields</a:t>
            </a:r>
          </a:p>
        </p:txBody>
      </p:sp>
      <p:sp>
        <p:nvSpPr>
          <p:cNvPr id="110" name="Diagram 110"/>
          <p:cNvSpPr/>
          <p:nvPr/>
        </p:nvSpPr>
        <p:spPr>
          <a:xfrm>
            <a:off x="838200" y="3098800"/>
            <a:ext cx="105156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11" name="Diagram 111"/>
          <p:cNvSpPr/>
          <p:nvPr/>
        </p:nvSpPr>
        <p:spPr>
          <a:xfrm>
            <a:off x="838200" y="3098800"/>
            <a:ext cx="63500" cy="58420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12" name="Diagram 112"/>
          <p:cNvSpPr/>
          <p:nvPr/>
        </p:nvSpPr>
        <p:spPr>
          <a:xfrm>
            <a:off x="1600200" y="3098800"/>
            <a:ext cx="241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F766E"/>
                </a:solidFill>
              </a:rPr>
              <a:t>Few-shot</a:t>
            </a:r>
          </a:p>
        </p:txBody>
      </p:sp>
      <p:sp>
        <p:nvSpPr>
          <p:cNvPr id="113" name="Diagram 113"/>
          <p:cNvSpPr/>
          <p:nvPr/>
        </p:nvSpPr>
        <p:spPr>
          <a:xfrm>
            <a:off x="4191000" y="3098800"/>
            <a:ext cx="368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Labels or style drift from what you want</a:t>
            </a:r>
          </a:p>
        </p:txBody>
      </p:sp>
      <p:sp>
        <p:nvSpPr>
          <p:cNvPr id="114" name="Diagram 114"/>
          <p:cNvSpPr/>
          <p:nvPr/>
        </p:nvSpPr>
        <p:spPr>
          <a:xfrm>
            <a:off x="8001000" y="3098800"/>
            <a:ext cx="3251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2–5 input/output examples placed in the prompt</a:t>
            </a:r>
          </a:p>
        </p:txBody>
      </p:sp>
      <p:sp>
        <p:nvSpPr>
          <p:cNvPr id="115" name="Diagram 115"/>
          <p:cNvSpPr/>
          <p:nvPr/>
        </p:nvSpPr>
        <p:spPr>
          <a:xfrm>
            <a:off x="838200" y="3759200"/>
            <a:ext cx="105156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16" name="Diagram 116"/>
          <p:cNvSpPr/>
          <p:nvPr/>
        </p:nvSpPr>
        <p:spPr>
          <a:xfrm>
            <a:off x="838200" y="3759200"/>
            <a:ext cx="63500" cy="584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17" name="Diagram 117"/>
          <p:cNvSpPr/>
          <p:nvPr/>
        </p:nvSpPr>
        <p:spPr>
          <a:xfrm>
            <a:off x="1600200" y="3759200"/>
            <a:ext cx="241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C3AED"/>
                </a:solidFill>
              </a:rPr>
              <a:t>Chain-of-thought</a:t>
            </a:r>
          </a:p>
        </p:txBody>
      </p:sp>
      <p:sp>
        <p:nvSpPr>
          <p:cNvPr id="118" name="Diagram 118"/>
          <p:cNvSpPr/>
          <p:nvPr/>
        </p:nvSpPr>
        <p:spPr>
          <a:xfrm>
            <a:off x="4191000" y="3759200"/>
            <a:ext cx="368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Wrong answers on multi-step logic</a:t>
            </a:r>
          </a:p>
        </p:txBody>
      </p:sp>
      <p:sp>
        <p:nvSpPr>
          <p:cNvPr id="119" name="Diagram 119"/>
          <p:cNvSpPr/>
          <p:nvPr/>
        </p:nvSpPr>
        <p:spPr>
          <a:xfrm>
            <a:off x="8001000" y="3759200"/>
            <a:ext cx="3251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Model writes intermediate steps before answering</a:t>
            </a:r>
          </a:p>
        </p:txBody>
      </p:sp>
      <p:sp>
        <p:nvSpPr>
          <p:cNvPr id="120" name="Diagram 120"/>
          <p:cNvSpPr/>
          <p:nvPr/>
        </p:nvSpPr>
        <p:spPr>
          <a:xfrm>
            <a:off x="838200" y="4749800"/>
            <a:ext cx="105156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21" name="Diagram 121"/>
          <p:cNvSpPr/>
          <p:nvPr/>
        </p:nvSpPr>
        <p:spPr>
          <a:xfrm>
            <a:off x="838200" y="4749800"/>
            <a:ext cx="63500" cy="584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22" name="Diagram 122"/>
          <p:cNvSpPr/>
          <p:nvPr/>
        </p:nvSpPr>
        <p:spPr>
          <a:xfrm>
            <a:off x="1600200" y="4749800"/>
            <a:ext cx="241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B45309"/>
                </a:solidFill>
              </a:rPr>
              <a:t>Prompt chaining</a:t>
            </a:r>
          </a:p>
        </p:txBody>
      </p:sp>
      <p:sp>
        <p:nvSpPr>
          <p:cNvPr id="123" name="Diagram 123"/>
          <p:cNvSpPr/>
          <p:nvPr/>
        </p:nvSpPr>
        <p:spPr>
          <a:xfrm>
            <a:off x="4191000" y="4749800"/>
            <a:ext cx="368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One prompt overloaded with a multi-stage job</a:t>
            </a:r>
          </a:p>
        </p:txBody>
      </p:sp>
      <p:sp>
        <p:nvSpPr>
          <p:cNvPr id="124" name="Diagram 124"/>
          <p:cNvSpPr/>
          <p:nvPr/>
        </p:nvSpPr>
        <p:spPr>
          <a:xfrm>
            <a:off x="8001000" y="4749800"/>
            <a:ext cx="3251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Small sequential calls; code checks each handoff</a:t>
            </a:r>
          </a:p>
        </p:txBody>
      </p:sp>
      <p:sp>
        <p:nvSpPr>
          <p:cNvPr id="125" name="Diagram 125"/>
          <p:cNvSpPr/>
          <p:nvPr/>
        </p:nvSpPr>
        <p:spPr>
          <a:xfrm>
            <a:off x="838200" y="5410200"/>
            <a:ext cx="105156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26" name="Diagram 126"/>
          <p:cNvSpPr/>
          <p:nvPr/>
        </p:nvSpPr>
        <p:spPr>
          <a:xfrm>
            <a:off x="838200" y="5410200"/>
            <a:ext cx="63500" cy="584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27" name="Diagram 127"/>
          <p:cNvSpPr/>
          <p:nvPr/>
        </p:nvSpPr>
        <p:spPr>
          <a:xfrm>
            <a:off x="1600200" y="5410200"/>
            <a:ext cx="241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857"/>
                </a:solidFill>
              </a:rPr>
              <a:t>Meta prompting</a:t>
            </a:r>
          </a:p>
        </p:txBody>
      </p:sp>
      <p:sp>
        <p:nvSpPr>
          <p:cNvPr id="128" name="Diagram 128"/>
          <p:cNvSpPr/>
          <p:nvPr/>
        </p:nvSpPr>
        <p:spPr>
          <a:xfrm>
            <a:off x="4191000" y="5410200"/>
            <a:ext cx="368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Hand-tuning prompts does not scale</a:t>
            </a:r>
          </a:p>
        </p:txBody>
      </p:sp>
      <p:sp>
        <p:nvSpPr>
          <p:cNvPr id="129" name="Diagram 129"/>
          <p:cNvSpPr/>
          <p:nvPr/>
        </p:nvSpPr>
        <p:spPr>
          <a:xfrm>
            <a:off x="8001000" y="5410200"/>
            <a:ext cx="3251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An LLM generates, scores and rewrites prompts</a:t>
            </a:r>
          </a:p>
        </p:txBody>
      </p:sp>
      <p:pic>
        <p:nvPicPr>
          <p:cNvPr id="13" name="Graphic 13" descr="RCTFC framewor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540000"/>
            <a:ext cx="381000" cy="381000"/>
          </a:xfrm>
          <a:prstGeom prst="rect">
            <a:avLst/>
          </a:prstGeom>
        </p:spPr>
      </p:pic>
      <p:pic>
        <p:nvPicPr>
          <p:cNvPr id="14" name="Graphic 14" descr="Few-shot prompt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200400"/>
            <a:ext cx="381000" cy="381000"/>
          </a:xfrm>
          <a:prstGeom prst="rect">
            <a:avLst/>
          </a:prstGeom>
        </p:spPr>
      </p:pic>
      <p:pic>
        <p:nvPicPr>
          <p:cNvPr id="15" name="Graphic 15" descr="Chain-of-though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860800"/>
            <a:ext cx="381000" cy="381000"/>
          </a:xfrm>
          <a:prstGeom prst="rect">
            <a:avLst/>
          </a:prstGeom>
        </p:spPr>
      </p:pic>
      <p:pic>
        <p:nvPicPr>
          <p:cNvPr id="16" name="Graphic 16" descr="Prompt chain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851400"/>
            <a:ext cx="381000" cy="381000"/>
          </a:xfrm>
          <a:prstGeom prst="rect">
            <a:avLst/>
          </a:prstGeom>
        </p:spPr>
      </p:pic>
      <p:pic>
        <p:nvPicPr>
          <p:cNvPr id="17" name="Graphic 17" descr="Meta prompt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5118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9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4990-F48D-941B-76B6-31CBCC06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 prompts as code: version, test and monitor every change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905000"/>
            <a:ext cx="1905000" cy="132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563EB"/>
                </a:solidFill>
              </a:rPr>
              <a:t>1  Write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Template with typed variables</a:t>
            </a:r>
          </a:p>
        </p:txBody>
      </p:sp>
      <p:cxnSp>
        <p:nvCxnSpPr>
          <p:cNvPr id="101" name="Arrow 101"/>
          <p:cNvCxnSpPr/>
          <p:nvPr/>
        </p:nvCxnSpPr>
        <p:spPr>
          <a:xfrm>
            <a:off x="2768600" y="2565400"/>
            <a:ext cx="19685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2" name="Diagram 102"/>
          <p:cNvSpPr/>
          <p:nvPr/>
        </p:nvSpPr>
        <p:spPr>
          <a:xfrm>
            <a:off x="2990850" y="1905000"/>
            <a:ext cx="1905000" cy="132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563EB"/>
                </a:solidFill>
              </a:rPr>
              <a:t>2  Version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Stored in git, reviewed by PR</a:t>
            </a:r>
          </a:p>
        </p:txBody>
      </p:sp>
      <p:cxnSp>
        <p:nvCxnSpPr>
          <p:cNvPr id="103" name="Arrow 103"/>
          <p:cNvCxnSpPr/>
          <p:nvPr/>
        </p:nvCxnSpPr>
        <p:spPr>
          <a:xfrm>
            <a:off x="4921250" y="2565400"/>
            <a:ext cx="19685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4" name="Diagram 104"/>
          <p:cNvSpPr/>
          <p:nvPr/>
        </p:nvSpPr>
        <p:spPr>
          <a:xfrm>
            <a:off x="5143500" y="1905000"/>
            <a:ext cx="1905000" cy="13208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563EB"/>
                </a:solidFill>
              </a:rPr>
              <a:t>3  Evaluate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Run golden test set; gate on pass rate</a:t>
            </a:r>
          </a:p>
        </p:txBody>
      </p:sp>
      <p:cxnSp>
        <p:nvCxnSpPr>
          <p:cNvPr id="105" name="Arrow 105"/>
          <p:cNvCxnSpPr/>
          <p:nvPr/>
        </p:nvCxnSpPr>
        <p:spPr>
          <a:xfrm>
            <a:off x="7073900" y="2565400"/>
            <a:ext cx="19685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6" name="Diagram 106"/>
          <p:cNvSpPr/>
          <p:nvPr/>
        </p:nvSpPr>
        <p:spPr>
          <a:xfrm>
            <a:off x="7296150" y="1905000"/>
            <a:ext cx="1905000" cy="132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563EB"/>
                </a:solidFill>
              </a:rPr>
              <a:t>4  Deploy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Pin model + prompt version together</a:t>
            </a:r>
          </a:p>
        </p:txBody>
      </p:sp>
      <p:cxnSp>
        <p:nvCxnSpPr>
          <p:cNvPr id="107" name="Arrow 107"/>
          <p:cNvCxnSpPr/>
          <p:nvPr/>
        </p:nvCxnSpPr>
        <p:spPr>
          <a:xfrm>
            <a:off x="9226550" y="2565400"/>
            <a:ext cx="19685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8" name="Diagram 108"/>
          <p:cNvSpPr/>
          <p:nvPr/>
        </p:nvSpPr>
        <p:spPr>
          <a:xfrm>
            <a:off x="9448800" y="1905000"/>
            <a:ext cx="1905000" cy="132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563EB"/>
                </a:solidFill>
              </a:rPr>
              <a:t>5  Monitor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Log outputs, track failures and drift</a:t>
            </a:r>
          </a:p>
        </p:txBody>
      </p:sp>
      <p:cxnSp>
        <p:nvCxnSpPr>
          <p:cNvPr id="109" name="Arrow 109"/>
          <p:cNvCxnSpPr/>
          <p:nvPr/>
        </p:nvCxnSpPr>
        <p:spPr>
          <a:xfrm>
            <a:off x="10401300" y="3225800"/>
            <a:ext cx="0" cy="381000"/>
          </a:xfrm>
          <a:prstGeom prst="straightConnector1">
            <a:avLst/>
          </a:prstGeom>
          <a:ln w="22225">
            <a:solidFill>
              <a:srgbClr val="64748B"/>
            </a:solidFill>
          </a:ln>
        </p:spPr>
      </p:cxnSp>
      <p:cxnSp>
        <p:nvCxnSpPr>
          <p:cNvPr id="110" name="Arrow 110"/>
          <p:cNvCxnSpPr/>
          <p:nvPr/>
        </p:nvCxnSpPr>
        <p:spPr>
          <a:xfrm flipH="1">
            <a:off x="1790700" y="3606800"/>
            <a:ext cx="8610600" cy="0"/>
          </a:xfrm>
          <a:prstGeom prst="straightConnector1">
            <a:avLst/>
          </a:prstGeom>
          <a:ln w="22225">
            <a:solidFill>
              <a:srgbClr val="64748B"/>
            </a:solidFill>
          </a:ln>
        </p:spPr>
      </p:cxnSp>
      <p:cxnSp>
        <p:nvCxnSpPr>
          <p:cNvPr id="111" name="Arrow 111"/>
          <p:cNvCxnSpPr/>
          <p:nvPr/>
        </p:nvCxnSpPr>
        <p:spPr>
          <a:xfrm flipV="1">
            <a:off x="1790700" y="3251200"/>
            <a:ext cx="0" cy="35560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12" name="Diagram 112"/>
          <p:cNvSpPr/>
          <p:nvPr/>
        </p:nvSpPr>
        <p:spPr>
          <a:xfrm>
            <a:off x="4191000" y="3467100"/>
            <a:ext cx="3810000" cy="2794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wrap="square" lIns="76200" tIns="0" rIns="762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i="1" dirty="0">
                <a:solidFill>
                  <a:srgbClr val="475569"/>
                </a:solidFill>
              </a:rPr>
              <a:t>Production failures become new test cases</a:t>
            </a:r>
          </a:p>
        </p:txBody>
      </p:sp>
      <p:sp>
        <p:nvSpPr>
          <p:cNvPr id="113" name="Diagram 113"/>
          <p:cNvSpPr/>
          <p:nvPr/>
        </p:nvSpPr>
        <p:spPr>
          <a:xfrm>
            <a:off x="838200" y="38862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WHAT THE TEAM GETS</a:t>
            </a:r>
          </a:p>
        </p:txBody>
      </p:sp>
      <p:sp>
        <p:nvSpPr>
          <p:cNvPr id="114" name="Diagram 114"/>
          <p:cNvSpPr/>
          <p:nvPr/>
        </p:nvSpPr>
        <p:spPr>
          <a:xfrm>
            <a:off x="838200" y="4267200"/>
            <a:ext cx="2476500" cy="147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Consistency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One template gives the same output shape across users and teams</a:t>
            </a:r>
          </a:p>
        </p:txBody>
      </p:sp>
      <p:sp>
        <p:nvSpPr>
          <p:cNvPr id="115" name="Diagram 115"/>
          <p:cNvSpPr/>
          <p:nvPr/>
        </p:nvSpPr>
        <p:spPr>
          <a:xfrm>
            <a:off x="3517900" y="4267200"/>
            <a:ext cx="2476500" cy="147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Accuracy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The eval set catches regressions before a prompt ships</a:t>
            </a:r>
          </a:p>
        </p:txBody>
      </p:sp>
      <p:sp>
        <p:nvSpPr>
          <p:cNvPr id="116" name="Diagram 116"/>
          <p:cNvSpPr/>
          <p:nvPr/>
        </p:nvSpPr>
        <p:spPr>
          <a:xfrm>
            <a:off x="6197600" y="4267200"/>
            <a:ext cx="2476500" cy="147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Efficiency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Fewer retries and fewer tokens per correct answer</a:t>
            </a:r>
          </a:p>
        </p:txBody>
      </p:sp>
      <p:sp>
        <p:nvSpPr>
          <p:cNvPr id="117" name="Diagram 117"/>
          <p:cNvSpPr/>
          <p:nvPr/>
        </p:nvSpPr>
        <p:spPr>
          <a:xfrm>
            <a:off x="8877300" y="4267200"/>
            <a:ext cx="2476500" cy="147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Governance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Every prompt change is reviewed, logged and auditable</a:t>
            </a:r>
          </a:p>
        </p:txBody>
      </p:sp>
    </p:spTree>
    <p:extLst>
      <p:ext uri="{BB962C8B-B14F-4D97-AF65-F5344CB8AC3E}">
        <p14:creationId xmlns:p14="http://schemas.microsoft.com/office/powerpoint/2010/main" val="1140934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FAB4-224E-EBC6-09A5-DA71922A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RCTFC: five prompt fields, each removing one guess the model would otherwise make</a:t>
            </a:r>
          </a:p>
        </p:txBody>
      </p:sp>
      <p:sp>
        <p:nvSpPr>
          <p:cNvPr id="100" name="Diagram 100"/>
          <p:cNvSpPr/>
          <p:nvPr/>
        </p:nvSpPr>
        <p:spPr>
          <a:xfrm>
            <a:off x="1600200" y="1803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01" name="Diagram 101"/>
          <p:cNvSpPr/>
          <p:nvPr/>
        </p:nvSpPr>
        <p:spPr>
          <a:xfrm>
            <a:off x="4648200" y="18034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WHAT IT PINS DOWN</a:t>
            </a:r>
          </a:p>
        </p:txBody>
      </p:sp>
      <p:sp>
        <p:nvSpPr>
          <p:cNvPr id="102" name="Diagram 102"/>
          <p:cNvSpPr/>
          <p:nvPr/>
        </p:nvSpPr>
        <p:spPr>
          <a:xfrm>
            <a:off x="8204200" y="18034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DC2626"/>
                </a:solidFill>
              </a:rPr>
              <a:t>IF MISSING, THE MODEL DEFAULTS TO</a:t>
            </a:r>
          </a:p>
        </p:txBody>
      </p:sp>
      <p:sp>
        <p:nvSpPr>
          <p:cNvPr id="103" name="Diagram 103"/>
          <p:cNvSpPr/>
          <p:nvPr/>
        </p:nvSpPr>
        <p:spPr>
          <a:xfrm>
            <a:off x="838200" y="215900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04" name="Diagram 104"/>
          <p:cNvSpPr/>
          <p:nvPr/>
        </p:nvSpPr>
        <p:spPr>
          <a:xfrm>
            <a:off x="1016000" y="22733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5" name="Diagram 105"/>
          <p:cNvSpPr/>
          <p:nvPr/>
        </p:nvSpPr>
        <p:spPr>
          <a:xfrm>
            <a:off x="1600200" y="2159000"/>
            <a:ext cx="2921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563EB"/>
                </a:solidFill>
              </a:rPr>
              <a:t>Role</a:t>
            </a:r>
          </a:p>
        </p:txBody>
      </p:sp>
      <p:sp>
        <p:nvSpPr>
          <p:cNvPr id="106" name="Diagram 106"/>
          <p:cNvSpPr/>
          <p:nvPr/>
        </p:nvSpPr>
        <p:spPr>
          <a:xfrm>
            <a:off x="4648200" y="215900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Persona, expertise level, vocabulary</a:t>
            </a:r>
          </a:p>
        </p:txBody>
      </p:sp>
      <p:sp>
        <p:nvSpPr>
          <p:cNvPr id="107" name="Diagram 107"/>
          <p:cNvSpPr/>
          <p:nvPr/>
        </p:nvSpPr>
        <p:spPr>
          <a:xfrm>
            <a:off x="8204200" y="21590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Generic assistant voice at shallow depth</a:t>
            </a:r>
          </a:p>
        </p:txBody>
      </p:sp>
      <p:sp>
        <p:nvSpPr>
          <p:cNvPr id="108" name="Diagram 108"/>
          <p:cNvSpPr/>
          <p:nvPr/>
        </p:nvSpPr>
        <p:spPr>
          <a:xfrm>
            <a:off x="838200" y="294640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09" name="Diagram 109"/>
          <p:cNvSpPr/>
          <p:nvPr/>
        </p:nvSpPr>
        <p:spPr>
          <a:xfrm>
            <a:off x="1016000" y="306070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0" name="Diagram 110"/>
          <p:cNvSpPr/>
          <p:nvPr/>
        </p:nvSpPr>
        <p:spPr>
          <a:xfrm>
            <a:off x="1600200" y="2946400"/>
            <a:ext cx="2921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F766E"/>
                </a:solidFill>
              </a:rPr>
              <a:t>Context</a:t>
            </a:r>
          </a:p>
        </p:txBody>
      </p:sp>
      <p:sp>
        <p:nvSpPr>
          <p:cNvPr id="111" name="Diagram 111"/>
          <p:cNvSpPr/>
          <p:nvPr/>
        </p:nvSpPr>
        <p:spPr>
          <a:xfrm>
            <a:off x="4648200" y="294640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Data, background, current situation</a:t>
            </a:r>
          </a:p>
        </p:txBody>
      </p:sp>
      <p:sp>
        <p:nvSpPr>
          <p:cNvPr id="112" name="Diagram 112"/>
          <p:cNvSpPr/>
          <p:nvPr/>
        </p:nvSpPr>
        <p:spPr>
          <a:xfrm>
            <a:off x="8204200" y="29464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Assumed or invented facts</a:t>
            </a:r>
          </a:p>
        </p:txBody>
      </p:sp>
      <p:sp>
        <p:nvSpPr>
          <p:cNvPr id="113" name="Diagram 113"/>
          <p:cNvSpPr/>
          <p:nvPr/>
        </p:nvSpPr>
        <p:spPr>
          <a:xfrm>
            <a:off x="838200" y="373380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14" name="Diagram 114"/>
          <p:cNvSpPr/>
          <p:nvPr/>
        </p:nvSpPr>
        <p:spPr>
          <a:xfrm>
            <a:off x="1016000" y="38481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15" name="Diagram 115"/>
          <p:cNvSpPr/>
          <p:nvPr/>
        </p:nvSpPr>
        <p:spPr>
          <a:xfrm>
            <a:off x="1600200" y="3733800"/>
            <a:ext cx="2921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7C3AED"/>
                </a:solidFill>
              </a:rPr>
              <a:t>Task</a:t>
            </a:r>
          </a:p>
        </p:txBody>
      </p:sp>
      <p:sp>
        <p:nvSpPr>
          <p:cNvPr id="116" name="Diagram 116"/>
          <p:cNvSpPr/>
          <p:nvPr/>
        </p:nvSpPr>
        <p:spPr>
          <a:xfrm>
            <a:off x="4648200" y="373380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One concrete action and its scope</a:t>
            </a:r>
          </a:p>
        </p:txBody>
      </p:sp>
      <p:sp>
        <p:nvSpPr>
          <p:cNvPr id="117" name="Diagram 117"/>
          <p:cNvSpPr/>
          <p:nvPr/>
        </p:nvSpPr>
        <p:spPr>
          <a:xfrm>
            <a:off x="8204200" y="37338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Answers a different question</a:t>
            </a:r>
          </a:p>
        </p:txBody>
      </p:sp>
      <p:sp>
        <p:nvSpPr>
          <p:cNvPr id="118" name="Diagram 118"/>
          <p:cNvSpPr/>
          <p:nvPr/>
        </p:nvSpPr>
        <p:spPr>
          <a:xfrm>
            <a:off x="838200" y="452120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19" name="Diagram 119"/>
          <p:cNvSpPr/>
          <p:nvPr/>
        </p:nvSpPr>
        <p:spPr>
          <a:xfrm>
            <a:off x="1016000" y="4635500"/>
            <a:ext cx="457200" cy="45720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20" name="Diagram 120"/>
          <p:cNvSpPr/>
          <p:nvPr/>
        </p:nvSpPr>
        <p:spPr>
          <a:xfrm>
            <a:off x="1600200" y="4521200"/>
            <a:ext cx="2921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B45309"/>
                </a:solidFill>
              </a:rPr>
              <a:t>Format</a:t>
            </a:r>
          </a:p>
        </p:txBody>
      </p:sp>
      <p:sp>
        <p:nvSpPr>
          <p:cNvPr id="121" name="Diagram 121"/>
          <p:cNvSpPr/>
          <p:nvPr/>
        </p:nvSpPr>
        <p:spPr>
          <a:xfrm>
            <a:off x="4648200" y="452120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Output schema: bullets, table, JSON, length</a:t>
            </a:r>
          </a:p>
        </p:txBody>
      </p:sp>
      <p:sp>
        <p:nvSpPr>
          <p:cNvPr id="122" name="Diagram 122"/>
          <p:cNvSpPr/>
          <p:nvPr/>
        </p:nvSpPr>
        <p:spPr>
          <a:xfrm>
            <a:off x="8204200" y="45212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Free-form prose your code must re-parse</a:t>
            </a:r>
          </a:p>
        </p:txBody>
      </p:sp>
      <p:sp>
        <p:nvSpPr>
          <p:cNvPr id="123" name="Diagram 123"/>
          <p:cNvSpPr/>
          <p:nvPr/>
        </p:nvSpPr>
        <p:spPr>
          <a:xfrm>
            <a:off x="838200" y="530860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24" name="Diagram 124"/>
          <p:cNvSpPr/>
          <p:nvPr/>
        </p:nvSpPr>
        <p:spPr>
          <a:xfrm>
            <a:off x="1016000" y="54229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5" name="Diagram 125"/>
          <p:cNvSpPr/>
          <p:nvPr/>
        </p:nvSpPr>
        <p:spPr>
          <a:xfrm>
            <a:off x="1600200" y="5308600"/>
            <a:ext cx="2921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DC2626"/>
                </a:solidFill>
              </a:rPr>
              <a:t>Constraints</a:t>
            </a:r>
          </a:p>
        </p:txBody>
      </p:sp>
      <p:sp>
        <p:nvSpPr>
          <p:cNvPr id="126" name="Diagram 126"/>
          <p:cNvSpPr/>
          <p:nvPr/>
        </p:nvSpPr>
        <p:spPr>
          <a:xfrm>
            <a:off x="4648200" y="530860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Tone, limits, exclusions, compliance rules</a:t>
            </a:r>
          </a:p>
        </p:txBody>
      </p:sp>
      <p:sp>
        <p:nvSpPr>
          <p:cNvPr id="127" name="Diagram 127"/>
          <p:cNvSpPr/>
          <p:nvPr/>
        </p:nvSpPr>
        <p:spPr>
          <a:xfrm>
            <a:off x="8204200" y="53086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Over-length, off-tone or non-compliant output</a:t>
            </a:r>
          </a:p>
        </p:txBody>
      </p:sp>
    </p:spTree>
    <p:extLst>
      <p:ext uri="{BB962C8B-B14F-4D97-AF65-F5344CB8AC3E}">
        <p14:creationId xmlns:p14="http://schemas.microsoft.com/office/powerpoint/2010/main" val="3459114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88B0-B4A8-9AAC-ABEE-2DFD0A17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complete RCTFC prompt for a churn spike, and the output contract it creates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841500"/>
            <a:ext cx="6350000" cy="4191000"/>
          </a:xfrm>
          <a:prstGeom prst="roundRect">
            <a:avLst>
              <a:gd name="adj" fmla="val 4000"/>
            </a:avLst>
          </a:prstGeom>
          <a:solidFill>
            <a:srgbClr val="0F1B2E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01" name="Diagram 101"/>
          <p:cNvSpPr/>
          <p:nvPr/>
        </p:nvSpPr>
        <p:spPr>
          <a:xfrm>
            <a:off x="838200" y="1841500"/>
            <a:ext cx="6350000" cy="40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/>
                <a:cs typeface="Consolas"/>
              </a:rPr>
              <a:t>prompt.txt</a:t>
            </a:r>
            <a:r>
              <a:rPr lang="en-US" sz="1400" i="1" dirty="0">
                <a:solidFill>
                  <a:srgbClr val="94A3B8"/>
                </a:solidFill>
              </a:rPr>
              <a:t>   use case: Q3 churn spike</a:t>
            </a:r>
          </a:p>
        </p:txBody>
      </p:sp>
      <p:sp>
        <p:nvSpPr>
          <p:cNvPr id="102" name="Diagram 102"/>
          <p:cNvSpPr/>
          <p:nvPr/>
        </p:nvSpPr>
        <p:spPr>
          <a:xfrm>
            <a:off x="838200" y="2349500"/>
            <a:ext cx="6350000" cy="36195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76200" rIns="203200" bIns="762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0A5FA"/>
                </a:solidFill>
                <a:latin typeface="Consolas"/>
                <a:cs typeface="Consolas"/>
              </a:rPr>
              <a:t>ROLE: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You are a senior financial analyst with 10 years in SaaS metrics.</a:t>
            </a:r>
          </a:p>
          <a:p>
            <a:pPr marL="0" indent="0" algn="l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2DD4BF"/>
                </a:solidFill>
                <a:latin typeface="Consolas"/>
                <a:cs typeface="Consolas"/>
              </a:rPr>
              <a:t>CONTEXT: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Q3 churn and revenue by segment is attached as churn_q3.csv.</a:t>
            </a:r>
          </a:p>
          <a:p>
            <a:pPr marL="0" indent="0" algn="l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A78BFA"/>
                </a:solidFill>
                <a:latin typeface="Consolas"/>
                <a:cs typeface="Consolas"/>
              </a:rPr>
              <a:t>TASK: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Explain the drivers behind the 12% rise in churn.</a:t>
            </a:r>
          </a:p>
          <a:p>
            <a:pPr marL="0" indent="0" algn="l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FBBF24"/>
                </a:solidFill>
                <a:latin typeface="Consolas"/>
                <a:cs typeface="Consolas"/>
              </a:rPr>
              <a:t>FORMAT: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3-bullet executive summary, then a table of key metrics.</a:t>
            </a:r>
          </a:p>
          <a:p>
            <a:pPr marL="0" indent="0" algn="l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F87171"/>
                </a:solidFill>
                <a:latin typeface="Consolas"/>
                <a:cs typeface="Consolas"/>
              </a:rPr>
              <a:t>CONSTRAINTS: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Under 200 words. No jargon. Use only the attached data.</a:t>
            </a:r>
          </a:p>
        </p:txBody>
      </p:sp>
      <p:sp>
        <p:nvSpPr>
          <p:cNvPr id="103" name="Diagram 103"/>
          <p:cNvSpPr/>
          <p:nvPr/>
        </p:nvSpPr>
        <p:spPr>
          <a:xfrm>
            <a:off x="7442200" y="1841500"/>
            <a:ext cx="39116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endParaRPr lang="en-US" sz="1200" dirty="0"/>
          </a:p>
        </p:txBody>
      </p:sp>
      <p:sp>
        <p:nvSpPr>
          <p:cNvPr id="104" name="Diagram 104"/>
          <p:cNvSpPr/>
          <p:nvPr/>
        </p:nvSpPr>
        <p:spPr>
          <a:xfrm>
            <a:off x="7442200" y="1930400"/>
            <a:ext cx="391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0" rIns="2032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EXPECTED OUTPUT SHAPE</a:t>
            </a:r>
          </a:p>
        </p:txBody>
      </p:sp>
      <p:sp>
        <p:nvSpPr>
          <p:cNvPr id="105" name="Diagram 105"/>
          <p:cNvSpPr/>
          <p:nvPr/>
        </p:nvSpPr>
        <p:spPr>
          <a:xfrm>
            <a:off x="7442200" y="2260600"/>
            <a:ext cx="3911600" cy="8890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0" rIns="20320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• Driver 1 + evidence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• Driver 2 + evidence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• Driver 3 + evidence</a:t>
            </a:r>
          </a:p>
        </p:txBody>
      </p:sp>
      <p:sp>
        <p:nvSpPr>
          <p:cNvPr id="106" name="Diagram 106"/>
          <p:cNvSpPr/>
          <p:nvPr/>
        </p:nvSpPr>
        <p:spPr>
          <a:xfrm>
            <a:off x="7645400" y="3200400"/>
            <a:ext cx="1397000" cy="279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Segment</a:t>
            </a:r>
          </a:p>
        </p:txBody>
      </p:sp>
      <p:sp>
        <p:nvSpPr>
          <p:cNvPr id="107" name="Diagram 107"/>
          <p:cNvSpPr/>
          <p:nvPr/>
        </p:nvSpPr>
        <p:spPr>
          <a:xfrm>
            <a:off x="7645400" y="3479800"/>
            <a:ext cx="13970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…</a:t>
            </a:r>
          </a:p>
        </p:txBody>
      </p:sp>
      <p:sp>
        <p:nvSpPr>
          <p:cNvPr id="108" name="Diagram 108"/>
          <p:cNvSpPr/>
          <p:nvPr/>
        </p:nvSpPr>
        <p:spPr>
          <a:xfrm>
            <a:off x="7645400" y="3759200"/>
            <a:ext cx="13970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…</a:t>
            </a:r>
          </a:p>
        </p:txBody>
      </p:sp>
      <p:sp>
        <p:nvSpPr>
          <p:cNvPr id="109" name="Diagram 109"/>
          <p:cNvSpPr/>
          <p:nvPr/>
        </p:nvSpPr>
        <p:spPr>
          <a:xfrm>
            <a:off x="9042400" y="3200400"/>
            <a:ext cx="1016000" cy="279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Q2 churn</a:t>
            </a:r>
          </a:p>
        </p:txBody>
      </p:sp>
      <p:sp>
        <p:nvSpPr>
          <p:cNvPr id="110" name="Diagram 110"/>
          <p:cNvSpPr/>
          <p:nvPr/>
        </p:nvSpPr>
        <p:spPr>
          <a:xfrm>
            <a:off x="9042400" y="3479800"/>
            <a:ext cx="10160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…</a:t>
            </a:r>
          </a:p>
        </p:txBody>
      </p:sp>
      <p:sp>
        <p:nvSpPr>
          <p:cNvPr id="111" name="Diagram 111"/>
          <p:cNvSpPr/>
          <p:nvPr/>
        </p:nvSpPr>
        <p:spPr>
          <a:xfrm>
            <a:off x="9042400" y="3759200"/>
            <a:ext cx="10160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…</a:t>
            </a:r>
          </a:p>
        </p:txBody>
      </p:sp>
      <p:sp>
        <p:nvSpPr>
          <p:cNvPr id="112" name="Diagram 112"/>
          <p:cNvSpPr/>
          <p:nvPr/>
        </p:nvSpPr>
        <p:spPr>
          <a:xfrm>
            <a:off x="10058400" y="3200400"/>
            <a:ext cx="1041400" cy="279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Q3 churn</a:t>
            </a:r>
          </a:p>
        </p:txBody>
      </p:sp>
      <p:sp>
        <p:nvSpPr>
          <p:cNvPr id="113" name="Diagram 113"/>
          <p:cNvSpPr/>
          <p:nvPr/>
        </p:nvSpPr>
        <p:spPr>
          <a:xfrm>
            <a:off x="10058400" y="3479800"/>
            <a:ext cx="1041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…</a:t>
            </a:r>
          </a:p>
        </p:txBody>
      </p:sp>
      <p:sp>
        <p:nvSpPr>
          <p:cNvPr id="114" name="Diagram 114"/>
          <p:cNvSpPr/>
          <p:nvPr/>
        </p:nvSpPr>
        <p:spPr>
          <a:xfrm>
            <a:off x="10058400" y="3759200"/>
            <a:ext cx="1041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…</a:t>
            </a:r>
          </a:p>
        </p:txBody>
      </p:sp>
      <p:sp>
        <p:nvSpPr>
          <p:cNvPr id="115" name="Diagram 115"/>
          <p:cNvSpPr/>
          <p:nvPr/>
        </p:nvSpPr>
        <p:spPr>
          <a:xfrm>
            <a:off x="7442200" y="4191000"/>
            <a:ext cx="391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0" rIns="2032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CHECKS YOU CAN AUTOMATE</a:t>
            </a:r>
          </a:p>
        </p:txBody>
      </p:sp>
      <p:sp>
        <p:nvSpPr>
          <p:cNvPr id="116" name="Diagram 116"/>
          <p:cNvSpPr/>
          <p:nvPr/>
        </p:nvSpPr>
        <p:spPr>
          <a:xfrm>
            <a:off x="7442200" y="4521200"/>
            <a:ext cx="3911600" cy="14224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0" rIns="20320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✓ </a:t>
            </a: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word_count &lt;= 200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✓ </a:t>
            </a: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bullet_count == 3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✓ </a:t>
            </a: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has_table == True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✓ </a:t>
            </a: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figures ⊆ churn_q3.csv</a:t>
            </a:r>
          </a:p>
        </p:txBody>
      </p:sp>
    </p:spTree>
    <p:extLst>
      <p:ext uri="{BB962C8B-B14F-4D97-AF65-F5344CB8AC3E}">
        <p14:creationId xmlns:p14="http://schemas.microsoft.com/office/powerpoint/2010/main" val="227671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1139-46D7-71F3-B045-5A1E4F28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Few-shot prompting teaches a pattern with 2–5 examples in context, no retraining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841500"/>
            <a:ext cx="3403600" cy="226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1B2430"/>
                </a:solidFill>
              </a:rPr>
              <a:t>Zero-shot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Examples: </a:t>
            </a:r>
            <a:r>
              <a:rPr lang="en-US" sz="1400" b="1" dirty="0">
                <a:solidFill>
                  <a:srgbClr val="1B2430"/>
                </a:solidFill>
              </a:rPr>
              <a:t>none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Weights changed: </a:t>
            </a:r>
            <a:r>
              <a:rPr lang="en-US" sz="1400" b="1" dirty="0">
                <a:solidFill>
                  <a:srgbClr val="1B2430"/>
                </a:solidFill>
              </a:rPr>
              <a:t>no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Setup cost: </a:t>
            </a:r>
            <a:r>
              <a:rPr lang="en-US" sz="1400" b="1" dirty="0">
                <a:solidFill>
                  <a:srgbClr val="1B2430"/>
                </a:solidFill>
              </a:rPr>
              <a:t>none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Use when: </a:t>
            </a:r>
            <a:r>
              <a:rPr lang="en-US" sz="1400" dirty="0">
                <a:solidFill>
                  <a:srgbClr val="1B2430"/>
                </a:solidFill>
              </a:rPr>
              <a:t>Task is common and easy to describe</a:t>
            </a:r>
          </a:p>
        </p:txBody>
      </p:sp>
      <p:sp>
        <p:nvSpPr>
          <p:cNvPr id="101" name="Diagram 101"/>
          <p:cNvSpPr/>
          <p:nvPr/>
        </p:nvSpPr>
        <p:spPr>
          <a:xfrm>
            <a:off x="4394200" y="1841500"/>
            <a:ext cx="3403600" cy="226060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9050">
            <a:solidFill>
              <a:srgbClr val="0EA5A5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F766E"/>
                </a:solidFill>
              </a:rPr>
              <a:t>Few-shot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Examples: </a:t>
            </a:r>
            <a:r>
              <a:rPr lang="en-US" sz="1400" b="1" dirty="0">
                <a:solidFill>
                  <a:srgbClr val="1B2430"/>
                </a:solidFill>
              </a:rPr>
              <a:t>2–5, inside the prompt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Weights changed: </a:t>
            </a:r>
            <a:r>
              <a:rPr lang="en-US" sz="1400" b="1" dirty="0">
                <a:solidFill>
                  <a:srgbClr val="1B2430"/>
                </a:solidFill>
              </a:rPr>
              <a:t>no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Setup cost: </a:t>
            </a:r>
            <a:r>
              <a:rPr lang="en-US" sz="1400" b="1" dirty="0">
                <a:solidFill>
                  <a:srgbClr val="1B2430"/>
                </a:solidFill>
              </a:rPr>
              <a:t>minutes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Use when: </a:t>
            </a:r>
            <a:r>
              <a:rPr lang="en-US" sz="1400" dirty="0">
                <a:solidFill>
                  <a:srgbClr val="1B2430"/>
                </a:solidFill>
              </a:rPr>
              <a:t>Format or labels are easier to show than describe</a:t>
            </a:r>
          </a:p>
        </p:txBody>
      </p:sp>
      <p:sp>
        <p:nvSpPr>
          <p:cNvPr id="102" name="Diagram 102"/>
          <p:cNvSpPr/>
          <p:nvPr/>
        </p:nvSpPr>
        <p:spPr>
          <a:xfrm>
            <a:off x="7950200" y="1841500"/>
            <a:ext cx="3403600" cy="226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1B2430"/>
                </a:solidFill>
              </a:rPr>
              <a:t>Fine-tuning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Examples: </a:t>
            </a:r>
            <a:r>
              <a:rPr lang="en-US" sz="1400" b="1" dirty="0">
                <a:solidFill>
                  <a:srgbClr val="1B2430"/>
                </a:solidFill>
              </a:rPr>
              <a:t>hundreds to thousands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Weights changed: </a:t>
            </a:r>
            <a:r>
              <a:rPr lang="en-US" sz="1400" b="1" dirty="0">
                <a:solidFill>
                  <a:srgbClr val="1B2430"/>
                </a:solidFill>
              </a:rPr>
              <a:t>yes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Setup cost: </a:t>
            </a:r>
            <a:r>
              <a:rPr lang="en-US" sz="1400" b="1" dirty="0">
                <a:solidFill>
                  <a:srgbClr val="1B2430"/>
                </a:solidFill>
              </a:rPr>
              <a:t>days, GPUs, eval pipeline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64748B"/>
                </a:solidFill>
              </a:rPr>
              <a:t>Use when: </a:t>
            </a:r>
            <a:r>
              <a:rPr lang="en-US" sz="1400" dirty="0">
                <a:solidFill>
                  <a:srgbClr val="1B2430"/>
                </a:solidFill>
              </a:rPr>
              <a:t>High volume, stable task, prompt limits reached</a:t>
            </a:r>
          </a:p>
        </p:txBody>
      </p:sp>
      <p:sp>
        <p:nvSpPr>
          <p:cNvPr id="103" name="Diagram 103"/>
          <p:cNvSpPr/>
          <p:nvPr/>
        </p:nvSpPr>
        <p:spPr>
          <a:xfrm>
            <a:off x="838200" y="4241800"/>
            <a:ext cx="1051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FEW-SHOT PROMPT LAYOUT, ONE CONTEXT WINDOW</a:t>
            </a:r>
          </a:p>
        </p:txBody>
      </p:sp>
      <p:sp>
        <p:nvSpPr>
          <p:cNvPr id="104" name="Diagram 104"/>
          <p:cNvSpPr/>
          <p:nvPr/>
        </p:nvSpPr>
        <p:spPr>
          <a:xfrm>
            <a:off x="838200" y="4572000"/>
            <a:ext cx="2286000" cy="838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Instruction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Label: Low, Medium, High</a:t>
            </a:r>
          </a:p>
        </p:txBody>
      </p:sp>
      <p:sp>
        <p:nvSpPr>
          <p:cNvPr id="105" name="Diagram 105"/>
          <p:cNvSpPr/>
          <p:nvPr/>
        </p:nvSpPr>
        <p:spPr>
          <a:xfrm>
            <a:off x="3314700" y="4572000"/>
            <a:ext cx="1866900" cy="83820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2700">
            <a:solidFill>
              <a:srgbClr val="99E0E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Example 1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475569"/>
                </a:solidFill>
                <a:latin typeface="Consolas"/>
                <a:cs typeface="Consolas"/>
              </a:rPr>
              <a:t>input → High</a:t>
            </a:r>
          </a:p>
        </p:txBody>
      </p:sp>
      <p:sp>
        <p:nvSpPr>
          <p:cNvPr id="106" name="Diagram 106"/>
          <p:cNvSpPr/>
          <p:nvPr/>
        </p:nvSpPr>
        <p:spPr>
          <a:xfrm>
            <a:off x="5372100" y="4572000"/>
            <a:ext cx="1866900" cy="83820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2700">
            <a:solidFill>
              <a:srgbClr val="99E0E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Example 2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475569"/>
                </a:solidFill>
                <a:latin typeface="Consolas"/>
                <a:cs typeface="Consolas"/>
              </a:rPr>
              <a:t>input → Low</a:t>
            </a:r>
          </a:p>
        </p:txBody>
      </p:sp>
      <p:sp>
        <p:nvSpPr>
          <p:cNvPr id="107" name="Diagram 107"/>
          <p:cNvSpPr/>
          <p:nvPr/>
        </p:nvSpPr>
        <p:spPr>
          <a:xfrm>
            <a:off x="7429500" y="4572000"/>
            <a:ext cx="1866900" cy="83820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2700">
            <a:solidFill>
              <a:srgbClr val="99E0E0"/>
            </a:solidFill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Example 3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475569"/>
                </a:solidFill>
                <a:latin typeface="Consolas"/>
                <a:cs typeface="Consolas"/>
              </a:rPr>
              <a:t>input → Medium</a:t>
            </a:r>
          </a:p>
        </p:txBody>
      </p:sp>
      <p:sp>
        <p:nvSpPr>
          <p:cNvPr id="108" name="Diagram 108"/>
          <p:cNvSpPr/>
          <p:nvPr/>
        </p:nvSpPr>
        <p:spPr>
          <a:xfrm>
            <a:off x="9486900" y="4572000"/>
            <a:ext cx="1866900" cy="838200"/>
          </a:xfrm>
          <a:prstGeom prst="roundRect">
            <a:avLst>
              <a:gd name="adj" fmla="val 10000"/>
            </a:avLst>
          </a:prstGeom>
          <a:solidFill>
            <a:srgbClr val="0F1B2E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</a:rPr>
              <a:t>New input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CBD5E1"/>
                </a:solidFill>
                <a:latin typeface="Consolas"/>
                <a:cs typeface="Consolas"/>
              </a:rPr>
              <a:t>input → ?</a:t>
            </a:r>
          </a:p>
        </p:txBody>
      </p:sp>
      <p:sp>
        <p:nvSpPr>
          <p:cNvPr id="109" name="Diagram 109"/>
          <p:cNvSpPr/>
          <p:nvPr/>
        </p:nvSpPr>
        <p:spPr>
          <a:xfrm>
            <a:off x="838200" y="5562600"/>
            <a:ext cx="787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Tips: </a:t>
            </a:r>
            <a:r>
              <a:rPr lang="en-US" sz="1400" dirty="0">
                <a:solidFill>
                  <a:srgbClr val="475569"/>
                </a:solidFill>
              </a:rPr>
              <a:t>balance labels across shots, keep every example in an identical format, and include one hard edge case. Order matters: the last shots weigh most.</a:t>
            </a:r>
          </a:p>
        </p:txBody>
      </p:sp>
    </p:spTree>
    <p:extLst>
      <p:ext uri="{BB962C8B-B14F-4D97-AF65-F5344CB8AC3E}">
        <p14:creationId xmlns:p14="http://schemas.microsoft.com/office/powerpoint/2010/main" val="107545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AFCC-76B6-C44E-AD6B-3B889F33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labeled tickets are enough for the model to infer the urgency rule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841500"/>
            <a:ext cx="7112000" cy="635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txBody>
          <a:bodyPr wrap="square" lIns="177800" tIns="76200" rIns="1778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Instruction: </a:t>
            </a:r>
            <a:r>
              <a:rPr lang="en-US" sz="1400" dirty="0">
                <a:solidFill>
                  <a:srgbClr val="475569"/>
                </a:solidFill>
              </a:rPr>
              <a:t>Classify each ticket as Low, Medium or High. Reply with the label only.</a:t>
            </a:r>
          </a:p>
        </p:txBody>
      </p:sp>
      <p:sp>
        <p:nvSpPr>
          <p:cNvPr id="101" name="Diagram 101"/>
          <p:cNvSpPr/>
          <p:nvPr/>
        </p:nvSpPr>
        <p:spPr>
          <a:xfrm>
            <a:off x="838200" y="2603500"/>
            <a:ext cx="5715000" cy="66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76200" rIns="1778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Shot 1  </a:t>
            </a:r>
            <a:r>
              <a:rPr lang="en-US" sz="1400" dirty="0">
                <a:solidFill>
                  <a:srgbClr val="1B2430"/>
                </a:solidFill>
              </a:rPr>
              <a:t>“Password reset link is broken; I need to log in for a client demo in 10 minutes.”</a:t>
            </a:r>
          </a:p>
        </p:txBody>
      </p:sp>
      <p:cxnSp>
        <p:nvCxnSpPr>
          <p:cNvPr id="102" name="Arrow 102"/>
          <p:cNvCxnSpPr/>
          <p:nvPr/>
        </p:nvCxnSpPr>
        <p:spPr>
          <a:xfrm>
            <a:off x="6578600" y="2933700"/>
            <a:ext cx="1524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3" name="Diagram 103"/>
          <p:cNvSpPr/>
          <p:nvPr/>
        </p:nvSpPr>
        <p:spPr>
          <a:xfrm>
            <a:off x="6781800" y="2743200"/>
            <a:ext cx="11684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DC2626"/>
                </a:solidFill>
              </a:rPr>
              <a:t>High</a:t>
            </a:r>
          </a:p>
        </p:txBody>
      </p:sp>
      <p:sp>
        <p:nvSpPr>
          <p:cNvPr id="104" name="Diagram 104"/>
          <p:cNvSpPr/>
          <p:nvPr/>
        </p:nvSpPr>
        <p:spPr>
          <a:xfrm>
            <a:off x="838200" y="3467100"/>
            <a:ext cx="5715000" cy="66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76200" rIns="1778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Shot 2  </a:t>
            </a:r>
            <a:r>
              <a:rPr lang="en-US" sz="1400" dirty="0">
                <a:solidFill>
                  <a:srgbClr val="1B2430"/>
                </a:solidFill>
              </a:rPr>
              <a:t>“Is there a way to export my data as a PDF instead of CSV?”</a:t>
            </a:r>
          </a:p>
        </p:txBody>
      </p:sp>
      <p:cxnSp>
        <p:nvCxnSpPr>
          <p:cNvPr id="105" name="Arrow 105"/>
          <p:cNvCxnSpPr/>
          <p:nvPr/>
        </p:nvCxnSpPr>
        <p:spPr>
          <a:xfrm>
            <a:off x="6578600" y="3797300"/>
            <a:ext cx="1524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6" name="Diagram 106"/>
          <p:cNvSpPr/>
          <p:nvPr/>
        </p:nvSpPr>
        <p:spPr>
          <a:xfrm>
            <a:off x="6781800" y="3606800"/>
            <a:ext cx="11684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Low</a:t>
            </a:r>
          </a:p>
        </p:txBody>
      </p:sp>
      <p:sp>
        <p:nvSpPr>
          <p:cNvPr id="107" name="Diagram 107"/>
          <p:cNvSpPr/>
          <p:nvPr/>
        </p:nvSpPr>
        <p:spPr>
          <a:xfrm>
            <a:off x="838200" y="4330700"/>
            <a:ext cx="5715000" cy="66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76200" rIns="1778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Shot 3  </a:t>
            </a:r>
            <a:r>
              <a:rPr lang="en-US" sz="1400" dirty="0">
                <a:solidFill>
                  <a:srgbClr val="1B2430"/>
                </a:solidFill>
              </a:rPr>
              <a:t>“Dashboard charts load slowly since this morning, but they do load.”</a:t>
            </a:r>
          </a:p>
        </p:txBody>
      </p:sp>
      <p:cxnSp>
        <p:nvCxnSpPr>
          <p:cNvPr id="108" name="Arrow 108"/>
          <p:cNvCxnSpPr/>
          <p:nvPr/>
        </p:nvCxnSpPr>
        <p:spPr>
          <a:xfrm>
            <a:off x="6578600" y="4660900"/>
            <a:ext cx="1524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9" name="Diagram 109"/>
          <p:cNvSpPr/>
          <p:nvPr/>
        </p:nvSpPr>
        <p:spPr>
          <a:xfrm>
            <a:off x="6781800" y="4470400"/>
            <a:ext cx="11684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Medium</a:t>
            </a:r>
          </a:p>
        </p:txBody>
      </p:sp>
      <p:sp>
        <p:nvSpPr>
          <p:cNvPr id="110" name="Diagram 110"/>
          <p:cNvSpPr/>
          <p:nvPr/>
        </p:nvSpPr>
        <p:spPr>
          <a:xfrm>
            <a:off x="838200" y="5270500"/>
            <a:ext cx="57150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1B2E"/>
            </a:solidFill>
          </a:ln>
        </p:spPr>
        <p:txBody>
          <a:bodyPr wrap="square" lIns="177800" tIns="76200" rIns="1778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1B2E"/>
                </a:solidFill>
              </a:rPr>
              <a:t>New input  </a:t>
            </a:r>
            <a:r>
              <a:rPr lang="en-US" sz="1400" dirty="0">
                <a:solidFill>
                  <a:srgbClr val="1B2430"/>
                </a:solidFill>
              </a:rPr>
              <a:t>“The app has been down for all users since this morning.”</a:t>
            </a:r>
          </a:p>
        </p:txBody>
      </p:sp>
      <p:cxnSp>
        <p:nvCxnSpPr>
          <p:cNvPr id="111" name="Arrow 111"/>
          <p:cNvCxnSpPr/>
          <p:nvPr/>
        </p:nvCxnSpPr>
        <p:spPr>
          <a:xfrm>
            <a:off x="6578600" y="5651500"/>
            <a:ext cx="1524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12" name="Diagram 112"/>
          <p:cNvSpPr/>
          <p:nvPr/>
        </p:nvSpPr>
        <p:spPr>
          <a:xfrm>
            <a:off x="6781800" y="5461000"/>
            <a:ext cx="11684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?</a:t>
            </a:r>
          </a:p>
        </p:txBody>
      </p:sp>
      <p:cxnSp>
        <p:nvCxnSpPr>
          <p:cNvPr id="113" name="Arrow 113"/>
          <p:cNvCxnSpPr/>
          <p:nvPr/>
        </p:nvCxnSpPr>
        <p:spPr>
          <a:xfrm>
            <a:off x="8001000" y="5651500"/>
            <a:ext cx="330200" cy="0"/>
          </a:xfrm>
          <a:prstGeom prst="straightConnector1">
            <a:avLst/>
          </a:prstGeom>
          <a:ln w="25400">
            <a:solidFill>
              <a:srgbClr val="0EA5A5"/>
            </a:solidFill>
            <a:tailEnd type="triangle" w="med" len="med"/>
          </a:ln>
        </p:spPr>
      </p:cxnSp>
      <p:sp>
        <p:nvSpPr>
          <p:cNvPr id="114" name="Diagram 114"/>
          <p:cNvSpPr/>
          <p:nvPr/>
        </p:nvSpPr>
        <p:spPr>
          <a:xfrm>
            <a:off x="8382000" y="1841500"/>
            <a:ext cx="2971800" cy="4191000"/>
          </a:xfrm>
          <a:prstGeom prst="roundRect">
            <a:avLst>
              <a:gd name="adj" fmla="val 6000"/>
            </a:avLst>
          </a:prstGeom>
          <a:solidFill>
            <a:srgbClr val="0F1B2E"/>
          </a:solidFill>
          <a:ln>
            <a:noFill/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94A3B8"/>
                </a:solidFill>
              </a:rPr>
              <a:t>MODEL OUTPUT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3600" b="1" dirty="0">
                <a:solidFill>
                  <a:srgbClr val="F87171"/>
                </a:solidFill>
              </a:rPr>
              <a:t>High</a:t>
            </a:r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1400" b="1" dirty="0">
                <a:solidFill>
                  <a:srgbClr val="FFFFFF"/>
                </a:solidFill>
              </a:rPr>
              <a:t>Rule it inferred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CBD5E1"/>
                </a:solidFill>
              </a:rPr>
              <a:t>users affected × time pressure, never written down</a:t>
            </a:r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 check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CBD5E1"/>
                </a:solidFill>
                <a:latin typeface="Consolas"/>
                <a:cs typeface="Consolas"/>
              </a:rPr>
              <a:t>label ∈ {Low, Medium, High}</a:t>
            </a:r>
          </a:p>
        </p:txBody>
      </p:sp>
    </p:spTree>
    <p:extLst>
      <p:ext uri="{BB962C8B-B14F-4D97-AF65-F5344CB8AC3E}">
        <p14:creationId xmlns:p14="http://schemas.microsoft.com/office/powerpoint/2010/main" val="652242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324B-26B0-13D3-87D3-0A9C5F27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Chain-of-thought trades extra tokens for accuracy: 3× on grade-school math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8034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Standard</a:t>
            </a:r>
            <a:r>
              <a:rPr lang="en-US" sz="1400" dirty="0">
                <a:solidFill>
                  <a:srgbClr val="64748B"/>
                </a:solidFill>
              </a:rPr>
              <a:t>  question → answer</a:t>
            </a:r>
          </a:p>
        </p:txBody>
      </p:sp>
      <p:sp>
        <p:nvSpPr>
          <p:cNvPr id="101" name="Diagram 101"/>
          <p:cNvSpPr/>
          <p:nvPr/>
        </p:nvSpPr>
        <p:spPr>
          <a:xfrm>
            <a:off x="838200" y="2120900"/>
            <a:ext cx="5588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Q</a:t>
            </a:r>
          </a:p>
        </p:txBody>
      </p:sp>
      <p:cxnSp>
        <p:nvCxnSpPr>
          <p:cNvPr id="102" name="Arrow 102"/>
          <p:cNvCxnSpPr/>
          <p:nvPr/>
        </p:nvCxnSpPr>
        <p:spPr>
          <a:xfrm>
            <a:off x="1397000" y="2298700"/>
            <a:ext cx="4267200" cy="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03" name="Diagram 103"/>
          <p:cNvSpPr/>
          <p:nvPr/>
        </p:nvSpPr>
        <p:spPr>
          <a:xfrm>
            <a:off x="5664200" y="2120900"/>
            <a:ext cx="635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A</a:t>
            </a:r>
          </a:p>
        </p:txBody>
      </p:sp>
      <p:sp>
        <p:nvSpPr>
          <p:cNvPr id="104" name="Diagram 104"/>
          <p:cNvSpPr/>
          <p:nvPr/>
        </p:nvSpPr>
        <p:spPr>
          <a:xfrm>
            <a:off x="838200" y="26162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Chain-of-thought</a:t>
            </a:r>
            <a:r>
              <a:rPr lang="en-US" sz="1400" dirty="0">
                <a:solidFill>
                  <a:srgbClr val="64748B"/>
                </a:solidFill>
              </a:rPr>
              <a:t>  steps written before the answer</a:t>
            </a:r>
          </a:p>
        </p:txBody>
      </p:sp>
      <p:sp>
        <p:nvSpPr>
          <p:cNvPr id="105" name="Diagram 105"/>
          <p:cNvSpPr/>
          <p:nvPr/>
        </p:nvSpPr>
        <p:spPr>
          <a:xfrm>
            <a:off x="838200" y="2933700"/>
            <a:ext cx="5588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Q</a:t>
            </a:r>
          </a:p>
        </p:txBody>
      </p:sp>
      <p:cxnSp>
        <p:nvCxnSpPr>
          <p:cNvPr id="106" name="Arrow 106"/>
          <p:cNvCxnSpPr/>
          <p:nvPr/>
        </p:nvCxnSpPr>
        <p:spPr>
          <a:xfrm>
            <a:off x="1397000" y="3111500"/>
            <a:ext cx="254000" cy="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07" name="Diagram 107"/>
          <p:cNvSpPr/>
          <p:nvPr/>
        </p:nvSpPr>
        <p:spPr>
          <a:xfrm>
            <a:off x="1651000" y="2933700"/>
            <a:ext cx="1143000" cy="3556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7C3AED"/>
                </a:solidFill>
              </a:rPr>
              <a:t>step 1</a:t>
            </a:r>
          </a:p>
        </p:txBody>
      </p:sp>
      <p:cxnSp>
        <p:nvCxnSpPr>
          <p:cNvPr id="108" name="Arrow 108"/>
          <p:cNvCxnSpPr/>
          <p:nvPr/>
        </p:nvCxnSpPr>
        <p:spPr>
          <a:xfrm>
            <a:off x="2794000" y="3111500"/>
            <a:ext cx="190500" cy="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09" name="Diagram 109"/>
          <p:cNvSpPr/>
          <p:nvPr/>
        </p:nvSpPr>
        <p:spPr>
          <a:xfrm>
            <a:off x="2984500" y="2933700"/>
            <a:ext cx="1143000" cy="3556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7C3AED"/>
                </a:solidFill>
              </a:rPr>
              <a:t>step 2</a:t>
            </a:r>
          </a:p>
        </p:txBody>
      </p:sp>
      <p:cxnSp>
        <p:nvCxnSpPr>
          <p:cNvPr id="110" name="Arrow 110"/>
          <p:cNvCxnSpPr/>
          <p:nvPr/>
        </p:nvCxnSpPr>
        <p:spPr>
          <a:xfrm>
            <a:off x="4127500" y="3111500"/>
            <a:ext cx="190500" cy="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11" name="Diagram 111"/>
          <p:cNvSpPr/>
          <p:nvPr/>
        </p:nvSpPr>
        <p:spPr>
          <a:xfrm>
            <a:off x="4318000" y="2933700"/>
            <a:ext cx="1143000" cy="3556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7C3AED"/>
                </a:solidFill>
              </a:rPr>
              <a:t>step 3</a:t>
            </a:r>
          </a:p>
        </p:txBody>
      </p:sp>
      <p:cxnSp>
        <p:nvCxnSpPr>
          <p:cNvPr id="112" name="Arrow 112"/>
          <p:cNvCxnSpPr/>
          <p:nvPr/>
        </p:nvCxnSpPr>
        <p:spPr>
          <a:xfrm>
            <a:off x="5461000" y="3111500"/>
            <a:ext cx="203200" cy="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13" name="Diagram 113"/>
          <p:cNvSpPr/>
          <p:nvPr/>
        </p:nvSpPr>
        <p:spPr>
          <a:xfrm>
            <a:off x="5664200" y="2933700"/>
            <a:ext cx="635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A</a:t>
            </a:r>
          </a:p>
        </p:txBody>
      </p:sp>
      <p:sp>
        <p:nvSpPr>
          <p:cNvPr id="114" name="Diagram 114"/>
          <p:cNvSpPr/>
          <p:nvPr/>
        </p:nvSpPr>
        <p:spPr>
          <a:xfrm>
            <a:off x="838200" y="34290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Self-consistency</a:t>
            </a:r>
            <a:r>
              <a:rPr lang="en-US" sz="1400" dirty="0">
                <a:solidFill>
                  <a:srgbClr val="64748B"/>
                </a:solidFill>
              </a:rPr>
              <a:t>  sample N paths, majority vote</a:t>
            </a:r>
          </a:p>
        </p:txBody>
      </p:sp>
      <p:sp>
        <p:nvSpPr>
          <p:cNvPr id="115" name="Diagram 115"/>
          <p:cNvSpPr/>
          <p:nvPr/>
        </p:nvSpPr>
        <p:spPr>
          <a:xfrm>
            <a:off x="838200" y="4064000"/>
            <a:ext cx="5588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Q</a:t>
            </a:r>
          </a:p>
        </p:txBody>
      </p:sp>
      <p:cxnSp>
        <p:nvCxnSpPr>
          <p:cNvPr id="116" name="Arrow 116"/>
          <p:cNvCxnSpPr/>
          <p:nvPr/>
        </p:nvCxnSpPr>
        <p:spPr>
          <a:xfrm flipV="1">
            <a:off x="1397000" y="3898900"/>
            <a:ext cx="254000" cy="3429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17" name="Diagram 117"/>
          <p:cNvSpPr/>
          <p:nvPr/>
        </p:nvSpPr>
        <p:spPr>
          <a:xfrm>
            <a:off x="1651000" y="3746500"/>
            <a:ext cx="2413000" cy="3048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7C3AED"/>
                </a:solidFill>
              </a:rPr>
              <a:t>path 1 → 42</a:t>
            </a:r>
          </a:p>
        </p:txBody>
      </p:sp>
      <p:cxnSp>
        <p:nvCxnSpPr>
          <p:cNvPr id="118" name="Arrow 118"/>
          <p:cNvCxnSpPr/>
          <p:nvPr/>
        </p:nvCxnSpPr>
        <p:spPr>
          <a:xfrm>
            <a:off x="4064000" y="3898900"/>
            <a:ext cx="254000" cy="3429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cxnSp>
        <p:nvCxnSpPr>
          <p:cNvPr id="119" name="Arrow 119"/>
          <p:cNvCxnSpPr/>
          <p:nvPr/>
        </p:nvCxnSpPr>
        <p:spPr>
          <a:xfrm>
            <a:off x="1397000" y="4241800"/>
            <a:ext cx="254000" cy="635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20" name="Diagram 120"/>
          <p:cNvSpPr/>
          <p:nvPr/>
        </p:nvSpPr>
        <p:spPr>
          <a:xfrm>
            <a:off x="1651000" y="4152900"/>
            <a:ext cx="2413000" cy="3048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7C3AED"/>
                </a:solidFill>
              </a:rPr>
              <a:t>path 2 → 42</a:t>
            </a:r>
          </a:p>
        </p:txBody>
      </p:sp>
      <p:cxnSp>
        <p:nvCxnSpPr>
          <p:cNvPr id="121" name="Arrow 121"/>
          <p:cNvCxnSpPr/>
          <p:nvPr/>
        </p:nvCxnSpPr>
        <p:spPr>
          <a:xfrm flipV="1">
            <a:off x="4064000" y="4241800"/>
            <a:ext cx="254000" cy="635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cxnSp>
        <p:nvCxnSpPr>
          <p:cNvPr id="122" name="Arrow 122"/>
          <p:cNvCxnSpPr/>
          <p:nvPr/>
        </p:nvCxnSpPr>
        <p:spPr>
          <a:xfrm>
            <a:off x="1397000" y="4241800"/>
            <a:ext cx="254000" cy="4699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23" name="Diagram 123"/>
          <p:cNvSpPr/>
          <p:nvPr/>
        </p:nvSpPr>
        <p:spPr>
          <a:xfrm>
            <a:off x="1651000" y="4559300"/>
            <a:ext cx="2413000" cy="3048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7C3AED"/>
                </a:solidFill>
              </a:rPr>
              <a:t>path 3 → 38</a:t>
            </a:r>
          </a:p>
        </p:txBody>
      </p:sp>
      <p:cxnSp>
        <p:nvCxnSpPr>
          <p:cNvPr id="124" name="Arrow 124"/>
          <p:cNvCxnSpPr/>
          <p:nvPr/>
        </p:nvCxnSpPr>
        <p:spPr>
          <a:xfrm flipV="1">
            <a:off x="4064000" y="4241800"/>
            <a:ext cx="254000" cy="4699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25" name="Diagram 125"/>
          <p:cNvSpPr/>
          <p:nvPr/>
        </p:nvSpPr>
        <p:spPr>
          <a:xfrm>
            <a:off x="4318000" y="40132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7C3AED"/>
                </a:solidFill>
              </a:rPr>
              <a:t>vote 2 of 3</a:t>
            </a:r>
          </a:p>
        </p:txBody>
      </p:sp>
      <p:cxnSp>
        <p:nvCxnSpPr>
          <p:cNvPr id="126" name="Arrow 126"/>
          <p:cNvCxnSpPr/>
          <p:nvPr/>
        </p:nvCxnSpPr>
        <p:spPr>
          <a:xfrm>
            <a:off x="5461000" y="4241800"/>
            <a:ext cx="203200" cy="0"/>
          </a:xfrm>
          <a:prstGeom prst="straightConnector1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127" name="Diagram 127"/>
          <p:cNvSpPr/>
          <p:nvPr/>
        </p:nvSpPr>
        <p:spPr>
          <a:xfrm>
            <a:off x="5664200" y="4064000"/>
            <a:ext cx="635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25400" tIns="0" rIns="254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42</a:t>
            </a:r>
          </a:p>
        </p:txBody>
      </p:sp>
      <p:sp>
        <p:nvSpPr>
          <p:cNvPr id="128" name="Diagram 128"/>
          <p:cNvSpPr/>
          <p:nvPr/>
        </p:nvSpPr>
        <p:spPr>
          <a:xfrm>
            <a:off x="838200" y="5003800"/>
            <a:ext cx="5791200" cy="965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01600" rIns="152400" bIns="1016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Cost: </a:t>
            </a:r>
            <a:r>
              <a:rPr lang="en-US" sz="1400" dirty="0">
                <a:solidFill>
                  <a:srgbClr val="475569"/>
                </a:solidFill>
              </a:rPr>
              <a:t>CoT multiplies output tokens; voting multiplies them by N.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Reasoning models </a:t>
            </a:r>
            <a:r>
              <a:rPr lang="en-US" sz="1400" dirty="0">
                <a:solidFill>
                  <a:srgbClr val="475569"/>
                </a:solidFill>
              </a:rPr>
              <a:t>(o-series, Claude extended thinking) do CoT internally.</a:t>
            </a:r>
          </a:p>
        </p:txBody>
      </p:sp>
      <p:sp>
        <p:nvSpPr>
          <p:cNvPr id="129" name="Diagram 129"/>
          <p:cNvSpPr/>
          <p:nvPr/>
        </p:nvSpPr>
        <p:spPr>
          <a:xfrm>
            <a:off x="6858000" y="18034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GSM8K math accuracy, PaLM 540B</a:t>
            </a:r>
          </a:p>
        </p:txBody>
      </p:sp>
      <p:sp>
        <p:nvSpPr>
          <p:cNvPr id="130" name="Diagram 130"/>
          <p:cNvSpPr/>
          <p:nvPr/>
        </p:nvSpPr>
        <p:spPr>
          <a:xfrm>
            <a:off x="838200" y="6172200"/>
            <a:ext cx="774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</a:rPr>
              <a:t>Self-consistency samples 40 paths. Source: Wei et al., Chain-of-Thought Prompting Elicits Reasoning in LLMs, NeurIPS 2022; Wang et al., Self-Consistency Improves CoT Reasoning, ICLR 2023.</a:t>
            </a:r>
          </a:p>
        </p:txBody>
      </p:sp>
      <p:graphicFrame>
        <p:nvGraphicFramePr>
          <p:cNvPr id="131" name="Chart"/>
          <p:cNvGraphicFramePr/>
          <p:nvPr/>
        </p:nvGraphicFramePr>
        <p:xfrm>
          <a:off x="6858000" y="2133600"/>
          <a:ext cx="4495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6273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89630-F336-486C-7DD8-FC39FB3A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step-by-step trace turns a latency spike into a checkable root cause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803400"/>
            <a:ext cx="10515600" cy="635000"/>
          </a:xfrm>
          <a:prstGeom prst="roundRect">
            <a:avLst>
              <a:gd name="adj" fmla="val 12000"/>
            </a:avLst>
          </a:prstGeom>
          <a:solidFill>
            <a:srgbClr val="0F1B2E"/>
          </a:solidFill>
          <a:ln>
            <a:noFill/>
          </a:ln>
        </p:spPr>
        <p:txBody>
          <a:bodyPr wrap="square" lIns="203200" tIns="76200" rIns="203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A78BFA"/>
                </a:solidFill>
              </a:rPr>
              <a:t>PROMPT 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API p99 latency jumped from 200 ms to 4 s at 09:15. Let's think step by step to find the root cause.</a:t>
            </a:r>
          </a:p>
        </p:txBody>
      </p:sp>
      <p:sp>
        <p:nvSpPr>
          <p:cNvPr id="101" name="Diagram 101"/>
          <p:cNvSpPr/>
          <p:nvPr/>
        </p:nvSpPr>
        <p:spPr>
          <a:xfrm>
            <a:off x="838200" y="2717800"/>
            <a:ext cx="2476500" cy="218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STEP 1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Check deploys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A build shipped at 09:10, five minutes before the spike</a:t>
            </a:r>
          </a:p>
        </p:txBody>
      </p:sp>
      <p:sp>
        <p:nvSpPr>
          <p:cNvPr id="102" name="Diagram 102"/>
          <p:cNvSpPr/>
          <p:nvPr/>
        </p:nvSpPr>
        <p:spPr>
          <a:xfrm>
            <a:off x="1016000" y="4419600"/>
            <a:ext cx="1219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Suspect</a:t>
            </a:r>
          </a:p>
        </p:txBody>
      </p:sp>
      <p:cxnSp>
        <p:nvCxnSpPr>
          <p:cNvPr id="103" name="Arrow 103"/>
          <p:cNvCxnSpPr/>
          <p:nvPr/>
        </p:nvCxnSpPr>
        <p:spPr>
          <a:xfrm>
            <a:off x="3340100" y="3810000"/>
            <a:ext cx="1524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4" name="Diagram 104"/>
          <p:cNvSpPr/>
          <p:nvPr/>
        </p:nvSpPr>
        <p:spPr>
          <a:xfrm>
            <a:off x="3517900" y="2717800"/>
            <a:ext cx="2476500" cy="218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STEP 2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Check infra metrics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CPU and memory are normal</a:t>
            </a:r>
          </a:p>
        </p:txBody>
      </p:sp>
      <p:sp>
        <p:nvSpPr>
          <p:cNvPr id="105" name="Diagram 105"/>
          <p:cNvSpPr/>
          <p:nvPr/>
        </p:nvSpPr>
        <p:spPr>
          <a:xfrm>
            <a:off x="3695700" y="4419600"/>
            <a:ext cx="1219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Ruled out</a:t>
            </a:r>
          </a:p>
        </p:txBody>
      </p:sp>
      <p:cxnSp>
        <p:nvCxnSpPr>
          <p:cNvPr id="106" name="Arrow 106"/>
          <p:cNvCxnSpPr/>
          <p:nvPr/>
        </p:nvCxnSpPr>
        <p:spPr>
          <a:xfrm>
            <a:off x="6019800" y="3810000"/>
            <a:ext cx="1524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7" name="Diagram 107"/>
          <p:cNvSpPr/>
          <p:nvPr/>
        </p:nvSpPr>
        <p:spPr>
          <a:xfrm>
            <a:off x="6197600" y="2717800"/>
            <a:ext cx="2476500" cy="218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STEP 3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Check dependencies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Payments service p99 spiked at 09:12</a:t>
            </a:r>
          </a:p>
        </p:txBody>
      </p:sp>
      <p:sp>
        <p:nvSpPr>
          <p:cNvPr id="108" name="Diagram 108"/>
          <p:cNvSpPr/>
          <p:nvPr/>
        </p:nvSpPr>
        <p:spPr>
          <a:xfrm>
            <a:off x="6375400" y="4419600"/>
            <a:ext cx="1219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Suspect</a:t>
            </a:r>
          </a:p>
        </p:txBody>
      </p:sp>
      <p:cxnSp>
        <p:nvCxnSpPr>
          <p:cNvPr id="109" name="Arrow 109"/>
          <p:cNvCxnSpPr/>
          <p:nvPr/>
        </p:nvCxnSpPr>
        <p:spPr>
          <a:xfrm>
            <a:off x="8699500" y="3810000"/>
            <a:ext cx="1524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10" name="Diagram 110"/>
          <p:cNvSpPr/>
          <p:nvPr/>
        </p:nvSpPr>
        <p:spPr>
          <a:xfrm>
            <a:off x="8877300" y="2717800"/>
            <a:ext cx="2476500" cy="218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STEP 4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Correlate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The 09:10 build added a synchronous call to payments</a:t>
            </a:r>
          </a:p>
        </p:txBody>
      </p:sp>
      <p:sp>
        <p:nvSpPr>
          <p:cNvPr id="111" name="Diagram 111"/>
          <p:cNvSpPr/>
          <p:nvPr/>
        </p:nvSpPr>
        <p:spPr>
          <a:xfrm>
            <a:off x="9055100" y="4419600"/>
            <a:ext cx="1219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F444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DC2626"/>
                </a:solidFill>
              </a:rPr>
              <a:t>Root cause</a:t>
            </a:r>
          </a:p>
        </p:txBody>
      </p:sp>
      <p:sp>
        <p:nvSpPr>
          <p:cNvPr id="112" name="Diagram 112"/>
          <p:cNvSpPr/>
          <p:nvPr/>
        </p:nvSpPr>
        <p:spPr>
          <a:xfrm>
            <a:off x="838200" y="5181600"/>
            <a:ext cx="10515600" cy="6350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203200" tIns="76200" rIns="203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Conclusion  </a:t>
            </a:r>
            <a:r>
              <a:rPr lang="en-US" sz="1400" dirty="0">
                <a:solidFill>
                  <a:srgbClr val="1B2430"/>
                </a:solidFill>
              </a:rPr>
              <a:t>Roll back the 09:10 build, then make the payments call asynchronous with a timeout.</a:t>
            </a:r>
          </a:p>
        </p:txBody>
      </p:sp>
      <p:sp>
        <p:nvSpPr>
          <p:cNvPr id="113" name="Diagram 113"/>
          <p:cNvSpPr/>
          <p:nvPr/>
        </p:nvSpPr>
        <p:spPr>
          <a:xfrm>
            <a:off x="838200" y="60706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Why it helps: </a:t>
            </a:r>
            <a:r>
              <a:rPr lang="en-US" sz="1400" dirty="0">
                <a:solidFill>
                  <a:srgbClr val="475569"/>
                </a:solidFill>
              </a:rPr>
              <a:t>every step is a claim you can verify against dashboards, so a wrong step shows up in the trace instead of hiding in the answer.</a:t>
            </a:r>
          </a:p>
        </p:txBody>
      </p:sp>
    </p:spTree>
    <p:extLst>
      <p:ext uri="{BB962C8B-B14F-4D97-AF65-F5344CB8AC3E}">
        <p14:creationId xmlns:p14="http://schemas.microsoft.com/office/powerpoint/2010/main" val="1022735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038F-2E0E-12DF-E73C-60258C95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chaining splits a task into small LLM calls, with code checking every handoff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2159000"/>
            <a:ext cx="965200" cy="711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wrap="square" lIns="50800" tIns="76200" rIns="508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Input</a:t>
            </a:r>
          </a:p>
        </p:txBody>
      </p:sp>
      <p:sp>
        <p:nvSpPr>
          <p:cNvPr id="101" name="Diagram 101"/>
          <p:cNvSpPr/>
          <p:nvPr/>
        </p:nvSpPr>
        <p:spPr>
          <a:xfrm>
            <a:off x="2032000" y="182880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LLM call</a:t>
            </a:r>
          </a:p>
        </p:txBody>
      </p:sp>
      <p:sp>
        <p:nvSpPr>
          <p:cNvPr id="102" name="Diagram 102"/>
          <p:cNvSpPr/>
          <p:nvPr/>
        </p:nvSpPr>
        <p:spPr>
          <a:xfrm>
            <a:off x="2032000" y="2159000"/>
            <a:ext cx="1473200" cy="711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txBody>
          <a:bodyPr wrap="square" lIns="50800" tIns="76200" rIns="508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Extract</a:t>
            </a:r>
          </a:p>
        </p:txBody>
      </p:sp>
      <p:sp>
        <p:nvSpPr>
          <p:cNvPr id="103" name="Diagram 103"/>
          <p:cNvSpPr/>
          <p:nvPr/>
        </p:nvSpPr>
        <p:spPr>
          <a:xfrm>
            <a:off x="3708400" y="18288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code gate</a:t>
            </a:r>
          </a:p>
        </p:txBody>
      </p:sp>
      <p:sp>
        <p:nvSpPr>
          <p:cNvPr id="104" name="Diagram 104"/>
          <p:cNvSpPr/>
          <p:nvPr/>
        </p:nvSpPr>
        <p:spPr>
          <a:xfrm>
            <a:off x="3708400" y="2082800"/>
            <a:ext cx="1066800" cy="863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B243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valid?</a:t>
            </a:r>
          </a:p>
        </p:txBody>
      </p:sp>
      <p:sp>
        <p:nvSpPr>
          <p:cNvPr id="105" name="Diagram 105"/>
          <p:cNvSpPr/>
          <p:nvPr/>
        </p:nvSpPr>
        <p:spPr>
          <a:xfrm>
            <a:off x="5003800" y="182880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LLM call</a:t>
            </a:r>
          </a:p>
        </p:txBody>
      </p:sp>
      <p:sp>
        <p:nvSpPr>
          <p:cNvPr id="106" name="Diagram 106"/>
          <p:cNvSpPr/>
          <p:nvPr/>
        </p:nvSpPr>
        <p:spPr>
          <a:xfrm>
            <a:off x="5003800" y="2159000"/>
            <a:ext cx="1473200" cy="711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txBody>
          <a:bodyPr wrap="square" lIns="50800" tIns="76200" rIns="508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Transform</a:t>
            </a:r>
          </a:p>
        </p:txBody>
      </p:sp>
      <p:sp>
        <p:nvSpPr>
          <p:cNvPr id="107" name="Diagram 107"/>
          <p:cNvSpPr/>
          <p:nvPr/>
        </p:nvSpPr>
        <p:spPr>
          <a:xfrm>
            <a:off x="6705600" y="1828800"/>
            <a:ext cx="1422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tool call</a:t>
            </a:r>
          </a:p>
        </p:txBody>
      </p:sp>
      <p:sp>
        <p:nvSpPr>
          <p:cNvPr id="108" name="Diagram 108"/>
          <p:cNvSpPr/>
          <p:nvPr/>
        </p:nvSpPr>
        <p:spPr>
          <a:xfrm>
            <a:off x="6705600" y="2159000"/>
            <a:ext cx="1422400" cy="711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txBody>
          <a:bodyPr wrap="square" lIns="50800" tIns="76200" rIns="508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DB lookup</a:t>
            </a:r>
          </a:p>
        </p:txBody>
      </p:sp>
      <p:sp>
        <p:nvSpPr>
          <p:cNvPr id="109" name="Diagram 109"/>
          <p:cNvSpPr/>
          <p:nvPr/>
        </p:nvSpPr>
        <p:spPr>
          <a:xfrm>
            <a:off x="8356600" y="182880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LLM call</a:t>
            </a:r>
          </a:p>
        </p:txBody>
      </p:sp>
      <p:sp>
        <p:nvSpPr>
          <p:cNvPr id="110" name="Diagram 110"/>
          <p:cNvSpPr/>
          <p:nvPr/>
        </p:nvSpPr>
        <p:spPr>
          <a:xfrm>
            <a:off x="8356600" y="2159000"/>
            <a:ext cx="1473200" cy="711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txBody>
          <a:bodyPr wrap="square" lIns="50800" tIns="76200" rIns="508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Generate</a:t>
            </a:r>
          </a:p>
        </p:txBody>
      </p:sp>
      <p:sp>
        <p:nvSpPr>
          <p:cNvPr id="111" name="Diagram 111"/>
          <p:cNvSpPr/>
          <p:nvPr/>
        </p:nvSpPr>
        <p:spPr>
          <a:xfrm>
            <a:off x="10058400" y="2159000"/>
            <a:ext cx="1295400" cy="711200"/>
          </a:xfrm>
          <a:prstGeom prst="roundRect">
            <a:avLst>
              <a:gd name="adj" fmla="val 50000"/>
            </a:avLst>
          </a:prstGeom>
          <a:solidFill>
            <a:srgbClr val="0F1B2E"/>
          </a:solidFill>
          <a:ln>
            <a:noFill/>
          </a:ln>
        </p:spPr>
        <p:txBody>
          <a:bodyPr wrap="square" lIns="50800" tIns="76200" rIns="508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</a:t>
            </a:r>
          </a:p>
        </p:txBody>
      </p:sp>
      <p:cxnSp>
        <p:nvCxnSpPr>
          <p:cNvPr id="112" name="Arrow 112"/>
          <p:cNvCxnSpPr/>
          <p:nvPr/>
        </p:nvCxnSpPr>
        <p:spPr>
          <a:xfrm>
            <a:off x="1803400" y="2514600"/>
            <a:ext cx="2286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cxnSp>
        <p:nvCxnSpPr>
          <p:cNvPr id="113" name="Arrow 113"/>
          <p:cNvCxnSpPr/>
          <p:nvPr/>
        </p:nvCxnSpPr>
        <p:spPr>
          <a:xfrm>
            <a:off x="3505200" y="2514600"/>
            <a:ext cx="2032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cxnSp>
        <p:nvCxnSpPr>
          <p:cNvPr id="114" name="Arrow 114"/>
          <p:cNvCxnSpPr/>
          <p:nvPr/>
        </p:nvCxnSpPr>
        <p:spPr>
          <a:xfrm>
            <a:off x="4775200" y="2514600"/>
            <a:ext cx="2286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cxnSp>
        <p:nvCxnSpPr>
          <p:cNvPr id="115" name="Arrow 115"/>
          <p:cNvCxnSpPr/>
          <p:nvPr/>
        </p:nvCxnSpPr>
        <p:spPr>
          <a:xfrm>
            <a:off x="6477000" y="2514600"/>
            <a:ext cx="2286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cxnSp>
        <p:nvCxnSpPr>
          <p:cNvPr id="116" name="Arrow 116"/>
          <p:cNvCxnSpPr/>
          <p:nvPr/>
        </p:nvCxnSpPr>
        <p:spPr>
          <a:xfrm>
            <a:off x="8128000" y="2514600"/>
            <a:ext cx="2286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cxnSp>
        <p:nvCxnSpPr>
          <p:cNvPr id="117" name="Arrow 117"/>
          <p:cNvCxnSpPr/>
          <p:nvPr/>
        </p:nvCxnSpPr>
        <p:spPr>
          <a:xfrm>
            <a:off x="9829800" y="2514600"/>
            <a:ext cx="2286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cxnSp>
        <p:nvCxnSpPr>
          <p:cNvPr id="118" name="Arrow 118"/>
          <p:cNvCxnSpPr/>
          <p:nvPr/>
        </p:nvCxnSpPr>
        <p:spPr>
          <a:xfrm>
            <a:off x="4241800" y="2946400"/>
            <a:ext cx="0" cy="330200"/>
          </a:xfrm>
          <a:prstGeom prst="straightConnector1">
            <a:avLst/>
          </a:prstGeom>
          <a:ln w="22225">
            <a:solidFill>
              <a:srgbClr val="64748B"/>
            </a:solidFill>
          </a:ln>
        </p:spPr>
      </p:cxnSp>
      <p:cxnSp>
        <p:nvCxnSpPr>
          <p:cNvPr id="119" name="Arrow 119"/>
          <p:cNvCxnSpPr/>
          <p:nvPr/>
        </p:nvCxnSpPr>
        <p:spPr>
          <a:xfrm flipH="1">
            <a:off x="2768600" y="3276600"/>
            <a:ext cx="1473200" cy="0"/>
          </a:xfrm>
          <a:prstGeom prst="straightConnector1">
            <a:avLst/>
          </a:prstGeom>
          <a:ln w="22225">
            <a:solidFill>
              <a:srgbClr val="64748B"/>
            </a:solidFill>
          </a:ln>
        </p:spPr>
      </p:cxnSp>
      <p:cxnSp>
        <p:nvCxnSpPr>
          <p:cNvPr id="120" name="Arrow 120"/>
          <p:cNvCxnSpPr/>
          <p:nvPr/>
        </p:nvCxnSpPr>
        <p:spPr>
          <a:xfrm flipV="1">
            <a:off x="2768600" y="2870200"/>
            <a:ext cx="0" cy="40640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21" name="Diagram 121"/>
          <p:cNvSpPr/>
          <p:nvPr/>
        </p:nvSpPr>
        <p:spPr>
          <a:xfrm>
            <a:off x="2870200" y="33147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i="1" dirty="0">
                <a:solidFill>
                  <a:srgbClr val="475569"/>
                </a:solidFill>
              </a:rPr>
              <a:t>fail → retry with the error message</a:t>
            </a:r>
          </a:p>
        </p:txBody>
      </p:sp>
      <p:sp>
        <p:nvSpPr>
          <p:cNvPr id="122" name="Diagram 122"/>
          <p:cNvSpPr/>
          <p:nvPr/>
        </p:nvSpPr>
        <p:spPr>
          <a:xfrm>
            <a:off x="4876800" y="29337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i="1" dirty="0">
                <a:solidFill>
                  <a:srgbClr val="475569"/>
                </a:solidFill>
              </a:rPr>
              <a:t>pass → typed JSON forward</a:t>
            </a:r>
          </a:p>
        </p:txBody>
      </p:sp>
      <p:sp>
        <p:nvSpPr>
          <p:cNvPr id="123" name="Diagram 123"/>
          <p:cNvSpPr/>
          <p:nvPr/>
        </p:nvSpPr>
        <p:spPr>
          <a:xfrm>
            <a:off x="838200" y="3683000"/>
            <a:ext cx="2794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24" name="Diagram 124"/>
          <p:cNvSpPr/>
          <p:nvPr/>
        </p:nvSpPr>
        <p:spPr>
          <a:xfrm>
            <a:off x="3632200" y="3683000"/>
            <a:ext cx="35560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C3AED"/>
                </a:solidFill>
              </a:rPr>
              <a:t>Chain-of-thought</a:t>
            </a:r>
          </a:p>
        </p:txBody>
      </p:sp>
      <p:sp>
        <p:nvSpPr>
          <p:cNvPr id="125" name="Diagram 125"/>
          <p:cNvSpPr/>
          <p:nvPr/>
        </p:nvSpPr>
        <p:spPr>
          <a:xfrm>
            <a:off x="7188200" y="3683000"/>
            <a:ext cx="416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B45309"/>
                </a:solidFill>
              </a:rPr>
              <a:t>Prompt chaining</a:t>
            </a:r>
          </a:p>
        </p:txBody>
      </p:sp>
      <p:cxnSp>
        <p:nvCxnSpPr>
          <p:cNvPr id="126" name="Arrow 126"/>
          <p:cNvCxnSpPr/>
          <p:nvPr/>
        </p:nvCxnSpPr>
        <p:spPr>
          <a:xfrm>
            <a:off x="838200" y="4165600"/>
            <a:ext cx="10515600" cy="0"/>
          </a:xfrm>
          <a:prstGeom prst="straightConnector1">
            <a:avLst/>
          </a:prstGeom>
          <a:ln w="12700">
            <a:solidFill>
              <a:srgbClr val="94A3B8"/>
            </a:solidFill>
          </a:ln>
        </p:spPr>
      </p:cxnSp>
      <p:sp>
        <p:nvSpPr>
          <p:cNvPr id="127" name="Diagram 127"/>
          <p:cNvSpPr/>
          <p:nvPr/>
        </p:nvSpPr>
        <p:spPr>
          <a:xfrm>
            <a:off x="838200" y="4165600"/>
            <a:ext cx="2794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LLM calls</a:t>
            </a:r>
          </a:p>
        </p:txBody>
      </p:sp>
      <p:sp>
        <p:nvSpPr>
          <p:cNvPr id="128" name="Diagram 128"/>
          <p:cNvSpPr/>
          <p:nvPr/>
        </p:nvSpPr>
        <p:spPr>
          <a:xfrm>
            <a:off x="3632200" y="4165600"/>
            <a:ext cx="35560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One</a:t>
            </a:r>
          </a:p>
        </p:txBody>
      </p:sp>
      <p:sp>
        <p:nvSpPr>
          <p:cNvPr id="129" name="Diagram 129"/>
          <p:cNvSpPr/>
          <p:nvPr/>
        </p:nvSpPr>
        <p:spPr>
          <a:xfrm>
            <a:off x="7188200" y="4165600"/>
            <a:ext cx="416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One per step</a:t>
            </a:r>
          </a:p>
        </p:txBody>
      </p:sp>
      <p:cxnSp>
        <p:nvCxnSpPr>
          <p:cNvPr id="130" name="Arrow 130"/>
          <p:cNvCxnSpPr/>
          <p:nvPr/>
        </p:nvCxnSpPr>
        <p:spPr>
          <a:xfrm>
            <a:off x="838200" y="4648200"/>
            <a:ext cx="10515600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  <p:sp>
        <p:nvSpPr>
          <p:cNvPr id="131" name="Diagram 131"/>
          <p:cNvSpPr/>
          <p:nvPr/>
        </p:nvSpPr>
        <p:spPr>
          <a:xfrm>
            <a:off x="838200" y="4648200"/>
            <a:ext cx="2794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State between steps</a:t>
            </a:r>
          </a:p>
        </p:txBody>
      </p:sp>
      <p:sp>
        <p:nvSpPr>
          <p:cNvPr id="132" name="Diagram 132"/>
          <p:cNvSpPr/>
          <p:nvPr/>
        </p:nvSpPr>
        <p:spPr>
          <a:xfrm>
            <a:off x="3632200" y="4648200"/>
            <a:ext cx="35560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Inside one response</a:t>
            </a:r>
          </a:p>
        </p:txBody>
      </p:sp>
      <p:sp>
        <p:nvSpPr>
          <p:cNvPr id="133" name="Diagram 133"/>
          <p:cNvSpPr/>
          <p:nvPr/>
        </p:nvSpPr>
        <p:spPr>
          <a:xfrm>
            <a:off x="7188200" y="4648200"/>
            <a:ext cx="416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Passed and checked by your code</a:t>
            </a:r>
          </a:p>
        </p:txBody>
      </p:sp>
      <p:cxnSp>
        <p:nvCxnSpPr>
          <p:cNvPr id="134" name="Arrow 134"/>
          <p:cNvCxnSpPr/>
          <p:nvPr/>
        </p:nvCxnSpPr>
        <p:spPr>
          <a:xfrm>
            <a:off x="838200" y="5130800"/>
            <a:ext cx="10515600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  <p:sp>
        <p:nvSpPr>
          <p:cNvPr id="135" name="Diagram 135"/>
          <p:cNvSpPr/>
          <p:nvPr/>
        </p:nvSpPr>
        <p:spPr>
          <a:xfrm>
            <a:off x="838200" y="5130800"/>
            <a:ext cx="2794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Debugging</a:t>
            </a:r>
          </a:p>
        </p:txBody>
      </p:sp>
      <p:sp>
        <p:nvSpPr>
          <p:cNvPr id="136" name="Diagram 136"/>
          <p:cNvSpPr/>
          <p:nvPr/>
        </p:nvSpPr>
        <p:spPr>
          <a:xfrm>
            <a:off x="3632200" y="5130800"/>
            <a:ext cx="35560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Read the whole trace</a:t>
            </a:r>
          </a:p>
        </p:txBody>
      </p:sp>
      <p:sp>
        <p:nvSpPr>
          <p:cNvPr id="137" name="Diagram 137"/>
          <p:cNvSpPr/>
          <p:nvPr/>
        </p:nvSpPr>
        <p:spPr>
          <a:xfrm>
            <a:off x="7188200" y="5130800"/>
            <a:ext cx="416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Test and log each step on its own</a:t>
            </a:r>
          </a:p>
        </p:txBody>
      </p:sp>
      <p:cxnSp>
        <p:nvCxnSpPr>
          <p:cNvPr id="138" name="Arrow 138"/>
          <p:cNvCxnSpPr/>
          <p:nvPr/>
        </p:nvCxnSpPr>
        <p:spPr>
          <a:xfrm>
            <a:off x="838200" y="5613400"/>
            <a:ext cx="10515600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  <p:sp>
        <p:nvSpPr>
          <p:cNvPr id="139" name="Diagram 139"/>
          <p:cNvSpPr/>
          <p:nvPr/>
        </p:nvSpPr>
        <p:spPr>
          <a:xfrm>
            <a:off x="838200" y="5613400"/>
            <a:ext cx="2794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Can add</a:t>
            </a:r>
          </a:p>
        </p:txBody>
      </p:sp>
      <p:sp>
        <p:nvSpPr>
          <p:cNvPr id="140" name="Diagram 140"/>
          <p:cNvSpPr/>
          <p:nvPr/>
        </p:nvSpPr>
        <p:spPr>
          <a:xfrm>
            <a:off x="3632200" y="5613400"/>
            <a:ext cx="35560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Nothing mid-way</a:t>
            </a:r>
          </a:p>
        </p:txBody>
      </p:sp>
      <p:sp>
        <p:nvSpPr>
          <p:cNvPr id="141" name="Diagram 141"/>
          <p:cNvSpPr/>
          <p:nvPr/>
        </p:nvSpPr>
        <p:spPr>
          <a:xfrm>
            <a:off x="7188200" y="5613400"/>
            <a:ext cx="416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Validation, branching, retries, tools</a:t>
            </a:r>
          </a:p>
        </p:txBody>
      </p:sp>
      <p:cxnSp>
        <p:nvCxnSpPr>
          <p:cNvPr id="142" name="Arrow 142"/>
          <p:cNvCxnSpPr/>
          <p:nvPr/>
        </p:nvCxnSpPr>
        <p:spPr>
          <a:xfrm>
            <a:off x="838200" y="6096000"/>
            <a:ext cx="10515600" cy="0"/>
          </a:xfrm>
          <a:prstGeom prst="straightConnector1">
            <a:avLst/>
          </a:prstGeom>
          <a:ln w="9525">
            <a:solidFill>
              <a:srgbClr val="E2E8F0"/>
            </a:solidFill>
          </a:ln>
        </p:spPr>
      </p:cxnSp>
    </p:spTree>
    <p:extLst>
      <p:ext uri="{BB962C8B-B14F-4D97-AF65-F5344CB8AC3E}">
        <p14:creationId xmlns:p14="http://schemas.microsoft.com/office/powerpoint/2010/main" val="47013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7881-A046-5D3F-175B-ECB38CEA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typed steps turn raw meeting notes into a sprint plan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80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Input: </a:t>
            </a:r>
            <a:r>
              <a:rPr lang="en-US" sz="1400" dirty="0">
                <a:solidFill>
                  <a:srgbClr val="475569"/>
                </a:solidFill>
              </a:rPr>
              <a:t>raw meeting notes, free text</a:t>
            </a:r>
          </a:p>
        </p:txBody>
      </p:sp>
      <p:sp>
        <p:nvSpPr>
          <p:cNvPr id="101" name="Diagram 101"/>
          <p:cNvSpPr/>
          <p:nvPr/>
        </p:nvSpPr>
        <p:spPr>
          <a:xfrm>
            <a:off x="838200" y="2159000"/>
            <a:ext cx="2438400" cy="248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STEP 1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Extract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Pull every requirement from the notes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Output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requirements[]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{id, text, owner}</a:t>
            </a:r>
          </a:p>
        </p:txBody>
      </p:sp>
      <p:sp>
        <p:nvSpPr>
          <p:cNvPr id="102" name="Diagram 102"/>
          <p:cNvSpPr/>
          <p:nvPr/>
        </p:nvSpPr>
        <p:spPr>
          <a:xfrm>
            <a:off x="838200" y="4775200"/>
            <a:ext cx="2438400" cy="40640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✓ </a:t>
            </a:r>
            <a:r>
              <a:rPr lang="en-US" sz="1400" dirty="0">
                <a:solidFill>
                  <a:srgbClr val="065F46"/>
                </a:solidFill>
              </a:rPr>
              <a:t>each item has an owner</a:t>
            </a:r>
          </a:p>
        </p:txBody>
      </p:sp>
      <p:cxnSp>
        <p:nvCxnSpPr>
          <p:cNvPr id="103" name="Arrow 103"/>
          <p:cNvCxnSpPr/>
          <p:nvPr/>
        </p:nvCxnSpPr>
        <p:spPr>
          <a:xfrm>
            <a:off x="3302000" y="3403600"/>
            <a:ext cx="2032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4" name="Diagram 104"/>
          <p:cNvSpPr/>
          <p:nvPr/>
        </p:nvSpPr>
        <p:spPr>
          <a:xfrm>
            <a:off x="3530600" y="2159000"/>
            <a:ext cx="2438400" cy="248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STEP 2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Draft user stories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Turn requirements into backlog items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Output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stories[]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{as_a, i_want, so_that}</a:t>
            </a:r>
          </a:p>
        </p:txBody>
      </p:sp>
      <p:sp>
        <p:nvSpPr>
          <p:cNvPr id="105" name="Diagram 105"/>
          <p:cNvSpPr/>
          <p:nvPr/>
        </p:nvSpPr>
        <p:spPr>
          <a:xfrm>
            <a:off x="3530600" y="4775200"/>
            <a:ext cx="2438400" cy="40640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✓ </a:t>
            </a:r>
            <a:r>
              <a:rPr lang="en-US" sz="1400" dirty="0">
                <a:solidFill>
                  <a:srgbClr val="065F46"/>
                </a:solidFill>
              </a:rPr>
              <a:t>every req maps to a story</a:t>
            </a:r>
          </a:p>
        </p:txBody>
      </p:sp>
      <p:cxnSp>
        <p:nvCxnSpPr>
          <p:cNvPr id="106" name="Arrow 106"/>
          <p:cNvCxnSpPr/>
          <p:nvPr/>
        </p:nvCxnSpPr>
        <p:spPr>
          <a:xfrm>
            <a:off x="5994400" y="3403600"/>
            <a:ext cx="2032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07" name="Diagram 107"/>
          <p:cNvSpPr/>
          <p:nvPr/>
        </p:nvSpPr>
        <p:spPr>
          <a:xfrm>
            <a:off x="6223000" y="2159000"/>
            <a:ext cx="2438400" cy="248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STEP 3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Estimate effort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Assign story points by complexity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Output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{story_id: points}</a:t>
            </a:r>
          </a:p>
        </p:txBody>
      </p:sp>
      <p:sp>
        <p:nvSpPr>
          <p:cNvPr id="108" name="Diagram 108"/>
          <p:cNvSpPr/>
          <p:nvPr/>
        </p:nvSpPr>
        <p:spPr>
          <a:xfrm>
            <a:off x="6223000" y="4775200"/>
            <a:ext cx="2438400" cy="40640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✓ </a:t>
            </a:r>
            <a:r>
              <a:rPr lang="en-US" sz="1400" dirty="0">
                <a:solidFill>
                  <a:srgbClr val="065F46"/>
                </a:solidFill>
              </a:rPr>
              <a:t>n ∈ {1, 2, 3, 5, 8}</a:t>
            </a:r>
          </a:p>
        </p:txBody>
      </p:sp>
      <p:cxnSp>
        <p:nvCxnSpPr>
          <p:cNvPr id="109" name="Arrow 109"/>
          <p:cNvCxnSpPr/>
          <p:nvPr/>
        </p:nvCxnSpPr>
        <p:spPr>
          <a:xfrm>
            <a:off x="8686800" y="3403600"/>
            <a:ext cx="203200" cy="0"/>
          </a:xfrm>
          <a:prstGeom prst="straightConnector1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10" name="Diagram 110"/>
          <p:cNvSpPr/>
          <p:nvPr/>
        </p:nvSpPr>
        <p:spPr>
          <a:xfrm>
            <a:off x="8915400" y="2159000"/>
            <a:ext cx="2438400" cy="248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STEP 4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B2430"/>
                </a:solidFill>
              </a:rPr>
              <a:t>Generate sprint plan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Fit stories into the next sprint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Output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sprint_plan.md</a:t>
            </a:r>
          </a:p>
        </p:txBody>
      </p:sp>
      <p:sp>
        <p:nvSpPr>
          <p:cNvPr id="111" name="Diagram 111"/>
          <p:cNvSpPr/>
          <p:nvPr/>
        </p:nvSpPr>
        <p:spPr>
          <a:xfrm>
            <a:off x="8915400" y="4775200"/>
            <a:ext cx="2438400" cy="40640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✓ </a:t>
            </a:r>
            <a:r>
              <a:rPr lang="en-US" sz="1400" dirty="0">
                <a:solidFill>
                  <a:srgbClr val="065F46"/>
                </a:solidFill>
              </a:rPr>
              <a:t>total ≤ team capacity</a:t>
            </a:r>
          </a:p>
        </p:txBody>
      </p:sp>
      <p:sp>
        <p:nvSpPr>
          <p:cNvPr id="112" name="Diagram 112"/>
          <p:cNvSpPr/>
          <p:nvPr/>
        </p:nvSpPr>
        <p:spPr>
          <a:xfrm>
            <a:off x="838200" y="5334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i="1" dirty="0">
                <a:solidFill>
                  <a:srgbClr val="64748B"/>
                </a:solidFill>
              </a:rPr>
              <a:t>Code checks each output before the next call</a:t>
            </a:r>
          </a:p>
        </p:txBody>
      </p:sp>
      <p:sp>
        <p:nvSpPr>
          <p:cNvPr id="113" name="Diagram 113"/>
          <p:cNvSpPr/>
          <p:nvPr/>
        </p:nvSpPr>
        <p:spPr>
          <a:xfrm>
            <a:off x="838200" y="56642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Payoff: </a:t>
            </a:r>
            <a:r>
              <a:rPr lang="en-US" sz="1400" dirty="0">
                <a:solidFill>
                  <a:srgbClr val="475569"/>
                </a:solidFill>
              </a:rPr>
              <a:t>a bad estimate is caught at step 3 and rerun alone, instead of corrupting the plan. Cost: four calls instead of one.</a:t>
            </a:r>
          </a:p>
        </p:txBody>
      </p:sp>
    </p:spTree>
    <p:extLst>
      <p:ext uri="{BB962C8B-B14F-4D97-AF65-F5344CB8AC3E}">
        <p14:creationId xmlns:p14="http://schemas.microsoft.com/office/powerpoint/2010/main" val="3106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7F97-3658-CFD2-B57F-B5119ABA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prompting puts an LLM in the loop that writes, scores and rewrites prompts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905000"/>
            <a:ext cx="27178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857"/>
                </a:solidFill>
              </a:rPr>
              <a:t>1  Generate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Generator LLM drafts prompt variants from the task spec</a:t>
            </a:r>
          </a:p>
        </p:txBody>
      </p:sp>
      <p:sp>
        <p:nvSpPr>
          <p:cNvPr id="101" name="Diagram 101"/>
          <p:cNvSpPr/>
          <p:nvPr/>
        </p:nvSpPr>
        <p:spPr>
          <a:xfrm>
            <a:off x="4394200" y="1905000"/>
            <a:ext cx="27178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857"/>
                </a:solidFill>
              </a:rPr>
              <a:t>2  Run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Each variant runs on a fixed eval set of inputs</a:t>
            </a:r>
          </a:p>
        </p:txBody>
      </p:sp>
      <p:sp>
        <p:nvSpPr>
          <p:cNvPr id="102" name="Diagram 102"/>
          <p:cNvSpPr/>
          <p:nvPr/>
        </p:nvSpPr>
        <p:spPr>
          <a:xfrm>
            <a:off x="4394200" y="4064000"/>
            <a:ext cx="2717800" cy="1270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857"/>
                </a:solidFill>
              </a:rPr>
              <a:t>3  Score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Exact-match metrics or an LLM judge grade outputs</a:t>
            </a:r>
          </a:p>
        </p:txBody>
      </p:sp>
      <p:sp>
        <p:nvSpPr>
          <p:cNvPr id="103" name="Diagram 103"/>
          <p:cNvSpPr/>
          <p:nvPr/>
        </p:nvSpPr>
        <p:spPr>
          <a:xfrm>
            <a:off x="838200" y="4064000"/>
            <a:ext cx="27178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</p:spPr>
        <p:txBody>
          <a:bodyPr wrap="square" lIns="152400" tIns="127000" rIns="152400" bIns="127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857"/>
                </a:solidFill>
              </a:rPr>
              <a:t>4  Critique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75569"/>
                </a:solidFill>
              </a:rPr>
              <a:t>Critic LLM reads failures and proposes edits</a:t>
            </a:r>
          </a:p>
        </p:txBody>
      </p:sp>
      <p:cxnSp>
        <p:nvCxnSpPr>
          <p:cNvPr id="104" name="Arrow 104"/>
          <p:cNvCxnSpPr/>
          <p:nvPr/>
        </p:nvCxnSpPr>
        <p:spPr>
          <a:xfrm>
            <a:off x="3581400" y="2540000"/>
            <a:ext cx="787400" cy="0"/>
          </a:xfrm>
          <a:prstGeom prst="straightConnector1">
            <a:avLst/>
          </a:prstGeom>
          <a:ln w="25400">
            <a:solidFill>
              <a:srgbClr val="10B981"/>
            </a:solidFill>
            <a:tailEnd type="triangle" w="med" len="med"/>
          </a:ln>
        </p:spPr>
      </p:cxnSp>
      <p:cxnSp>
        <p:nvCxnSpPr>
          <p:cNvPr id="105" name="Arrow 105"/>
          <p:cNvCxnSpPr/>
          <p:nvPr/>
        </p:nvCxnSpPr>
        <p:spPr>
          <a:xfrm>
            <a:off x="5753100" y="3200400"/>
            <a:ext cx="0" cy="838200"/>
          </a:xfrm>
          <a:prstGeom prst="straightConnector1">
            <a:avLst/>
          </a:prstGeom>
          <a:ln w="25400">
            <a:solidFill>
              <a:srgbClr val="10B981"/>
            </a:solidFill>
            <a:tailEnd type="triangle" w="med" len="med"/>
          </a:ln>
        </p:spPr>
      </p:cxnSp>
      <p:cxnSp>
        <p:nvCxnSpPr>
          <p:cNvPr id="106" name="Arrow 106"/>
          <p:cNvCxnSpPr/>
          <p:nvPr/>
        </p:nvCxnSpPr>
        <p:spPr>
          <a:xfrm flipH="1">
            <a:off x="3581400" y="4699000"/>
            <a:ext cx="787400" cy="0"/>
          </a:xfrm>
          <a:prstGeom prst="straightConnector1">
            <a:avLst/>
          </a:prstGeom>
          <a:ln w="25400">
            <a:solidFill>
              <a:srgbClr val="10B981"/>
            </a:solidFill>
            <a:tailEnd type="triangle" w="med" len="med"/>
          </a:ln>
        </p:spPr>
      </p:cxnSp>
      <p:cxnSp>
        <p:nvCxnSpPr>
          <p:cNvPr id="107" name="Arrow 107"/>
          <p:cNvCxnSpPr/>
          <p:nvPr/>
        </p:nvCxnSpPr>
        <p:spPr>
          <a:xfrm flipV="1">
            <a:off x="2197100" y="3200400"/>
            <a:ext cx="0" cy="838200"/>
          </a:xfrm>
          <a:prstGeom prst="straightConnector1">
            <a:avLst/>
          </a:prstGeom>
          <a:ln w="25400">
            <a:solidFill>
              <a:srgbClr val="10B981"/>
            </a:solidFill>
            <a:tailEnd type="triangle" w="med" len="med"/>
          </a:ln>
        </p:spPr>
      </p:cxnSp>
      <p:sp>
        <p:nvSpPr>
          <p:cNvPr id="108" name="Diagram 108"/>
          <p:cNvSpPr/>
          <p:nvPr/>
        </p:nvSpPr>
        <p:spPr>
          <a:xfrm>
            <a:off x="2489200" y="33274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i="1" dirty="0">
                <a:solidFill>
                  <a:srgbClr val="475569"/>
                </a:solidFill>
              </a:rPr>
              <a:t>Loop until scores stop improving</a:t>
            </a:r>
          </a:p>
        </p:txBody>
      </p:sp>
      <p:cxnSp>
        <p:nvCxnSpPr>
          <p:cNvPr id="109" name="Arrow 109"/>
          <p:cNvCxnSpPr/>
          <p:nvPr/>
        </p:nvCxnSpPr>
        <p:spPr>
          <a:xfrm>
            <a:off x="7137400" y="4889500"/>
            <a:ext cx="482600" cy="0"/>
          </a:xfrm>
          <a:prstGeom prst="straightConnector1">
            <a:avLst/>
          </a:prstGeom>
          <a:ln w="25400">
            <a:solidFill>
              <a:srgbClr val="1B2430"/>
            </a:solidFill>
            <a:tailEnd type="triangle" w="med" len="med"/>
          </a:ln>
        </p:spPr>
      </p:cxnSp>
      <p:sp>
        <p:nvSpPr>
          <p:cNvPr id="110" name="Diagram 110"/>
          <p:cNvSpPr/>
          <p:nvPr/>
        </p:nvSpPr>
        <p:spPr>
          <a:xfrm>
            <a:off x="7645400" y="4572000"/>
            <a:ext cx="3708400" cy="635000"/>
          </a:xfrm>
          <a:prstGeom prst="roundRect">
            <a:avLst>
              <a:gd name="adj" fmla="val 12000"/>
            </a:avLst>
          </a:prstGeom>
          <a:solidFill>
            <a:srgbClr val="0F1B2E"/>
          </a:solidFill>
          <a:ln>
            <a:noFill/>
          </a:ln>
        </p:spPr>
        <p:txBody>
          <a:bodyPr wrap="square" lIns="177800" tIns="76200" rIns="1778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EE7B7"/>
                </a:solidFill>
              </a:rPr>
              <a:t>Ship: </a:t>
            </a:r>
            <a:r>
              <a:rPr lang="en-US" sz="1400" dirty="0">
                <a:solidFill>
                  <a:srgbClr val="FFFFFF"/>
                </a:solidFill>
              </a:rPr>
              <a:t>prompt v2, versioned in git</a:t>
            </a:r>
          </a:p>
        </p:txBody>
      </p:sp>
      <p:sp>
        <p:nvSpPr>
          <p:cNvPr id="111" name="Diagram 111"/>
          <p:cNvSpPr/>
          <p:nvPr/>
        </p:nvSpPr>
        <p:spPr>
          <a:xfrm>
            <a:off x="7645400" y="1905000"/>
            <a:ext cx="3708400" cy="248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WHERE TEAMS USE IT</a:t>
            </a:r>
          </a:p>
          <a:p>
            <a:pPr marL="228600" indent="-228600" algn="l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Rewrite vague prompts into RCTFC form</a:t>
            </a:r>
          </a:p>
          <a:p>
            <a:pPr marL="228600" indent="-228600" algn="l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Generate few-shot examples at scale</a:t>
            </a:r>
          </a:p>
          <a:p>
            <a:pPr marL="228600" indent="-228600" algn="l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Re-tune prompts when switching models</a:t>
            </a:r>
          </a:p>
          <a:p>
            <a:pPr marL="228600" indent="-228600" algn="l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Agents writing their own sub-task prompts</a:t>
            </a:r>
          </a:p>
        </p:txBody>
      </p:sp>
      <p:sp>
        <p:nvSpPr>
          <p:cNvPr id="112" name="Diagram 112"/>
          <p:cNvSpPr/>
          <p:nvPr/>
        </p:nvSpPr>
        <p:spPr>
          <a:xfrm>
            <a:off x="838200" y="56642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B2430"/>
                </a:solidFill>
              </a:rPr>
              <a:t>Guardrail: </a:t>
            </a:r>
            <a:r>
              <a:rPr lang="en-US" sz="1400" dirty="0">
                <a:solidFill>
                  <a:srgbClr val="475569"/>
                </a:solidFill>
              </a:rPr>
              <a:t>score on a held-out test set the loop never sees, or the prompt overfits to the eval examples.</a:t>
            </a:r>
          </a:p>
        </p:txBody>
      </p:sp>
    </p:spTree>
    <p:extLst>
      <p:ext uri="{BB962C8B-B14F-4D97-AF65-F5344CB8AC3E}">
        <p14:creationId xmlns:p14="http://schemas.microsoft.com/office/powerpoint/2010/main" val="1636207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F655-A44C-8279-E74D-EE6B8E79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meta-prompt turns a six-word request into a complete RCTFC prompt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841500"/>
            <a:ext cx="29972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DC2626"/>
                </a:solidFill>
              </a:rPr>
              <a:t>ORIGINAL PROMPT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1B2430"/>
                </a:solidFill>
                <a:latin typeface="Consolas"/>
                <a:cs typeface="Consolas"/>
              </a:rPr>
              <a:t>Write something about our sales numbers.</a:t>
            </a:r>
          </a:p>
        </p:txBody>
      </p:sp>
      <p:cxnSp>
        <p:nvCxnSpPr>
          <p:cNvPr id="101" name="Arrow 101"/>
          <p:cNvCxnSpPr/>
          <p:nvPr/>
        </p:nvCxnSpPr>
        <p:spPr>
          <a:xfrm>
            <a:off x="3835400" y="2603500"/>
            <a:ext cx="431800" cy="0"/>
          </a:xfrm>
          <a:prstGeom prst="straightConnector1">
            <a:avLst/>
          </a:prstGeom>
          <a:ln w="25400">
            <a:solidFill>
              <a:srgbClr val="64748B"/>
            </a:solidFill>
            <a:tailEnd type="triangle" w="med" len="med"/>
          </a:ln>
        </p:spPr>
      </p:cxnSp>
      <p:sp>
        <p:nvSpPr>
          <p:cNvPr id="102" name="Diagram 102"/>
          <p:cNvSpPr/>
          <p:nvPr/>
        </p:nvSpPr>
        <p:spPr>
          <a:xfrm>
            <a:off x="4292600" y="1841500"/>
            <a:ext cx="2997200" cy="1524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</p:spPr>
        <p:txBody>
          <a:bodyPr wrap="square" lIns="177800" tIns="152400" rIns="177800" bIns="1524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</a:rPr>
              <a:t>META-PROMPT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1B2430"/>
                </a:solidFill>
              </a:rPr>
              <a:t>You are a prompt engineering expert. Rewrite the prompt for clarity, specificity and output format. Explain each change.</a:t>
            </a:r>
          </a:p>
        </p:txBody>
      </p:sp>
      <p:cxnSp>
        <p:nvCxnSpPr>
          <p:cNvPr id="103" name="Arrow 103"/>
          <p:cNvCxnSpPr/>
          <p:nvPr/>
        </p:nvCxnSpPr>
        <p:spPr>
          <a:xfrm>
            <a:off x="7289800" y="2603500"/>
            <a:ext cx="406400" cy="0"/>
          </a:xfrm>
          <a:prstGeom prst="straightConnector1">
            <a:avLst/>
          </a:prstGeom>
          <a:ln w="25400">
            <a:solidFill>
              <a:srgbClr val="64748B"/>
            </a:solidFill>
            <a:tailEnd type="triangle" w="med" len="med"/>
          </a:ln>
        </p:spPr>
      </p:cxnSp>
      <p:sp>
        <p:nvSpPr>
          <p:cNvPr id="104" name="Diagram 104"/>
          <p:cNvSpPr/>
          <p:nvPr/>
        </p:nvSpPr>
        <p:spPr>
          <a:xfrm>
            <a:off x="7721600" y="1841500"/>
            <a:ext cx="3632200" cy="4191000"/>
          </a:xfrm>
          <a:prstGeom prst="roundRect">
            <a:avLst>
              <a:gd name="adj" fmla="val 5000"/>
            </a:avLst>
          </a:prstGeom>
          <a:solidFill>
            <a:srgbClr val="0F1B2E"/>
          </a:solidFill>
          <a:ln>
            <a:noFill/>
          </a:ln>
        </p:spPr>
        <p:txBody>
          <a:bodyPr wrap="square" lIns="203200" tIns="177800" rIns="203200" bIns="1778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EE7B7"/>
                </a:solidFill>
              </a:rPr>
              <a:t>REWRITTEN PROMPT</a:t>
            </a:r>
          </a:p>
          <a:p>
            <a:pPr marL="0" indent="0" algn="l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60A5FA"/>
                </a:solidFill>
                <a:latin typeface="Consolas"/>
                <a:cs typeface="Consolas"/>
              </a:rPr>
              <a:t>Role: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Senior FP&amp;A analyst.</a:t>
            </a:r>
          </a:p>
          <a:p>
            <a:pPr marL="0" indent="0" algn="l">
              <a:lnSpc>
                <a:spcPct val="100000"/>
              </a:lnSpc>
              <a:spcBef>
                <a:spcPts val="2000"/>
              </a:spcBef>
              <a:buNone/>
            </a:pPr>
            <a:r>
              <a:rPr lang="en-US" sz="1400" b="1" dirty="0">
                <a:solidFill>
                  <a:srgbClr val="2DD4BF"/>
                </a:solidFill>
                <a:latin typeface="Consolas"/>
                <a:cs typeface="Consolas"/>
              </a:rPr>
              <a:t>Context: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Q3 sales by region, attached.</a:t>
            </a:r>
          </a:p>
          <a:p>
            <a:pPr marL="0" indent="0" algn="l">
              <a:lnSpc>
                <a:spcPct val="100000"/>
              </a:lnSpc>
              <a:spcBef>
                <a:spcPts val="2000"/>
              </a:spcBef>
              <a:buNone/>
            </a:pPr>
            <a:r>
              <a:rPr lang="en-US" sz="1400" b="1" dirty="0">
                <a:solidFill>
                  <a:srgbClr val="A78BFA"/>
                </a:solidFill>
                <a:latin typeface="Consolas"/>
                <a:cs typeface="Consolas"/>
              </a:rPr>
              <a:t>Task: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Identify the top 3 revenue drivers.</a:t>
            </a:r>
          </a:p>
          <a:p>
            <a:pPr marL="0" indent="0" algn="l">
              <a:lnSpc>
                <a:spcPct val="100000"/>
              </a:lnSpc>
              <a:spcBef>
                <a:spcPts val="2000"/>
              </a:spcBef>
              <a:buNone/>
            </a:pPr>
            <a:r>
              <a:rPr lang="en-US" sz="1400" b="1" dirty="0">
                <a:solidFill>
                  <a:srgbClr val="FBBF24"/>
                </a:solidFill>
                <a:latin typeface="Consolas"/>
                <a:cs typeface="Consolas"/>
              </a:rPr>
              <a:t>Format: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3 bullets + a summary table.</a:t>
            </a:r>
          </a:p>
          <a:p>
            <a:pPr marL="0" indent="0" algn="l">
              <a:lnSpc>
                <a:spcPct val="100000"/>
              </a:lnSpc>
              <a:spcBef>
                <a:spcPts val="2000"/>
              </a:spcBef>
              <a:buNone/>
            </a:pPr>
            <a:r>
              <a:rPr lang="en-US" sz="1400" b="1" dirty="0">
                <a:solidFill>
                  <a:srgbClr val="F87171"/>
                </a:solidFill>
                <a:latin typeface="Consolas"/>
                <a:cs typeface="Consolas"/>
              </a:rPr>
              <a:t>Constraints: </a:t>
            </a:r>
            <a:r>
              <a:rPr lang="en-US" sz="1400" dirty="0">
                <a:solidFill>
                  <a:srgbClr val="E2E8F0"/>
                </a:solidFill>
                <a:latin typeface="Consolas"/>
                <a:cs typeface="Consolas"/>
              </a:rPr>
              <a:t>Under 150 words.</a:t>
            </a:r>
          </a:p>
        </p:txBody>
      </p:sp>
      <p:sp>
        <p:nvSpPr>
          <p:cNvPr id="105" name="Diagram 105"/>
          <p:cNvSpPr/>
          <p:nvPr/>
        </p:nvSpPr>
        <p:spPr>
          <a:xfrm>
            <a:off x="838200" y="3581400"/>
            <a:ext cx="645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64748B"/>
                </a:solidFill>
              </a:rPr>
              <a:t>CHANGE LOG RETURNED WITH THE PROMPT</a:t>
            </a:r>
          </a:p>
        </p:txBody>
      </p:sp>
      <p:sp>
        <p:nvSpPr>
          <p:cNvPr id="106" name="Diagram 106"/>
          <p:cNvSpPr/>
          <p:nvPr/>
        </p:nvSpPr>
        <p:spPr>
          <a:xfrm>
            <a:off x="838200" y="3937000"/>
            <a:ext cx="6451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  <a:latin typeface="Consolas"/>
                <a:cs typeface="Consolas"/>
              </a:rPr>
              <a:t>+ Role</a:t>
            </a:r>
            <a:r>
              <a:rPr lang="en-US" sz="1400" dirty="0">
                <a:solidFill>
                  <a:srgbClr val="475569"/>
                </a:solidFill>
              </a:rPr>
              <a:t>  sets domain expertise and vocabulary</a:t>
            </a:r>
          </a:p>
        </p:txBody>
      </p:sp>
      <p:sp>
        <p:nvSpPr>
          <p:cNvPr id="107" name="Diagram 107"/>
          <p:cNvSpPr/>
          <p:nvPr/>
        </p:nvSpPr>
        <p:spPr>
          <a:xfrm>
            <a:off x="838200" y="4356100"/>
            <a:ext cx="6451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  <a:latin typeface="Consolas"/>
                <a:cs typeface="Consolas"/>
              </a:rPr>
              <a:t>+ Context</a:t>
            </a:r>
            <a:r>
              <a:rPr lang="en-US" sz="1400" dirty="0">
                <a:solidFill>
                  <a:srgbClr val="475569"/>
                </a:solidFill>
              </a:rPr>
              <a:t>  grounds the answer in real Q3 data</a:t>
            </a:r>
          </a:p>
        </p:txBody>
      </p:sp>
      <p:sp>
        <p:nvSpPr>
          <p:cNvPr id="108" name="Diagram 108"/>
          <p:cNvSpPr/>
          <p:nvPr/>
        </p:nvSpPr>
        <p:spPr>
          <a:xfrm>
            <a:off x="838200" y="4775200"/>
            <a:ext cx="6451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45309"/>
                </a:solidFill>
                <a:latin typeface="Consolas"/>
                <a:cs typeface="Consolas"/>
              </a:rPr>
              <a:t>~ Task</a:t>
            </a:r>
            <a:r>
              <a:rPr lang="en-US" sz="1400" dirty="0">
                <a:solidFill>
                  <a:srgbClr val="475569"/>
                </a:solidFill>
              </a:rPr>
              <a:t>  replaces “something” with a measurable ask</a:t>
            </a:r>
          </a:p>
        </p:txBody>
      </p:sp>
      <p:sp>
        <p:nvSpPr>
          <p:cNvPr id="109" name="Diagram 109"/>
          <p:cNvSpPr/>
          <p:nvPr/>
        </p:nvSpPr>
        <p:spPr>
          <a:xfrm>
            <a:off x="838200" y="5194300"/>
            <a:ext cx="6451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  <a:latin typeface="Consolas"/>
                <a:cs typeface="Consolas"/>
              </a:rPr>
              <a:t>+ Format</a:t>
            </a:r>
            <a:r>
              <a:rPr lang="en-US" sz="1400" dirty="0">
                <a:solidFill>
                  <a:srgbClr val="475569"/>
                </a:solidFill>
              </a:rPr>
              <a:t>  fixes the output shape for downstream use</a:t>
            </a:r>
          </a:p>
        </p:txBody>
      </p:sp>
      <p:sp>
        <p:nvSpPr>
          <p:cNvPr id="110" name="Diagram 110"/>
          <p:cNvSpPr/>
          <p:nvPr/>
        </p:nvSpPr>
        <p:spPr>
          <a:xfrm>
            <a:off x="838200" y="5613400"/>
            <a:ext cx="6451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47857"/>
                </a:solidFill>
                <a:latin typeface="Consolas"/>
                <a:cs typeface="Consolas"/>
              </a:rPr>
              <a:t>+ Constraints</a:t>
            </a:r>
            <a:r>
              <a:rPr lang="en-US" sz="1400" dirty="0">
                <a:solidFill>
                  <a:srgbClr val="475569"/>
                </a:solidFill>
              </a:rPr>
              <a:t>  caps length so the answer stays scannable</a:t>
            </a:r>
          </a:p>
        </p:txBody>
      </p:sp>
    </p:spTree>
    <p:extLst>
      <p:ext uri="{BB962C8B-B14F-4D97-AF65-F5344CB8AC3E}">
        <p14:creationId xmlns:p14="http://schemas.microsoft.com/office/powerpoint/2010/main" val="2668709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039F-95AC-E907-4ECD-2CACF59D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lightest technique that fixes the failure; cost rises with each step down</a:t>
            </a:r>
          </a:p>
        </p:txBody>
      </p:sp>
      <p:graphicFrame>
        <p:nvGraphicFramePr>
          <p:cNvPr id="50" name="Technique comparison"/>
          <p:cNvGraphicFramePr>
            <a:graphicFrameLocks noGrp="1"/>
          </p:cNvGraphicFramePr>
          <p:nvPr/>
        </p:nvGraphicFramePr>
        <p:xfrm>
          <a:off x="838200" y="1905000"/>
          <a:ext cx="10515600" cy="38608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Technique</a:t>
                      </a:r>
                    </a:p>
                  </a:txBody>
                  <a:tcPr marL="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94A3B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Best for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94A3B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LLM calls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94A3B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Token cost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94A3B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Main risk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94A3B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2563EB"/>
                          </a:solidFill>
                        </a:rPr>
                        <a:t>RCTFC</a:t>
                      </a:r>
                    </a:p>
                  </a:txBody>
                  <a:tcPr marL="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Any single prompt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1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Low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Long prompts nobody maintains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Few-shot</a:t>
                      </a:r>
                    </a:p>
                  </a:txBody>
                  <a:tcPr marL="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Format, labels, style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1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Low to medium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Model copies quirks of the examples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7C3AED"/>
                          </a:solidFill>
                        </a:rPr>
                        <a:t>Chain-of-thought</a:t>
                      </a:r>
                    </a:p>
                  </a:txBody>
                  <a:tcPr marL="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Multi-step logic, diagnosis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1, or N with voting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Medium to high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Plausible steps, wrong answer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B45309"/>
                          </a:solidFill>
                        </a:rPr>
                        <a:t>Prompt chaining</a:t>
                      </a:r>
                    </a:p>
                  </a:txBody>
                  <a:tcPr marL="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Multi-stage workflows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2 or more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Medium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Latency adds up per step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47857"/>
                          </a:solidFill>
                        </a:rPr>
                        <a:t>Meta prompting</a:t>
                      </a:r>
                    </a:p>
                  </a:txBody>
                  <a:tcPr marL="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Optimizing prompts at scale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Many, offline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High upfront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Overfits to the eval set</a:t>
                      </a:r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" name="Table note"/>
          <p:cNvSpPr txBox="1"/>
          <p:nvPr/>
        </p:nvSpPr>
        <p:spPr>
          <a:xfrm>
            <a:off x="838200" y="5943600"/>
            <a:ext cx="78740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400" dirty="0">
                <a:solidFill>
                  <a:srgbClr val="475569"/>
                </a:solidFill>
              </a:rPr>
              <a:t>Techniques stack: a production chain usually uses RCTFC prompts with few-shot examples at each step.</a:t>
            </a:r>
          </a:p>
        </p:txBody>
      </p:sp>
    </p:spTree>
    <p:extLst>
      <p:ext uri="{BB962C8B-B14F-4D97-AF65-F5344CB8AC3E}">
        <p14:creationId xmlns:p14="http://schemas.microsoft.com/office/powerpoint/2010/main" val="2897328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FD02-A0D6-55D2-9C2A-E9B9CEF4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/>
              <a:t>Industry Prompt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17DA5-DAE5-DBC0-21CE-600ED4B36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1800" dirty="0"/>
              <a:t>18 ready-to-use RCTFC prompts, three each for DevOps, IT infrastructure, Python backend, finance, HR and banking</a:t>
            </a:r>
          </a:p>
        </p:txBody>
      </p:sp>
    </p:spTree>
    <p:extLst>
      <p:ext uri="{BB962C8B-B14F-4D97-AF65-F5344CB8AC3E}">
        <p14:creationId xmlns:p14="http://schemas.microsoft.com/office/powerpoint/2010/main" val="1478750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4856-6141-C0AE-4234-066308D1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Industry Prompt Library: DevOps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114E6C-F83D-405C-A9A1-F633AE898F7A}"/>
              </a:ext>
            </a:extLst>
          </p:cNvPr>
          <p:cNvSpPr/>
          <p:nvPr/>
        </p:nvSpPr>
        <p:spPr>
          <a:xfrm>
            <a:off x="381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25EA22-F76A-4064-8FA5-9AB07F339178}"/>
              </a:ext>
            </a:extLst>
          </p:cNvPr>
          <p:cNvSpPr/>
          <p:nvPr/>
        </p:nvSpPr>
        <p:spPr>
          <a:xfrm>
            <a:off x="381000" y="1905000"/>
            <a:ext cx="3683000" cy="5334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1. Incident Root-Cause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DC406-0148-4DF8-B7FA-BB28D3F30C57}"/>
              </a:ext>
            </a:extLst>
          </p:cNvPr>
          <p:cNvSpPr txBox="1"/>
          <p:nvPr/>
        </p:nvSpPr>
        <p:spPr>
          <a:xfrm>
            <a:off x="5588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Role: </a:t>
            </a:r>
            <a:r>
              <a:rPr lang="en-US" sz="1400" dirty="0"/>
              <a:t>Senior DevOps SRE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Context: </a:t>
            </a:r>
            <a:r>
              <a:rPr lang="en-US" sz="1400" dirty="0"/>
              <a:t>Incident logs and timeline attached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Task: </a:t>
            </a:r>
            <a:r>
              <a:rPr lang="en-US" sz="1400" dirty="0"/>
              <a:t>Identify the most likely root cause of the outage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Format &amp; Constraints: </a:t>
            </a:r>
            <a:r>
              <a:rPr lang="en-US" sz="1400" dirty="0"/>
              <a:t>Timeline table + root cause statement; flag assumptions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2608EF-4983-46D0-BA00-357EC915987E}"/>
              </a:ext>
            </a:extLst>
          </p:cNvPr>
          <p:cNvSpPr/>
          <p:nvPr/>
        </p:nvSpPr>
        <p:spPr>
          <a:xfrm>
            <a:off x="42545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A01F60-24A6-4693-8B62-5A35B906AF40}"/>
              </a:ext>
            </a:extLst>
          </p:cNvPr>
          <p:cNvSpPr/>
          <p:nvPr/>
        </p:nvSpPr>
        <p:spPr>
          <a:xfrm>
            <a:off x="4254500" y="1905000"/>
            <a:ext cx="3683000" cy="5334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2. CI/CD Pipeline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77432-9CA2-4EC7-9506-D864B94EF04B}"/>
              </a:ext>
            </a:extLst>
          </p:cNvPr>
          <p:cNvSpPr txBox="1"/>
          <p:nvPr/>
        </p:nvSpPr>
        <p:spPr>
          <a:xfrm>
            <a:off x="44323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Role: </a:t>
            </a:r>
            <a:r>
              <a:rPr lang="en-US" sz="1400" dirty="0"/>
              <a:t>CI/CD platform engineer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Context: </a:t>
            </a:r>
            <a:r>
              <a:rPr lang="en-US" sz="1400" dirty="0"/>
              <a:t>Current Jenkins pipeline YAML attached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Task: </a:t>
            </a:r>
            <a:r>
              <a:rPr lang="en-US" sz="1400" dirty="0"/>
              <a:t>Suggest changes to cut build time by 30%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Format &amp; Constraints: </a:t>
            </a:r>
            <a:r>
              <a:rPr lang="en-US" sz="1400" dirty="0"/>
              <a:t>Numbered list with expected impact; must stay backward-compatible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728506-014B-42A2-A590-3B9210288F22}"/>
              </a:ext>
            </a:extLst>
          </p:cNvPr>
          <p:cNvSpPr/>
          <p:nvPr/>
        </p:nvSpPr>
        <p:spPr>
          <a:xfrm>
            <a:off x="8128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944681-1A07-4BE0-86CF-A4C92F575C45}"/>
              </a:ext>
            </a:extLst>
          </p:cNvPr>
          <p:cNvSpPr/>
          <p:nvPr/>
        </p:nvSpPr>
        <p:spPr>
          <a:xfrm>
            <a:off x="8128000" y="1905000"/>
            <a:ext cx="3683000" cy="5334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3. Infrastructure-as-Code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6C8A9E-1E61-4166-8AE7-666A9F8941CD}"/>
              </a:ext>
            </a:extLst>
          </p:cNvPr>
          <p:cNvSpPr txBox="1"/>
          <p:nvPr/>
        </p:nvSpPr>
        <p:spPr>
          <a:xfrm>
            <a:off x="83058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Role: </a:t>
            </a:r>
            <a:r>
              <a:rPr lang="en-US" sz="1400" dirty="0"/>
              <a:t>Terraform security reviewer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Context: </a:t>
            </a:r>
            <a:r>
              <a:rPr lang="en-US" sz="1400" dirty="0"/>
              <a:t>.tf files attached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Task: </a:t>
            </a:r>
            <a:r>
              <a:rPr lang="en-US" sz="1400" dirty="0"/>
              <a:t>Review for security misconfigurations and cost waste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2563EB"/>
                </a:solidFill>
              </a:rPr>
              <a:t>Format &amp; Constraints: </a:t>
            </a:r>
            <a:r>
              <a:rPr lang="en-US" sz="1400" dirty="0"/>
              <a:t>Table of Issue / Severity / Fix; cite line numbers</a:t>
            </a:r>
          </a:p>
        </p:txBody>
      </p:sp>
    </p:spTree>
    <p:extLst>
      <p:ext uri="{BB962C8B-B14F-4D97-AF65-F5344CB8AC3E}">
        <p14:creationId xmlns:p14="http://schemas.microsoft.com/office/powerpoint/2010/main" val="3223321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7E6A-DADD-7FB5-7F7A-BB912C17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Industry Prompt Library: IT Infrastructure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A0EF06-6378-4CFD-A83F-D7E1C3290551}"/>
              </a:ext>
            </a:extLst>
          </p:cNvPr>
          <p:cNvSpPr/>
          <p:nvPr/>
        </p:nvSpPr>
        <p:spPr>
          <a:xfrm>
            <a:off x="381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269D7-71BD-4832-AD2D-72DA618B23E5}"/>
              </a:ext>
            </a:extLst>
          </p:cNvPr>
          <p:cNvSpPr/>
          <p:nvPr/>
        </p:nvSpPr>
        <p:spPr>
          <a:xfrm>
            <a:off x="381000" y="1905000"/>
            <a:ext cx="3683000" cy="533400"/>
          </a:xfrm>
          <a:prstGeom prst="rect">
            <a:avLst/>
          </a:prstGeom>
          <a:solidFill>
            <a:srgbClr val="0E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1B2430"/>
                </a:solidFill>
              </a:rPr>
              <a:t>1. Capacity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D13C4-6D70-4297-A885-56BC0052F1DA}"/>
              </a:ext>
            </a:extLst>
          </p:cNvPr>
          <p:cNvSpPr txBox="1"/>
          <p:nvPr/>
        </p:nvSpPr>
        <p:spPr>
          <a:xfrm>
            <a:off x="5588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Role: </a:t>
            </a:r>
            <a:r>
              <a:rPr lang="en-US" sz="1400" dirty="0"/>
              <a:t>Infrastructure capacity planner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Context: </a:t>
            </a:r>
            <a:r>
              <a:rPr lang="en-US" sz="1400" dirty="0"/>
              <a:t>6-month server utilization trend data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Task: </a:t>
            </a:r>
            <a:r>
              <a:rPr lang="en-US" sz="1400" dirty="0"/>
              <a:t>Forecast when we exceed 80% capacity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Format &amp; Constraints: </a:t>
            </a:r>
            <a:r>
              <a:rPr lang="en-US" sz="1400" dirty="0"/>
              <a:t>One paragraph + trend summary; assume 15% MoM growth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8715A1-2CB8-445D-916E-5FC59F13E120}"/>
              </a:ext>
            </a:extLst>
          </p:cNvPr>
          <p:cNvSpPr/>
          <p:nvPr/>
        </p:nvSpPr>
        <p:spPr>
          <a:xfrm>
            <a:off x="42545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29F655-B853-41BC-8542-F198AB58A7DF}"/>
              </a:ext>
            </a:extLst>
          </p:cNvPr>
          <p:cNvSpPr/>
          <p:nvPr/>
        </p:nvSpPr>
        <p:spPr>
          <a:xfrm>
            <a:off x="4254500" y="1905000"/>
            <a:ext cx="3683000" cy="533400"/>
          </a:xfrm>
          <a:prstGeom prst="rect">
            <a:avLst/>
          </a:prstGeom>
          <a:solidFill>
            <a:srgbClr val="0E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1B2430"/>
                </a:solidFill>
              </a:rPr>
              <a:t>2. Network Troubleshooting Guide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59508-E0BB-4C24-8C15-90013556E480}"/>
              </a:ext>
            </a:extLst>
          </p:cNvPr>
          <p:cNvSpPr txBox="1"/>
          <p:nvPr/>
        </p:nvSpPr>
        <p:spPr>
          <a:xfrm>
            <a:off x="44323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Role: </a:t>
            </a:r>
            <a:r>
              <a:rPr lang="en-US" sz="1400" dirty="0"/>
              <a:t>Senior network engineer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Context: </a:t>
            </a:r>
            <a:r>
              <a:rPr lang="en-US" sz="1400" dirty="0"/>
              <a:t>Intermittent latency between Region A and Region B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Task: </a:t>
            </a:r>
            <a:r>
              <a:rPr lang="en-US" sz="1400" dirty="0"/>
              <a:t>Produce a step-by-step diagnostic checklist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Format &amp; Constraints: </a:t>
            </a:r>
            <a:r>
              <a:rPr lang="en-US" sz="1400" dirty="0"/>
              <a:t>Ordered checklist, max 10 steps; non-disruptive checks first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D60E9A-5502-4332-9824-37DBD0351A96}"/>
              </a:ext>
            </a:extLst>
          </p:cNvPr>
          <p:cNvSpPr/>
          <p:nvPr/>
        </p:nvSpPr>
        <p:spPr>
          <a:xfrm>
            <a:off x="8128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23D1FC-17AF-4CFF-BFB0-0D387CB62E05}"/>
              </a:ext>
            </a:extLst>
          </p:cNvPr>
          <p:cNvSpPr/>
          <p:nvPr/>
        </p:nvSpPr>
        <p:spPr>
          <a:xfrm>
            <a:off x="8128000" y="1905000"/>
            <a:ext cx="3683000" cy="533400"/>
          </a:xfrm>
          <a:prstGeom prst="rect">
            <a:avLst/>
          </a:prstGeom>
          <a:solidFill>
            <a:srgbClr val="0E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1B2430"/>
                </a:solidFill>
              </a:rPr>
              <a:t>3. Disaster Recovery Runbook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8DEA0-C40F-4867-B784-7890C4E599A9}"/>
              </a:ext>
            </a:extLst>
          </p:cNvPr>
          <p:cNvSpPr txBox="1"/>
          <p:nvPr/>
        </p:nvSpPr>
        <p:spPr>
          <a:xfrm>
            <a:off x="83058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Role: </a:t>
            </a:r>
            <a:r>
              <a:rPr lang="en-US" sz="1400" dirty="0"/>
              <a:t>Business continuity architect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Context: </a:t>
            </a:r>
            <a:r>
              <a:rPr lang="en-US" sz="1400" dirty="0"/>
              <a:t>Primary data-center outage scenario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Task: </a:t>
            </a:r>
            <a:r>
              <a:rPr lang="en-US" sz="1400" dirty="0"/>
              <a:t>Draft a DR failover runbook for the payments system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EA5A5"/>
                </a:solidFill>
              </a:rPr>
              <a:t>Format &amp; Constraints: </a:t>
            </a:r>
            <a:r>
              <a:rPr lang="en-US" sz="1400" dirty="0"/>
              <a:t>Numbered runbook, owner + SLA per step; RTO under 4 hours</a:t>
            </a:r>
          </a:p>
        </p:txBody>
      </p:sp>
    </p:spTree>
    <p:extLst>
      <p:ext uri="{BB962C8B-B14F-4D97-AF65-F5344CB8AC3E}">
        <p14:creationId xmlns:p14="http://schemas.microsoft.com/office/powerpoint/2010/main" val="19395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448A-FCFF-14FD-EF92-9DA8D418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Industry Prompt Library: Backend Development (Python)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A86412-2B91-452D-9131-366E3A2247C9}"/>
              </a:ext>
            </a:extLst>
          </p:cNvPr>
          <p:cNvSpPr/>
          <p:nvPr/>
        </p:nvSpPr>
        <p:spPr>
          <a:xfrm>
            <a:off x="381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F3C6CA-AE2F-44C5-9C45-2E553902B654}"/>
              </a:ext>
            </a:extLst>
          </p:cNvPr>
          <p:cNvSpPr/>
          <p:nvPr/>
        </p:nvSpPr>
        <p:spPr>
          <a:xfrm>
            <a:off x="381000" y="1905000"/>
            <a:ext cx="3683000" cy="5334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1. Code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22ED9-F874-4E93-8542-7C258E63C61B}"/>
              </a:ext>
            </a:extLst>
          </p:cNvPr>
          <p:cNvSpPr txBox="1"/>
          <p:nvPr/>
        </p:nvSpPr>
        <p:spPr>
          <a:xfrm>
            <a:off x="5588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Role: </a:t>
            </a:r>
            <a:r>
              <a:rPr lang="en-US" sz="1400" dirty="0"/>
              <a:t>Staff Python engineer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Context: </a:t>
            </a:r>
            <a:r>
              <a:rPr lang="en-US" sz="1400" dirty="0"/>
              <a:t>Function or module pasted below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Task: </a:t>
            </a:r>
            <a:r>
              <a:rPr lang="en-US" sz="1400" dirty="0"/>
              <a:t>Review for bugs, performance, and PEP8 compliance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Format &amp; Constraints: </a:t>
            </a:r>
            <a:r>
              <a:rPr lang="en-US" sz="1400" dirty="0"/>
              <a:t>Bullets grouped by severity; include fix code snippets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033E85-F8F2-4929-8874-71303DBCE8C6}"/>
              </a:ext>
            </a:extLst>
          </p:cNvPr>
          <p:cNvSpPr/>
          <p:nvPr/>
        </p:nvSpPr>
        <p:spPr>
          <a:xfrm>
            <a:off x="42545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1DE92-20C8-4686-8843-E27A659EE6B0}"/>
              </a:ext>
            </a:extLst>
          </p:cNvPr>
          <p:cNvSpPr/>
          <p:nvPr/>
        </p:nvSpPr>
        <p:spPr>
          <a:xfrm>
            <a:off x="4254500" y="1905000"/>
            <a:ext cx="3683000" cy="5334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2. REST API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10ECD-5676-44AC-AF6E-DB7703F44943}"/>
              </a:ext>
            </a:extLst>
          </p:cNvPr>
          <p:cNvSpPr txBox="1"/>
          <p:nvPr/>
        </p:nvSpPr>
        <p:spPr>
          <a:xfrm>
            <a:off x="44323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Role: </a:t>
            </a:r>
            <a:r>
              <a:rPr lang="en-US" sz="1400" dirty="0"/>
              <a:t>Backend architect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Context: </a:t>
            </a:r>
            <a:r>
              <a:rPr lang="en-US" sz="1400" dirty="0"/>
              <a:t>Order-management REST API for a Django app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Task: </a:t>
            </a:r>
            <a:r>
              <a:rPr lang="en-US" sz="1400" dirty="0"/>
              <a:t>Design the endpoint schema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Format &amp; Constraints: </a:t>
            </a:r>
            <a:r>
              <a:rPr lang="en-US" sz="1400" dirty="0"/>
              <a:t>Table of Method / Endpoint / Request / Response; RESTful, paginated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687E42-8ED4-4A04-8179-CA36D35FA8E8}"/>
              </a:ext>
            </a:extLst>
          </p:cNvPr>
          <p:cNvSpPr/>
          <p:nvPr/>
        </p:nvSpPr>
        <p:spPr>
          <a:xfrm>
            <a:off x="8128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8905B7-8670-447E-A0E0-A21A538D2675}"/>
              </a:ext>
            </a:extLst>
          </p:cNvPr>
          <p:cNvSpPr/>
          <p:nvPr/>
        </p:nvSpPr>
        <p:spPr>
          <a:xfrm>
            <a:off x="8128000" y="1905000"/>
            <a:ext cx="3683000" cy="5334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3. Debugging Assistant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4B079-2032-451B-9DF2-C9A6BD20E619}"/>
              </a:ext>
            </a:extLst>
          </p:cNvPr>
          <p:cNvSpPr txBox="1"/>
          <p:nvPr/>
        </p:nvSpPr>
        <p:spPr>
          <a:xfrm>
            <a:off x="8305800" y="2590800"/>
            <a:ext cx="33274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Role: </a:t>
            </a:r>
            <a:r>
              <a:rPr lang="en-US" sz="1400" dirty="0"/>
              <a:t>Python debugging expert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Context: </a:t>
            </a:r>
            <a:r>
              <a:rPr lang="en-US" sz="1400" dirty="0"/>
              <a:t>Traceback and relevant code pasted below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Task: </a:t>
            </a:r>
            <a:r>
              <a:rPr lang="en-US" sz="1400" dirty="0"/>
              <a:t>Identify the root cause of the exception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7C3AED"/>
                </a:solidFill>
              </a:rPr>
              <a:t>Format &amp; Constraints: </a:t>
            </a:r>
            <a:r>
              <a:rPr lang="en-US" sz="1400" dirty="0"/>
              <a:t>Explanation + corrected code block; don't change unrelated logic</a:t>
            </a:r>
          </a:p>
        </p:txBody>
      </p:sp>
    </p:spTree>
    <p:extLst>
      <p:ext uri="{BB962C8B-B14F-4D97-AF65-F5344CB8AC3E}">
        <p14:creationId xmlns:p14="http://schemas.microsoft.com/office/powerpoint/2010/main" val="2190575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67B1-50EF-7168-323A-C731D989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Industry Prompt Library: Finance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015FCB-A4F6-431C-A66D-1657E7ACC7F4}"/>
              </a:ext>
            </a:extLst>
          </p:cNvPr>
          <p:cNvSpPr/>
          <p:nvPr/>
        </p:nvSpPr>
        <p:spPr>
          <a:xfrm>
            <a:off x="381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AA31DD-3D47-46B5-BD02-21441E514AC0}"/>
              </a:ext>
            </a:extLst>
          </p:cNvPr>
          <p:cNvSpPr/>
          <p:nvPr/>
        </p:nvSpPr>
        <p:spPr>
          <a:xfrm>
            <a:off x="381000" y="1905000"/>
            <a:ext cx="3683000" cy="533400"/>
          </a:xfrm>
          <a:prstGeom prst="rect">
            <a:avLst/>
          </a:prstGeom>
          <a:solidFill>
            <a:srgbClr val="0F7A5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1. Variance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7E650-C623-42C2-8AFD-934C82E0D528}"/>
              </a:ext>
            </a:extLst>
          </p:cNvPr>
          <p:cNvSpPr txBox="1"/>
          <p:nvPr/>
        </p:nvSpPr>
        <p:spPr>
          <a:xfrm>
            <a:off x="558800" y="2590800"/>
            <a:ext cx="3327400" cy="153888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Role: </a:t>
            </a:r>
            <a:r>
              <a:rPr lang="en-US" sz="1400" dirty="0"/>
              <a:t>Senior FP&amp;A analyst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Context: </a:t>
            </a:r>
            <a:r>
              <a:rPr lang="en-US" sz="1400" dirty="0"/>
              <a:t>Q3 actuals vs. budget by department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Task: </a:t>
            </a:r>
            <a:r>
              <a:rPr lang="en-US" sz="1400" dirty="0"/>
              <a:t>Explain the top 3 variance drivers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Format &amp; Constraints: </a:t>
            </a:r>
            <a:r>
              <a:rPr lang="en-US" sz="1400" dirty="0"/>
              <a:t>3-bullet summary + table; under 150 words, no speculation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5CFABB-5090-484A-B35E-EFAF12AA79E0}"/>
              </a:ext>
            </a:extLst>
          </p:cNvPr>
          <p:cNvSpPr/>
          <p:nvPr/>
        </p:nvSpPr>
        <p:spPr>
          <a:xfrm>
            <a:off x="42545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4C7F0-DEC3-48B9-8D7F-8C665B17A88B}"/>
              </a:ext>
            </a:extLst>
          </p:cNvPr>
          <p:cNvSpPr/>
          <p:nvPr/>
        </p:nvSpPr>
        <p:spPr>
          <a:xfrm>
            <a:off x="4254500" y="1905000"/>
            <a:ext cx="3683000" cy="533400"/>
          </a:xfrm>
          <a:prstGeom prst="rect">
            <a:avLst/>
          </a:prstGeom>
          <a:solidFill>
            <a:srgbClr val="0F7A5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2. Financial Model Sanity Check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20443-7960-4761-A3E3-7D7E0A617508}"/>
              </a:ext>
            </a:extLst>
          </p:cNvPr>
          <p:cNvSpPr txBox="1"/>
          <p:nvPr/>
        </p:nvSpPr>
        <p:spPr>
          <a:xfrm>
            <a:off x="4432300" y="2590800"/>
            <a:ext cx="3327400" cy="19697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Role: </a:t>
            </a:r>
            <a:r>
              <a:rPr lang="en-US" sz="1400" dirty="0"/>
              <a:t>Financial modeling reviewer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Context: </a:t>
            </a:r>
            <a:r>
              <a:rPr lang="en-US" sz="1400" dirty="0"/>
              <a:t>DCF model assumptions attached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Task: </a:t>
            </a:r>
            <a:r>
              <a:rPr lang="en-US" sz="1400" dirty="0"/>
              <a:t>Flag unrealistic or inconsistent assumptions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Format &amp; Constraints: </a:t>
            </a:r>
            <a:r>
              <a:rPr lang="en-US" sz="1400" dirty="0"/>
              <a:t>Table of Assumption / Concern / Suggested Range; cite benchmarks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570067-E38F-4BD8-AA0D-52D60A48F24F}"/>
              </a:ext>
            </a:extLst>
          </p:cNvPr>
          <p:cNvSpPr/>
          <p:nvPr/>
        </p:nvSpPr>
        <p:spPr>
          <a:xfrm>
            <a:off x="8128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4A2205-F0C5-4366-88A8-D4E6B8CD8534}"/>
              </a:ext>
            </a:extLst>
          </p:cNvPr>
          <p:cNvSpPr/>
          <p:nvPr/>
        </p:nvSpPr>
        <p:spPr>
          <a:xfrm>
            <a:off x="8128000" y="1905000"/>
            <a:ext cx="3683000" cy="533400"/>
          </a:xfrm>
          <a:prstGeom prst="rect">
            <a:avLst/>
          </a:prstGeom>
          <a:solidFill>
            <a:srgbClr val="0F7A5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3. Earnings Call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FFDB2D-B125-4B15-B48E-B98C3C45D7C9}"/>
              </a:ext>
            </a:extLst>
          </p:cNvPr>
          <p:cNvSpPr txBox="1"/>
          <p:nvPr/>
        </p:nvSpPr>
        <p:spPr>
          <a:xfrm>
            <a:off x="8305800" y="2590800"/>
            <a:ext cx="3327400" cy="153888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Role: </a:t>
            </a:r>
            <a:r>
              <a:rPr lang="en-US" sz="1400" dirty="0"/>
              <a:t>Equity research associate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Context: </a:t>
            </a:r>
            <a:r>
              <a:rPr lang="en-US" sz="1400" dirty="0"/>
              <a:t>Earnings call transcript attached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Task: </a:t>
            </a:r>
            <a:r>
              <a:rPr lang="en-US" sz="1400" dirty="0"/>
              <a:t>Summarize management's key guidance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</a:rPr>
              <a:t>Format &amp; Constraints: </a:t>
            </a:r>
            <a:r>
              <a:rPr lang="en-US" sz="1400" dirty="0"/>
              <a:t>5 bullets, one per theme; under 20 words each</a:t>
            </a:r>
          </a:p>
        </p:txBody>
      </p:sp>
    </p:spTree>
    <p:extLst>
      <p:ext uri="{BB962C8B-B14F-4D97-AF65-F5344CB8AC3E}">
        <p14:creationId xmlns:p14="http://schemas.microsoft.com/office/powerpoint/2010/main" val="2621501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BF9D-B6BC-B3B6-8F25-E52207AA3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Industry Prompt Library: HR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B01EE8-475C-49C9-A8FE-F5588E475C36}"/>
              </a:ext>
            </a:extLst>
          </p:cNvPr>
          <p:cNvSpPr/>
          <p:nvPr/>
        </p:nvSpPr>
        <p:spPr>
          <a:xfrm>
            <a:off x="381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755E6-BEAF-4F2B-ABCA-A267FA6D50B8}"/>
              </a:ext>
            </a:extLst>
          </p:cNvPr>
          <p:cNvSpPr/>
          <p:nvPr/>
        </p:nvSpPr>
        <p:spPr>
          <a:xfrm>
            <a:off x="381000" y="1905000"/>
            <a:ext cx="3683000" cy="5334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-US" sz="1500" b="1" dirty="0">
                <a:solidFill>
                  <a:srgbClr val="1B2430"/>
                </a:solidFill>
              </a:rPr>
              <a:t>1. Job Description Generator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C4DA0-F193-472B-9782-A78FF238BD72}"/>
              </a:ext>
            </a:extLst>
          </p:cNvPr>
          <p:cNvSpPr txBox="1"/>
          <p:nvPr/>
        </p:nvSpPr>
        <p:spPr>
          <a:xfrm>
            <a:off x="558800" y="2590800"/>
            <a:ext cx="3327400" cy="175432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Role: </a:t>
            </a:r>
            <a:r>
              <a:rPr lang="en-US" sz="1400" dirty="0"/>
              <a:t>Talent acquisition specialist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Context: </a:t>
            </a:r>
            <a:r>
              <a:rPr lang="en-US" sz="1400" dirty="0"/>
              <a:t>Hiring mid-level Data Engineer, fintech startup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Task: </a:t>
            </a:r>
            <a:r>
              <a:rPr lang="en-US" sz="1400" dirty="0"/>
              <a:t>Draft the job description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Format &amp; Constraints: </a:t>
            </a:r>
            <a:r>
              <a:rPr lang="en-US" sz="1400" dirty="0"/>
              <a:t>Summary / Responsibilities / Requirements sections; inclusive, under 400 words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3CD83B-DB5B-43EE-891D-228CCC162560}"/>
              </a:ext>
            </a:extLst>
          </p:cNvPr>
          <p:cNvSpPr/>
          <p:nvPr/>
        </p:nvSpPr>
        <p:spPr>
          <a:xfrm>
            <a:off x="42545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A8FFAF-F0F4-4E3C-84B8-A873EE62073D}"/>
              </a:ext>
            </a:extLst>
          </p:cNvPr>
          <p:cNvSpPr/>
          <p:nvPr/>
        </p:nvSpPr>
        <p:spPr>
          <a:xfrm>
            <a:off x="4254500" y="1905000"/>
            <a:ext cx="3683000" cy="5334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-US" sz="1500" b="1" dirty="0">
                <a:solidFill>
                  <a:srgbClr val="1B2430"/>
                </a:solidFill>
              </a:rPr>
              <a:t>2. Performance Review Draft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41550-8011-48FB-AA0F-B3CFE7316B84}"/>
              </a:ext>
            </a:extLst>
          </p:cNvPr>
          <p:cNvSpPr txBox="1"/>
          <p:nvPr/>
        </p:nvSpPr>
        <p:spPr>
          <a:xfrm>
            <a:off x="4432300" y="2590800"/>
            <a:ext cx="3327400" cy="19697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Role: </a:t>
            </a:r>
            <a:r>
              <a:rPr lang="en-US" sz="1400" dirty="0"/>
              <a:t>HR business partner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Context: </a:t>
            </a:r>
            <a:r>
              <a:rPr lang="en-US" sz="1400" dirty="0"/>
              <a:t>Manager's raw notes on employee performance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Task: </a:t>
            </a:r>
            <a:r>
              <a:rPr lang="en-US" sz="1400" dirty="0"/>
              <a:t>Draft a structured performance review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Format &amp; Constraints: </a:t>
            </a:r>
            <a:r>
              <a:rPr lang="en-US" sz="1400" dirty="0"/>
              <a:t>Strengths / Growth Areas / Rating rationale; constructive tone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4918CF-8D6C-4530-87A3-06F7C180309B}"/>
              </a:ext>
            </a:extLst>
          </p:cNvPr>
          <p:cNvSpPr/>
          <p:nvPr/>
        </p:nvSpPr>
        <p:spPr>
          <a:xfrm>
            <a:off x="8128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C302F6-D456-40C1-AB6C-E1F4A9C99561}"/>
              </a:ext>
            </a:extLst>
          </p:cNvPr>
          <p:cNvSpPr/>
          <p:nvPr/>
        </p:nvSpPr>
        <p:spPr>
          <a:xfrm>
            <a:off x="8128000" y="1905000"/>
            <a:ext cx="3683000" cy="5334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-US" sz="1500" b="1" dirty="0">
                <a:solidFill>
                  <a:srgbClr val="1B2430"/>
                </a:solidFill>
              </a:rPr>
              <a:t>3. Policy Q&amp;A Assistant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B2487-394E-461B-8018-BA0E3536B17D}"/>
              </a:ext>
            </a:extLst>
          </p:cNvPr>
          <p:cNvSpPr txBox="1"/>
          <p:nvPr/>
        </p:nvSpPr>
        <p:spPr>
          <a:xfrm>
            <a:off x="8305800" y="2590800"/>
            <a:ext cx="3327400" cy="175432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Role: </a:t>
            </a:r>
            <a:r>
              <a:rPr lang="en-US" sz="1400" dirty="0"/>
              <a:t>Internal HR policy assistant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Context: </a:t>
            </a:r>
            <a:r>
              <a:rPr lang="en-US" sz="1400" dirty="0"/>
              <a:t>Company parental-leave policy document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Task: </a:t>
            </a:r>
            <a:r>
              <a:rPr lang="en-US" sz="1400" dirty="0"/>
              <a:t>Answer employee eligibility questions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45309"/>
                </a:solidFill>
              </a:rPr>
              <a:t>Format &amp; Constraints: </a:t>
            </a:r>
            <a:r>
              <a:rPr lang="en-US" sz="1400" dirty="0"/>
              <a:t>Direct answer + policy citation; say “unclear” if unsure</a:t>
            </a:r>
          </a:p>
        </p:txBody>
      </p:sp>
    </p:spTree>
    <p:extLst>
      <p:ext uri="{BB962C8B-B14F-4D97-AF65-F5344CB8AC3E}">
        <p14:creationId xmlns:p14="http://schemas.microsoft.com/office/powerpoint/2010/main" val="3754121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0811-ACC8-9CF2-69D8-1B0EF812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Industry Prompt Library: Banking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93EF2A-02DF-4D6E-A7AD-86F2395D317F}"/>
              </a:ext>
            </a:extLst>
          </p:cNvPr>
          <p:cNvSpPr/>
          <p:nvPr/>
        </p:nvSpPr>
        <p:spPr>
          <a:xfrm>
            <a:off x="381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BBD86-A719-4AE3-A1B0-59BF1CF51BE1}"/>
              </a:ext>
            </a:extLst>
          </p:cNvPr>
          <p:cNvSpPr/>
          <p:nvPr/>
        </p:nvSpPr>
        <p:spPr>
          <a:xfrm>
            <a:off x="381000" y="1905000"/>
            <a:ext cx="3683000" cy="533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1. Loan Risk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86D96-944A-405A-A376-9AAF7CE5D5F6}"/>
              </a:ext>
            </a:extLst>
          </p:cNvPr>
          <p:cNvSpPr txBox="1"/>
          <p:nvPr/>
        </p:nvSpPr>
        <p:spPr>
          <a:xfrm>
            <a:off x="558800" y="2590800"/>
            <a:ext cx="33274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B91C1C"/>
                </a:solidFill>
              </a:rPr>
              <a:t>Role: </a:t>
            </a:r>
            <a:r>
              <a:rPr lang="en-US" sz="1400" dirty="0"/>
              <a:t>Credit risk analyst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Context: </a:t>
            </a:r>
            <a:r>
              <a:rPr lang="en-US" sz="1400" dirty="0"/>
              <a:t>Applicant financials &amp; credit history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Task: </a:t>
            </a:r>
            <a:r>
              <a:rPr lang="en-US" sz="1400" dirty="0"/>
              <a:t>Summarize key risk factors for this loan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Format &amp; Constraints: </a:t>
            </a:r>
            <a:r>
              <a:rPr lang="en-US" sz="1400" dirty="0"/>
              <a:t>Risk narrative + red-flag bullets; fair-lending compliant, no protected-class inferences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3D7BB7-812F-4AE4-8F73-698794D56380}"/>
              </a:ext>
            </a:extLst>
          </p:cNvPr>
          <p:cNvSpPr/>
          <p:nvPr/>
        </p:nvSpPr>
        <p:spPr>
          <a:xfrm>
            <a:off x="42545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5982F6-4579-4EAE-98F9-6937F287D731}"/>
              </a:ext>
            </a:extLst>
          </p:cNvPr>
          <p:cNvSpPr/>
          <p:nvPr/>
        </p:nvSpPr>
        <p:spPr>
          <a:xfrm>
            <a:off x="4254500" y="1905000"/>
            <a:ext cx="3683000" cy="533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2. Regulatory Change Digest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A24FC-3C9A-4A7D-9106-7E45E23D6431}"/>
              </a:ext>
            </a:extLst>
          </p:cNvPr>
          <p:cNvSpPr txBox="1"/>
          <p:nvPr/>
        </p:nvSpPr>
        <p:spPr>
          <a:xfrm>
            <a:off x="4432300" y="2590800"/>
            <a:ext cx="33274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B91C1C"/>
                </a:solidFill>
              </a:rPr>
              <a:t>Role: </a:t>
            </a:r>
            <a:r>
              <a:rPr lang="en-US" sz="1400" dirty="0"/>
              <a:t>Compliance officer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Context: </a:t>
            </a:r>
            <a:r>
              <a:rPr lang="en-US" sz="1400" dirty="0"/>
              <a:t>New regulatory bulletin attached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Task: </a:t>
            </a:r>
            <a:r>
              <a:rPr lang="en-US" sz="1400" dirty="0"/>
              <a:t>Summarize what changes &amp; who's affected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Format &amp; Constraints: </a:t>
            </a:r>
            <a:r>
              <a:rPr lang="en-US" sz="1400" dirty="0"/>
              <a:t>Impact table by department; cite the regulation section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80AB84-1C57-4103-99DB-6C26FDC9ED03}"/>
              </a:ext>
            </a:extLst>
          </p:cNvPr>
          <p:cNvSpPr/>
          <p:nvPr/>
        </p:nvSpPr>
        <p:spPr>
          <a:xfrm>
            <a:off x="8128000" y="1905000"/>
            <a:ext cx="3683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94F363-87CC-4705-B0D5-19C11A1B06AD}"/>
              </a:ext>
            </a:extLst>
          </p:cNvPr>
          <p:cNvSpPr/>
          <p:nvPr/>
        </p:nvSpPr>
        <p:spPr>
          <a:xfrm>
            <a:off x="8128000" y="1905000"/>
            <a:ext cx="3683000" cy="533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3. Customer Complaint Response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B9A8F-E4E4-4716-A90C-802E9758653A}"/>
              </a:ext>
            </a:extLst>
          </p:cNvPr>
          <p:cNvSpPr txBox="1"/>
          <p:nvPr/>
        </p:nvSpPr>
        <p:spPr>
          <a:xfrm>
            <a:off x="8305800" y="2590800"/>
            <a:ext cx="33274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B91C1C"/>
                </a:solidFill>
              </a:rPr>
              <a:t>Role: </a:t>
            </a:r>
            <a:r>
              <a:rPr lang="en-US" sz="1400" dirty="0"/>
              <a:t>Resolutions specialist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Context: </a:t>
            </a:r>
            <a:r>
              <a:rPr lang="en-US" sz="1400" dirty="0"/>
              <a:t>Complaint about a disputed transaction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Task: </a:t>
            </a:r>
            <a:r>
              <a:rPr lang="en-US" sz="1400" dirty="0"/>
              <a:t>Draft a response resolving the complaint</a:t>
            </a:r>
          </a:p>
          <a:p>
            <a:pPr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B91C1C"/>
                </a:solidFill>
              </a:rPr>
              <a:t>Format &amp; Constraints: </a:t>
            </a:r>
            <a:r>
              <a:rPr lang="en-US" sz="1400" dirty="0"/>
              <a:t>Empathetic opening + resolution steps; meet the 15-business-day SLA</a:t>
            </a:r>
          </a:p>
        </p:txBody>
      </p:sp>
    </p:spTree>
    <p:extLst>
      <p:ext uri="{BB962C8B-B14F-4D97-AF65-F5344CB8AC3E}">
        <p14:creationId xmlns:p14="http://schemas.microsoft.com/office/powerpoint/2010/main" val="2190408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716D-FC76-5688-01D5-DD1A24E95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100" name="Diagram 100"/>
          <p:cNvSpPr/>
          <p:nvPr/>
        </p:nvSpPr>
        <p:spPr>
          <a:xfrm>
            <a:off x="838200" y="1854200"/>
            <a:ext cx="762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563EB"/>
                </a:solidFill>
                <a:latin typeface="+mj-lt"/>
              </a:rPr>
              <a:t>01</a:t>
            </a:r>
          </a:p>
        </p:txBody>
      </p:sp>
      <p:sp>
        <p:nvSpPr>
          <p:cNvPr id="101" name="Diagram 101"/>
          <p:cNvSpPr/>
          <p:nvPr/>
        </p:nvSpPr>
        <p:spPr>
          <a:xfrm>
            <a:off x="1676400" y="1854200"/>
            <a:ext cx="9677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1B2430"/>
                </a:solidFill>
              </a:rPr>
              <a:t>Structure every prompt with RCTFC.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dirty="0">
                <a:solidFill>
                  <a:srgbClr val="475569"/>
                </a:solidFill>
              </a:rPr>
              <a:t>Most bad output traces back to a missing role, context or format.</a:t>
            </a:r>
          </a:p>
        </p:txBody>
      </p:sp>
      <p:cxnSp>
        <p:nvCxnSpPr>
          <p:cNvPr id="102" name="Rule"/>
          <p:cNvCxnSpPr/>
          <p:nvPr/>
        </p:nvCxnSpPr>
        <p:spPr>
          <a:xfrm>
            <a:off x="838200" y="2628900"/>
            <a:ext cx="10515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3" name="Diagram 103"/>
          <p:cNvSpPr/>
          <p:nvPr/>
        </p:nvSpPr>
        <p:spPr>
          <a:xfrm>
            <a:off x="838200" y="2692400"/>
            <a:ext cx="762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563EB"/>
                </a:solidFill>
                <a:latin typeface="+mj-lt"/>
              </a:rPr>
              <a:t>02</a:t>
            </a:r>
          </a:p>
        </p:txBody>
      </p:sp>
      <p:sp>
        <p:nvSpPr>
          <p:cNvPr id="104" name="Diagram 104"/>
          <p:cNvSpPr/>
          <p:nvPr/>
        </p:nvSpPr>
        <p:spPr>
          <a:xfrm>
            <a:off x="1676400" y="2692400"/>
            <a:ext cx="9677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1B2430"/>
                </a:solidFill>
              </a:rPr>
              <a:t>Match the technique to the failure.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dirty="0">
                <a:solidFill>
                  <a:srgbClr val="475569"/>
                </a:solidFill>
              </a:rPr>
              <a:t>Examples for format, CoT for multi-step logic, chaining for multi-stage work, meta prompting for scale.</a:t>
            </a:r>
          </a:p>
        </p:txBody>
      </p:sp>
      <p:cxnSp>
        <p:nvCxnSpPr>
          <p:cNvPr id="105" name="Rule"/>
          <p:cNvCxnSpPr/>
          <p:nvPr/>
        </p:nvCxnSpPr>
        <p:spPr>
          <a:xfrm>
            <a:off x="838200" y="3467100"/>
            <a:ext cx="10515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6" name="Diagram 106"/>
          <p:cNvSpPr/>
          <p:nvPr/>
        </p:nvSpPr>
        <p:spPr>
          <a:xfrm>
            <a:off x="838200" y="3530600"/>
            <a:ext cx="762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563EB"/>
                </a:solidFill>
                <a:latin typeface="+mj-lt"/>
              </a:rPr>
              <a:t>03</a:t>
            </a:r>
          </a:p>
        </p:txBody>
      </p:sp>
      <p:sp>
        <p:nvSpPr>
          <p:cNvPr id="107" name="Diagram 107"/>
          <p:cNvSpPr/>
          <p:nvPr/>
        </p:nvSpPr>
        <p:spPr>
          <a:xfrm>
            <a:off x="1676400" y="3530600"/>
            <a:ext cx="9677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1B2430"/>
                </a:solidFill>
              </a:rPr>
              <a:t>Treat prompts as code.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dirty="0">
                <a:solidFill>
                  <a:srgbClr val="475569"/>
                </a:solidFill>
              </a:rPr>
              <a:t>Version them in git, review every change and gate releases on an eval set.</a:t>
            </a:r>
          </a:p>
        </p:txBody>
      </p:sp>
      <p:cxnSp>
        <p:nvCxnSpPr>
          <p:cNvPr id="108" name="Rule"/>
          <p:cNvCxnSpPr/>
          <p:nvPr/>
        </p:nvCxnSpPr>
        <p:spPr>
          <a:xfrm>
            <a:off x="838200" y="4305300"/>
            <a:ext cx="10515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9" name="Diagram 109"/>
          <p:cNvSpPr/>
          <p:nvPr/>
        </p:nvSpPr>
        <p:spPr>
          <a:xfrm>
            <a:off x="838200" y="4368800"/>
            <a:ext cx="762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563EB"/>
                </a:solidFill>
                <a:latin typeface="+mj-lt"/>
              </a:rPr>
              <a:t>04</a:t>
            </a:r>
          </a:p>
        </p:txBody>
      </p:sp>
      <p:sp>
        <p:nvSpPr>
          <p:cNvPr id="110" name="Diagram 110"/>
          <p:cNvSpPr/>
          <p:nvPr/>
        </p:nvSpPr>
        <p:spPr>
          <a:xfrm>
            <a:off x="1676400" y="4368800"/>
            <a:ext cx="9677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1B2430"/>
                </a:solidFill>
              </a:rPr>
              <a:t>Start from the library, not a blank page.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dirty="0">
                <a:solidFill>
                  <a:srgbClr val="475569"/>
                </a:solidFill>
              </a:rPr>
              <a:t>Adapt the 18 domain prompts to your own data and constraints.</a:t>
            </a:r>
          </a:p>
        </p:txBody>
      </p:sp>
      <p:sp>
        <p:nvSpPr>
          <p:cNvPr id="111" name="Diagram 111"/>
          <p:cNvSpPr/>
          <p:nvPr/>
        </p:nvSpPr>
        <p:spPr>
          <a:xfrm>
            <a:off x="838200" y="5308600"/>
            <a:ext cx="10515600" cy="6096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203200" tIns="76200" rIns="203200" bIns="7620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563EB"/>
                </a:solidFill>
              </a:rPr>
              <a:t>This week: </a:t>
            </a:r>
            <a:r>
              <a:rPr lang="en-US" sz="1600" dirty="0">
                <a:solidFill>
                  <a:srgbClr val="1B2430"/>
                </a:solidFill>
              </a:rPr>
              <a:t>pick one recurring task, write its RCTFC prompt and build a 20-case eval set for it.</a:t>
            </a:r>
          </a:p>
        </p:txBody>
      </p:sp>
    </p:spTree>
    <p:extLst>
      <p:ext uri="{BB962C8B-B14F-4D97-AF65-F5344CB8AC3E}">
        <p14:creationId xmlns:p14="http://schemas.microsoft.com/office/powerpoint/2010/main" val="434647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DA529-2A1F-39E0-6836-164625626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931" y="422649"/>
            <a:ext cx="9198137" cy="60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89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26086C-13F2-D042-D600-BCF0638F9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1" y="1051354"/>
            <a:ext cx="11743438" cy="47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90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87A1-A404-D7FB-9132-A7B1BBEE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2A83B2-C9AB-573A-92D0-CD01C77BC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08" y="277857"/>
            <a:ext cx="11575783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99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EC44-AB2B-EDAA-8A72-E8E27B1C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7E5E57-E08B-2625-250D-D4E4AEC3C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9" y="1020871"/>
            <a:ext cx="12010161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06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193F-5794-1D4D-BA97-A06DB5B1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D67D09-4BD4-C651-D195-231517190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50" y="1104698"/>
            <a:ext cx="11766300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50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E824-EB7B-A371-A094-5D2F356C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14A5D1-97DF-920E-1F31-440F2401A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6" y="685562"/>
            <a:ext cx="11850127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45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DB09-C849-1AF6-F692-E4EFDBE8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31DB7-B3A5-AAB6-8D4B-0C6B3FACF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09" y="335012"/>
            <a:ext cx="11796782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03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5330-DDB6-F0DE-DF2A-ECD9FD67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68D45-17FF-EF4D-55BE-60BBFE490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43" y="978957"/>
            <a:ext cx="11918713" cy="49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25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F890-88C3-B468-11C3-5192CAF1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2B5545-0A6F-28AC-C0A6-3E72151E1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23" y="335012"/>
            <a:ext cx="11933954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25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A1309-1D9C-F74C-6F69-73D27411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F522F3-FBE4-B6F8-D3DE-63D0546C3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57" y="773200"/>
            <a:ext cx="11834886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91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7CA29-57F6-90B3-3D46-5CFD7641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22E39D-D821-8606-67F0-4EF7BFB6D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05" y="468373"/>
            <a:ext cx="11872989" cy="592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93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789F-318F-B09A-12F1-FBB2E718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41E0A-8B51-456D-6D70-D4BC41110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05" y="232133"/>
            <a:ext cx="11872989" cy="63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73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E0DB-ACC9-080E-E713-770D1D9A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F0FC38-B90D-E523-42E0-0D3D24351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80" y="1352370"/>
            <a:ext cx="11080440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2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64F1C-A18B-B0A3-0E02-A92FEAB8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CF1B9-81A1-E28F-F002-7BA53A411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40" y="563631"/>
            <a:ext cx="11773920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75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E236-3B88-1DC1-D4B8-C0495CBC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A6B76-BD24-B7FA-7915-70A331172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304086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1379731205]">
  <a:themeElements>
    <a:clrScheme name="Office">
      <a:dk1>
        <a:srgbClr val="1B2430"/>
      </a:dk1>
      <a:lt1>
        <a:srgbClr val="F7F9FB"/>
      </a:lt1>
      <a:dk2>
        <a:srgbClr val="0F1B2E"/>
      </a:dk2>
      <a:lt2>
        <a:srgbClr val="E2E8F0"/>
      </a:lt2>
      <a:accent1>
        <a:srgbClr val="2563EB"/>
      </a:accent1>
      <a:accent2>
        <a:srgbClr val="0EA5A5"/>
      </a:accent2>
      <a:accent3>
        <a:srgbClr val="7C3AED"/>
      </a:accent3>
      <a:accent4>
        <a:srgbClr val="F59E0B"/>
      </a:accent4>
      <a:accent5>
        <a:srgbClr val="EF4444"/>
      </a:accent5>
      <a:accent6>
        <a:srgbClr val="10B981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37C009-B931-4301-A98D-F1A9E0B0EC6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c4f5d20-0e5f-4c99-bfc6-ddf996931f8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2745</Words>
  <Application>Microsoft Office PowerPoint</Application>
  <PresentationFormat>Widescreen</PresentationFormat>
  <Paragraphs>444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Consolas</vt:lpstr>
      <vt:lpstr>Montserrat</vt:lpstr>
      <vt:lpstr>Source Sans Pro</vt:lpstr>
      <vt:lpstr>Office Theme [1791379731205]</vt:lpstr>
      <vt:lpstr>Prompt Engineering Playbook</vt:lpstr>
      <vt:lpstr>Agenda</vt:lpstr>
      <vt:lpstr>Same model, same task: the prompt decides whether the output is usable</vt:lpstr>
      <vt:lpstr>Five techniques, each fixing a different failure mode</vt:lpstr>
      <vt:lpstr>Treat prompts as code: version, test and monitor every change</vt:lpstr>
      <vt:lpstr>RCTFC: five prompt fields, each removing one guess the model would otherwise make</vt:lpstr>
      <vt:lpstr>A complete RCTFC prompt for a churn spike, and the output contract it creates</vt:lpstr>
      <vt:lpstr>Few-shot prompting teaches a pattern with 2–5 examples in context, no retraining</vt:lpstr>
      <vt:lpstr>Three labeled tickets are enough for the model to infer the urgency rule</vt:lpstr>
      <vt:lpstr>Chain-of-thought trades extra tokens for accuracy: 3× on grade-school math</vt:lpstr>
      <vt:lpstr>A step-by-step trace turns a latency spike into a checkable root cause</vt:lpstr>
      <vt:lpstr>Prompt chaining splits a task into small LLM calls, with code checking every handoff</vt:lpstr>
      <vt:lpstr>Four typed steps turn raw meeting notes into a sprint plan</vt:lpstr>
      <vt:lpstr>Meta prompting puts an LLM in the loop that writes, scores and rewrites prompts</vt:lpstr>
      <vt:lpstr>One meta-prompt turns a six-word request into a complete RCTFC prompt</vt:lpstr>
      <vt:lpstr>Use the lightest technique that fixes the failure; cost rises with each step down</vt:lpstr>
      <vt:lpstr>Industry Prompt Library</vt:lpstr>
      <vt:lpstr>Industry Prompt Library: DevOps</vt:lpstr>
      <vt:lpstr>Industry Prompt Library: IT Infrastructure</vt:lpstr>
      <vt:lpstr>Industry Prompt Library: Backend Development (Python)</vt:lpstr>
      <vt:lpstr>Industry Prompt Library: Finance</vt:lpstr>
      <vt:lpstr>Industry Prompt Library: HR</vt:lpstr>
      <vt:lpstr>Industry Prompt Library: Banking</vt:lpstr>
      <vt:lpstr>Key takeaways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KHARAT</dc:creator>
  <cp:lastModifiedBy>Ramesh KHARAT</cp:lastModifiedBy>
  <cp:revision>13</cp:revision>
  <dcterms:created xsi:type="dcterms:W3CDTF">2026-08-21T11:23:17Z</dcterms:created>
  <dcterms:modified xsi:type="dcterms:W3CDTF">2026-10-12T16:32:55Z</dcterms:modified>
</cp:coreProperties>
</file>