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929" r:id="rId3"/>
    <p:sldId id="1121" r:id="rId4"/>
    <p:sldId id="1122" r:id="rId5"/>
    <p:sldId id="1124" r:id="rId6"/>
    <p:sldId id="1064" r:id="rId7"/>
    <p:sldId id="1066" r:id="rId8"/>
    <p:sldId id="1068" r:id="rId9"/>
    <p:sldId id="1067" r:id="rId10"/>
    <p:sldId id="1069" r:id="rId11"/>
    <p:sldId id="1070" r:id="rId12"/>
    <p:sldId id="1062" r:id="rId13"/>
    <p:sldId id="1071" r:id="rId14"/>
    <p:sldId id="1063" r:id="rId15"/>
    <p:sldId id="1041" r:id="rId16"/>
    <p:sldId id="1039" r:id="rId17"/>
    <p:sldId id="1040" r:id="rId18"/>
    <p:sldId id="1035" r:id="rId19"/>
    <p:sldId id="1036" r:id="rId20"/>
    <p:sldId id="1037" r:id="rId21"/>
    <p:sldId id="1072" r:id="rId22"/>
    <p:sldId id="1073" r:id="rId23"/>
    <p:sldId id="1074" r:id="rId24"/>
    <p:sldId id="1075" r:id="rId25"/>
    <p:sldId id="1076" r:id="rId26"/>
    <p:sldId id="1077" r:id="rId27"/>
    <p:sldId id="1078" r:id="rId28"/>
    <p:sldId id="1079" r:id="rId29"/>
    <p:sldId id="1080" r:id="rId30"/>
    <p:sldId id="1081" r:id="rId31"/>
    <p:sldId id="1082" r:id="rId32"/>
    <p:sldId id="1083" r:id="rId33"/>
    <p:sldId id="1084" r:id="rId34"/>
    <p:sldId id="1085" r:id="rId35"/>
    <p:sldId id="1087" r:id="rId36"/>
    <p:sldId id="1088" r:id="rId37"/>
    <p:sldId id="1086" r:id="rId38"/>
    <p:sldId id="1089" r:id="rId39"/>
    <p:sldId id="1090" r:id="rId40"/>
    <p:sldId id="1091" r:id="rId41"/>
    <p:sldId id="1092" r:id="rId42"/>
    <p:sldId id="1033" r:id="rId43"/>
    <p:sldId id="1023" r:id="rId44"/>
    <p:sldId id="1093" r:id="rId45"/>
    <p:sldId id="1094" r:id="rId46"/>
    <p:sldId id="1025" r:id="rId47"/>
    <p:sldId id="1026" r:id="rId48"/>
    <p:sldId id="1027" r:id="rId49"/>
    <p:sldId id="1028" r:id="rId50"/>
    <p:sldId id="1029" r:id="rId51"/>
    <p:sldId id="1030" r:id="rId52"/>
    <p:sldId id="1031" r:id="rId53"/>
    <p:sldId id="1095" r:id="rId54"/>
    <p:sldId id="1096" r:id="rId55"/>
    <p:sldId id="1097" r:id="rId56"/>
    <p:sldId id="1098" r:id="rId57"/>
    <p:sldId id="1099" r:id="rId58"/>
    <p:sldId id="1100" r:id="rId59"/>
    <p:sldId id="1101" r:id="rId60"/>
    <p:sldId id="1102" r:id="rId61"/>
    <p:sldId id="941" r:id="rId62"/>
    <p:sldId id="1103" r:id="rId63"/>
    <p:sldId id="1104" r:id="rId64"/>
    <p:sldId id="1038" r:id="rId65"/>
    <p:sldId id="1105" r:id="rId66"/>
    <p:sldId id="1106" r:id="rId67"/>
    <p:sldId id="1107" r:id="rId68"/>
    <p:sldId id="942" r:id="rId69"/>
    <p:sldId id="1043" r:id="rId70"/>
    <p:sldId id="1060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4E0B-4FEB-A9AA-3957-E0984FA8E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DAA76-BE40-362C-FA91-EE60E6A5C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1AD09-9C3E-4DC8-8E12-E1DC54297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C71EA-2577-3CFB-3256-727D188E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F7F5-48FD-0CCE-13B3-526472AE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30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E342-1646-DA68-CC59-F1A267552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3990-FF97-B793-2558-9FFA47504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ADCD-AF79-DA11-3E23-2CCCA611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DEF92-4206-1735-DF26-790D7840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998CC-6B01-B9C1-921E-02532D87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50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9457-221B-6798-DF53-5AC8A9133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4CE7-32F6-871D-3A06-65C5C1D03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A26A2-24AB-E304-279A-96C0C671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EFDB2-3FAE-12F2-EDFA-804B0647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999EA-CABF-79BF-1B40-F210F1DE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71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E654-FFE2-4487-81A3-992974B1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8BD2F-97E2-559F-2E88-A647C36E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C6F06-A4BA-6A0C-9B4C-589D4CCC2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4D8C-0813-BD83-8F3F-E330FF56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3B4AA-1146-7D72-9C77-89E247CE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14ADE-75DA-6773-926F-B682B520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62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138F-614B-39C6-F22D-5527DEEB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E1565-2DE2-45DE-4B44-3A353533D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2EF19-79B2-2431-7200-5AFF50A75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8369F-C707-74EC-E661-8EE668416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236A2-E315-0456-5111-F8A2F848F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5B242-0A89-5CFF-0C8C-A87848A1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64F05-7581-7B20-8122-04514403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CB620-8363-7FC6-E5B2-081C60BE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2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763E4-F7FA-F46E-DE9B-767C5C7CA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275DDB-B14F-5488-F623-7A394C32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82F79-6515-805A-1372-340CA656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4899C-37A0-0C22-98C7-E05346F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34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754B21-965D-AD84-8230-6309E014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5F442E-B399-F89D-963A-9246A5D09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C8B89-5EE0-C03F-0485-2FFFB64E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53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AC84-D071-2A08-C7D7-BF37F1B1B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06B29-5E58-BBC0-8677-5540A183C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CC4D0-7FFF-C217-1BD5-94FCE0644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7CD93-6BA6-8A0A-9AA3-D299A258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A8601-A025-242A-89E7-F17D907C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78AE3-B3F5-95D3-BD96-C9B4887C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9922-678B-DADA-FA4F-60BEFD03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D2EC4-CA98-0C3D-9AC0-0C4C0BE32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39510-4E6D-F215-96C6-8652928BF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6D2A2-828F-2616-FA8F-5FCC7CAB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F65E5-BED4-032C-BA1F-8568AF21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458E1-B718-03A6-9F46-DAAE2772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2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CAFA-D982-594F-1EA7-025E69A6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D89B5-F109-EC90-3784-A13E7991B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40876-5E87-3D1A-21B2-902C9A15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F4FBC-0BA5-3480-C000-C2B6C14D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F77D3-C586-E4CE-6F7E-F12A5A0C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44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5FCED-0F43-8781-1EC1-DCFF8CC21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D9E20-AB2B-DE3D-8B13-21EB372F1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82AF-967B-262D-0D98-3C377EFA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3CBE-9F17-22A9-706E-D9081FFA5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9BF0-0E63-E4A9-CE84-76BE4DC9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5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A9D7F-E680-C44F-78CD-FF3F2DE9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C3B66-73F8-4E1C-0BA8-747CCC054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AE99E-B460-D308-9D6F-1E70271AC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998FC-8731-4889-855F-1CE88740C851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3F8A4-54D3-7A60-48AD-7F0292AAC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4C29C-6573-9609-F6BC-F855FDBCF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E505D-3B1D-4709-8510-BA481A27E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9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0992-0EB8-E540-F1C8-8A72C554E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/>
              <a:t> Stages </a:t>
            </a:r>
            <a:r>
              <a:rPr lang="en-IN" sz="4800" b="1" dirty="0"/>
              <a:t>of AI- </a:t>
            </a:r>
            <a:br>
              <a:rPr lang="en-IN" sz="4800" b="1" dirty="0"/>
            </a:br>
            <a:r>
              <a:rPr lang="en-IN" sz="4800" b="1" dirty="0"/>
              <a:t>Rule based to 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1D6E9-5F6D-4DE8-2297-5A3CB483C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                                                               Premalatha T</a:t>
            </a:r>
          </a:p>
        </p:txBody>
      </p:sp>
    </p:spTree>
    <p:extLst>
      <p:ext uri="{BB962C8B-B14F-4D97-AF65-F5344CB8AC3E}">
        <p14:creationId xmlns:p14="http://schemas.microsoft.com/office/powerpoint/2010/main" val="1720082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C03A-BDF6-F6B0-B50D-13FA2F03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327"/>
          </a:xfrm>
        </p:spPr>
        <p:txBody>
          <a:bodyPr/>
          <a:lstStyle/>
          <a:p>
            <a:pPr algn="ctr"/>
            <a:r>
              <a:rPr lang="en-IN" b="1" dirty="0"/>
              <a:t>WHO 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BFD3-09A2-176B-838F-D9D9C84A2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452"/>
            <a:ext cx="10515600" cy="4944511"/>
          </a:xfrm>
        </p:spPr>
        <p:txBody>
          <a:bodyPr>
            <a:normAutofit/>
          </a:bodyPr>
          <a:lstStyle/>
          <a:p>
            <a:r>
              <a:rPr lang="en-IN" dirty="0" err="1"/>
              <a:t>LinkedIn:https</a:t>
            </a:r>
            <a:r>
              <a:rPr lang="en-IN" dirty="0"/>
              <a:t>://www.linkedin.com/in/premalatha-t-b21018128/</a:t>
            </a:r>
          </a:p>
          <a:p>
            <a:r>
              <a:rPr lang="en-IN" b="0" i="0" dirty="0">
                <a:effectLst/>
                <a:latin typeface="-apple-system"/>
              </a:rPr>
              <a:t>Data Science ,AIML</a:t>
            </a:r>
          </a:p>
          <a:p>
            <a:pPr algn="l" fontAlgn="auto"/>
            <a:r>
              <a:rPr lang="en-IN" b="0" i="0" dirty="0">
                <a:effectLst/>
                <a:latin typeface="-apple-system"/>
              </a:rPr>
              <a:t>Data Analysis ,</a:t>
            </a:r>
            <a:r>
              <a:rPr lang="en-IN" b="0" i="0" dirty="0" err="1">
                <a:effectLst/>
                <a:latin typeface="-apple-system"/>
              </a:rPr>
              <a:t>SQL,Pyspark</a:t>
            </a:r>
            <a:endParaRPr lang="en-IN" b="0" i="0" dirty="0">
              <a:effectLst/>
              <a:latin typeface="-apple-system"/>
            </a:endParaRPr>
          </a:p>
          <a:p>
            <a:pPr algn="l" fontAlgn="auto"/>
            <a:r>
              <a:rPr lang="en-IN" b="0" i="0" dirty="0">
                <a:effectLst/>
                <a:latin typeface="-apple-system"/>
              </a:rPr>
              <a:t>Data Visualization ,</a:t>
            </a:r>
            <a:r>
              <a:rPr lang="en-IN" b="0" i="0" dirty="0" err="1">
                <a:effectLst/>
                <a:latin typeface="-apple-system"/>
              </a:rPr>
              <a:t>PowerBI,Tableau</a:t>
            </a:r>
            <a:endParaRPr lang="en-IN" b="0" i="0" dirty="0">
              <a:effectLst/>
              <a:latin typeface="-apple-system"/>
            </a:endParaRPr>
          </a:p>
          <a:p>
            <a:pPr algn="l" fontAlgn="auto"/>
            <a:r>
              <a:rPr lang="en-IN" b="0" i="0" dirty="0">
                <a:effectLst/>
                <a:latin typeface="-apple-system"/>
              </a:rPr>
              <a:t>Natural Language Processing (NLP) </a:t>
            </a:r>
          </a:p>
          <a:p>
            <a:pPr algn="l" fontAlgn="auto"/>
            <a:r>
              <a:rPr lang="en-IN" b="0" i="0" dirty="0">
                <a:effectLst/>
                <a:latin typeface="-apple-system"/>
              </a:rPr>
              <a:t>Computer Vision</a:t>
            </a:r>
          </a:p>
          <a:p>
            <a:pPr algn="l" fontAlgn="auto"/>
            <a:r>
              <a:rPr lang="en-IN" dirty="0">
                <a:latin typeface="-apple-system"/>
              </a:rPr>
              <a:t>Generative </a:t>
            </a:r>
            <a:r>
              <a:rPr lang="en-IN" dirty="0" err="1">
                <a:latin typeface="-apple-system"/>
              </a:rPr>
              <a:t>AI,Prompt</a:t>
            </a:r>
            <a:r>
              <a:rPr lang="en-IN" dirty="0">
                <a:latin typeface="-apple-system"/>
              </a:rPr>
              <a:t> Engineering</a:t>
            </a:r>
          </a:p>
          <a:p>
            <a:pPr algn="l" fontAlgn="auto"/>
            <a:r>
              <a:rPr lang="en-IN" b="0" i="0" dirty="0" err="1">
                <a:effectLst/>
                <a:latin typeface="-apple-system"/>
              </a:rPr>
              <a:t>BigData</a:t>
            </a:r>
            <a:r>
              <a:rPr lang="en-IN" b="0" i="0" dirty="0">
                <a:effectLst/>
                <a:latin typeface="-apple-system"/>
              </a:rPr>
              <a:t> and Data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F5BF6F-44AF-67E7-69EF-BC21F5AE9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907" y="2295938"/>
            <a:ext cx="3332332" cy="273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0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CF52-1AA4-577C-EB22-EDFC29B9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/>
              <a:t>TECHNICAL EXPERTISE</a:t>
            </a:r>
            <a:br>
              <a:rPr lang="en-IN" sz="3600" b="1" u="sng" dirty="0"/>
            </a:br>
            <a:endParaRPr lang="en-IN" sz="36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43D3-993F-F2E9-7BFC-28AF15C18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Data Science &amp; Analytics</a:t>
            </a:r>
            <a:br>
              <a:rPr lang="en-IN" sz="1800" dirty="0"/>
            </a:br>
            <a:r>
              <a:rPr lang="en-IN" sz="1800" dirty="0"/>
              <a:t>Python | SQL | R | Power BI | Tableau | Data Science | Machine Learning | Deep Learning | NLP | Computer Vision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 Engineering &amp; Big Data</a:t>
            </a:r>
            <a:br>
              <a:rPr lang="en-IN" sz="1800" dirty="0"/>
            </a:br>
            <a:r>
              <a:rPr lang="en-IN" sz="1800" dirty="0"/>
              <a:t>Apache Spark | PySpark | Big Data | Data Engineering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Generative AI &amp; LLM Engineering</a:t>
            </a:r>
            <a:br>
              <a:rPr lang="en-IN" sz="1800" dirty="0"/>
            </a:br>
            <a:r>
              <a:rPr lang="en-IN" sz="1800" dirty="0"/>
              <a:t>Generative AI | LLMs | OpenAI | OpenAI SDK | Azure OpenAI | Anthropic Claude | Claude API/SDK | Gemini | Gemini API/SDK | ChatGPT | Microsoft Copilot | Prompt Engineering | Fine-Tuning</a:t>
            </a:r>
          </a:p>
          <a:p>
            <a:pPr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7361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C4C4-25F6-A032-38E8-8B8C4121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TECHNICAL EXPERTISE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DFB3-5C43-9D7A-84A7-E0D8DEEA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156" y="1441174"/>
            <a:ext cx="10399643" cy="47357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Generative AI &amp; LLM Engineering</a:t>
            </a:r>
            <a:br>
              <a:rPr lang="en-IN" sz="1800" dirty="0"/>
            </a:br>
            <a:r>
              <a:rPr lang="en-IN" sz="1800" dirty="0"/>
              <a:t>Generative AI | LLMs | OpenAI | OpenAI SDK | Azure OpenAI | Anthropic Claude | Claude API/SDK | Gemini | Gemini API/SDK | ChatGPT | Microsoft Copilot | Prompt Engineering | Fine-Tuning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Agentic AI &amp; AI Frameworks</a:t>
            </a:r>
            <a:br>
              <a:rPr lang="en-IN" sz="1800" dirty="0"/>
            </a:br>
            <a:r>
              <a:rPr lang="en-IN" sz="1800" dirty="0"/>
              <a:t>AI Agents | Agentic AI | Google ADK | MCP | LangChain | LangGraph | </a:t>
            </a:r>
            <a:r>
              <a:rPr lang="en-IN" sz="1800" dirty="0" err="1"/>
              <a:t>CrewAI</a:t>
            </a:r>
            <a:r>
              <a:rPr lang="en-IN" sz="1800" dirty="0"/>
              <a:t> | </a:t>
            </a:r>
            <a:r>
              <a:rPr lang="en-IN" sz="1800" dirty="0" err="1"/>
              <a:t>AutoGen</a:t>
            </a:r>
            <a:r>
              <a:rPr lang="en-IN" sz="1800" dirty="0"/>
              <a:t> | n8n | </a:t>
            </a:r>
            <a:r>
              <a:rPr lang="en-IN" sz="1800" dirty="0" err="1"/>
              <a:t>LlamaIndex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RAG, AI Evaluation &amp; Security</a:t>
            </a:r>
            <a:br>
              <a:rPr lang="en-IN" sz="1800" dirty="0"/>
            </a:br>
            <a:r>
              <a:rPr lang="en-IN" sz="1800" dirty="0"/>
              <a:t>RAG | Vector Databases | Embeddings | Hugging Face | Sentence Transformers | AI Evaluation | Responsible AI | AI Security</a:t>
            </a: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7080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959D-8C3B-5BAF-71D0-EE4FB87B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TECHNICAL EXPERTISE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797AD-2985-1543-29C3-69B68624B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IN" sz="2000" b="1" dirty="0"/>
              <a:t>Data Science &amp; Analytics</a:t>
            </a:r>
            <a:br>
              <a:rPr lang="en-IN" sz="2000" dirty="0"/>
            </a:br>
            <a:r>
              <a:rPr lang="en-IN" sz="2000" dirty="0"/>
              <a:t>Python | SQL | R | Power BI | Tableau | Data Science | Machine Learning | Deep Learning | NLP | Computer Vision</a:t>
            </a:r>
          </a:p>
          <a:p>
            <a:pPr>
              <a:lnSpc>
                <a:spcPct val="170000"/>
              </a:lnSpc>
            </a:pPr>
            <a:r>
              <a:rPr lang="en-IN" sz="2000" b="1" dirty="0"/>
              <a:t>Data Engineering &amp; Big Data</a:t>
            </a:r>
            <a:br>
              <a:rPr lang="en-IN" sz="2000" dirty="0"/>
            </a:br>
            <a:r>
              <a:rPr lang="en-IN" sz="2000" dirty="0"/>
              <a:t>Apache Spark | PySpark | Big Data | Data Engineering</a:t>
            </a:r>
          </a:p>
          <a:p>
            <a:pPr>
              <a:lnSpc>
                <a:spcPct val="170000"/>
              </a:lnSpc>
            </a:pPr>
            <a:r>
              <a:rPr lang="en-IN" sz="2000" b="1" dirty="0"/>
              <a:t>AI Application Development &amp; Deployment</a:t>
            </a:r>
            <a:br>
              <a:rPr lang="en-IN" sz="2000" dirty="0"/>
            </a:br>
            <a:r>
              <a:rPr lang="en-IN" sz="2000" dirty="0" err="1"/>
              <a:t>FastAPI</a:t>
            </a:r>
            <a:r>
              <a:rPr lang="en-IN" sz="2000" dirty="0"/>
              <a:t> | </a:t>
            </a:r>
            <a:r>
              <a:rPr lang="en-IN" sz="2000" dirty="0" err="1"/>
              <a:t>Streamlit</a:t>
            </a:r>
            <a:r>
              <a:rPr lang="en-IN" sz="2000" dirty="0"/>
              <a:t> | AI Application Development | AI Deployment | MLOps | AIOps</a:t>
            </a:r>
          </a:p>
          <a:p>
            <a:pPr>
              <a:lnSpc>
                <a:spcPct val="170000"/>
              </a:lnSpc>
            </a:pPr>
            <a:r>
              <a:rPr lang="en-IN" sz="2000" b="1" dirty="0"/>
              <a:t>Cloud &amp; DevOps</a:t>
            </a:r>
            <a:br>
              <a:rPr lang="en-IN" sz="2000" dirty="0"/>
            </a:br>
            <a:r>
              <a:rPr lang="en-IN" sz="2000" dirty="0"/>
              <a:t>Azure | AWS | GCP | OCI | Git | GitHub Copilot | CI/CD | Docker | Kubernetes</a:t>
            </a:r>
          </a:p>
          <a:p>
            <a:pPr>
              <a:lnSpc>
                <a:spcPct val="17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5463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DB9E-36EB-51DD-8610-2E354ADF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BC68-10E6-36B1-0442-F0327B7AC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96" y="2226365"/>
            <a:ext cx="10311916" cy="421419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Artificial Intelligence (AI) refers to the ability of machines or computer systems to perform tasks that normally require human intelligence.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17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8D9D-2540-8904-A61F-F024A8CF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AI Around Us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017798-7D56-7650-4287-8D4B93DE3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4302"/>
            <a:ext cx="1060173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Google Search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Maps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Netflix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Amazon Product Suggestions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Face Unlock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Voice Assistants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Spam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Grammar Correction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Banking Fraud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Healthcare Diagnosis Support </a:t>
            </a:r>
          </a:p>
        </p:txBody>
      </p:sp>
    </p:spTree>
    <p:extLst>
      <p:ext uri="{BB962C8B-B14F-4D97-AF65-F5344CB8AC3E}">
        <p14:creationId xmlns:p14="http://schemas.microsoft.com/office/powerpoint/2010/main" val="133886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4D7B-16F0-9D01-9D56-D54B1DBB8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2295939"/>
            <a:ext cx="10687877" cy="2425148"/>
          </a:xfrm>
        </p:spPr>
        <p:txBody>
          <a:bodyPr/>
          <a:lstStyle/>
          <a:p>
            <a:r>
              <a:rPr lang="en-US" dirty="0"/>
              <a:t>How many AI applications have you already used before reaching office today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778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E3B3-EBF1-BE50-C8AB-19ED3BB3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AI is Like a Student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559C4-EC2F-9953-19DD-BFE245F5B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2703443"/>
            <a:ext cx="10638184" cy="2435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Human Student</a:t>
            </a:r>
          </a:p>
          <a:p>
            <a:r>
              <a:rPr lang="en-US" dirty="0"/>
              <a:t>Learns from books </a:t>
            </a:r>
          </a:p>
          <a:p>
            <a:r>
              <a:rPr lang="en-US" dirty="0"/>
              <a:t>Makes mistakes </a:t>
            </a:r>
          </a:p>
          <a:p>
            <a:r>
              <a:rPr lang="en-US" dirty="0"/>
              <a:t>Improves through practice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20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741-D9DF-1F69-DEC6-4620259B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 is Like a Student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006E6-E901-3BD1-6F84-93E395B64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 Model</a:t>
            </a:r>
          </a:p>
          <a:p>
            <a:r>
              <a:rPr lang="en-US" dirty="0"/>
              <a:t>Learns from data </a:t>
            </a:r>
          </a:p>
          <a:p>
            <a:r>
              <a:rPr lang="en-US" dirty="0"/>
              <a:t>Makes predictions </a:t>
            </a:r>
          </a:p>
          <a:p>
            <a:r>
              <a:rPr lang="en-US" dirty="0"/>
              <a:t>Improves with better training </a:t>
            </a:r>
          </a:p>
          <a:p>
            <a:r>
              <a:rPr lang="en-US" dirty="0"/>
              <a:t>Important Message</a:t>
            </a:r>
          </a:p>
          <a:p>
            <a:r>
              <a:rPr lang="en-US" dirty="0"/>
              <a:t>AI does not "think."</a:t>
            </a:r>
          </a:p>
          <a:p>
            <a:r>
              <a:rPr lang="en-US" dirty="0"/>
              <a:t>It predicts the most probable answer.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10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2000-BB6F-26AC-7BA0-FC61E805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C81E-767E-80FA-DF80-F0635B310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realistic image of a software engineer working in an office.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89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6708-0220-023D-87F6-A088BEC0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904" y="2723322"/>
            <a:ext cx="10182708" cy="1590260"/>
          </a:xfrm>
        </p:spPr>
        <p:txBody>
          <a:bodyPr/>
          <a:lstStyle/>
          <a:p>
            <a:r>
              <a:rPr lang="en-IN" b="1" dirty="0"/>
              <a:t>Create an image of a man </a:t>
            </a:r>
            <a:br>
              <a:rPr lang="en-IN" b="1" dirty="0"/>
            </a:br>
            <a:r>
              <a:rPr lang="en-IN" b="1" dirty="0"/>
              <a:t>writing with Left hand</a:t>
            </a:r>
          </a:p>
        </p:txBody>
      </p:sp>
    </p:spTree>
    <p:extLst>
      <p:ext uri="{BB962C8B-B14F-4D97-AF65-F5344CB8AC3E}">
        <p14:creationId xmlns:p14="http://schemas.microsoft.com/office/powerpoint/2010/main" val="366565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E5A6-26D8-BE83-0A1F-E8F5E558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10EA-4DB0-99D8-0634-0D6E9DFF4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Create an image of a doctor treating a patient.</a:t>
            </a:r>
          </a:p>
          <a:p>
            <a:r>
              <a:rPr lang="en-US" dirty="0"/>
              <a:t>Then ask participants:</a:t>
            </a:r>
          </a:p>
          <a:p>
            <a:r>
              <a:rPr lang="en-US" dirty="0"/>
              <a:t>Now modify the prompt.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Female doctor </a:t>
            </a:r>
          </a:p>
          <a:p>
            <a:r>
              <a:rPr lang="en-US" dirty="0"/>
              <a:t>Rural hospital </a:t>
            </a:r>
          </a:p>
          <a:p>
            <a:r>
              <a:rPr lang="en-US" dirty="0"/>
              <a:t>Pediatrician </a:t>
            </a:r>
          </a:p>
          <a:p>
            <a:r>
              <a:rPr lang="en-US" dirty="0"/>
              <a:t>Wearing PPE </a:t>
            </a:r>
          </a:p>
          <a:p>
            <a:r>
              <a:rPr lang="en-US" dirty="0"/>
              <a:t>Elderly patient </a:t>
            </a:r>
          </a:p>
          <a:p>
            <a:r>
              <a:rPr lang="en-US" dirty="0"/>
              <a:t>Wheelchair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266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34F9-C7A3-B55D-9E5C-298941E3F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052" y="1928190"/>
            <a:ext cx="10043560" cy="2206487"/>
          </a:xfrm>
        </p:spPr>
        <p:txBody>
          <a:bodyPr>
            <a:normAutofit/>
          </a:bodyPr>
          <a:lstStyle/>
          <a:p>
            <a:r>
              <a:rPr lang="en-IN" b="1" dirty="0"/>
              <a:t>According to our communication </a:t>
            </a:r>
            <a:r>
              <a:rPr lang="en-IN" b="1" dirty="0" err="1"/>
              <a:t>sofar</a:t>
            </a:r>
            <a:r>
              <a:rPr lang="en-IN" b="1" dirty="0"/>
              <a:t>,</a:t>
            </a:r>
            <a:br>
              <a:rPr lang="en-IN" b="1" dirty="0"/>
            </a:br>
            <a:r>
              <a:rPr lang="en-IN" b="1" dirty="0"/>
              <a:t>Which </a:t>
            </a:r>
            <a:r>
              <a:rPr lang="en-IN" b="1" dirty="0" err="1"/>
              <a:t>hindi</a:t>
            </a:r>
            <a:r>
              <a:rPr lang="en-IN" b="1" dirty="0"/>
              <a:t> movie character do you relate me with? Justify.</a:t>
            </a:r>
          </a:p>
        </p:txBody>
      </p:sp>
    </p:spTree>
    <p:extLst>
      <p:ext uri="{BB962C8B-B14F-4D97-AF65-F5344CB8AC3E}">
        <p14:creationId xmlns:p14="http://schemas.microsoft.com/office/powerpoint/2010/main" val="20305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0E4A8-8A1F-2A3F-5938-23A007C5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6322" y="939054"/>
            <a:ext cx="4784896" cy="497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98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33242-9559-7DBE-8920-36F6C2F9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43" y="647312"/>
            <a:ext cx="5649113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05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F404-5945-8BDF-789F-865355A5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0921B-EB58-D963-D4E9-5E00B6F8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35" y="365760"/>
            <a:ext cx="5966329" cy="598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14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B92121-7259-88F6-CEFC-8D2B5D6E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931" y="636091"/>
            <a:ext cx="8828018" cy="533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84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928B-05CD-A097-6831-7B9477BE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11F58-4178-52BD-2E91-C69443F43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1190312"/>
            <a:ext cx="7821116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62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091F-EE97-2173-6496-BE69AF363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00F9AB-702A-C8F3-2677-4AEC16990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47" y="753823"/>
            <a:ext cx="8199997" cy="53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50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F963-6AB7-548B-6854-610C7FEE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AI Sometimes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FD14-7C00-0A23-E383-3802B7E17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825625"/>
            <a:ext cx="10588487" cy="4843532"/>
          </a:xfrm>
        </p:spPr>
        <p:txBody>
          <a:bodyPr>
            <a:normAutofit/>
          </a:bodyPr>
          <a:lstStyle/>
          <a:p>
            <a:r>
              <a:rPr lang="en-US" dirty="0"/>
              <a:t>Bias </a:t>
            </a:r>
          </a:p>
          <a:p>
            <a:r>
              <a:rPr lang="en-US" dirty="0"/>
              <a:t>Hallucination </a:t>
            </a:r>
          </a:p>
          <a:p>
            <a:r>
              <a:rPr lang="en-US" dirty="0"/>
              <a:t>Outdated knowledge (depending on the model) </a:t>
            </a:r>
          </a:p>
          <a:p>
            <a:r>
              <a:rPr lang="en-US" dirty="0"/>
              <a:t>Lack of common sense </a:t>
            </a:r>
          </a:p>
          <a:p>
            <a:r>
              <a:rPr lang="en-US" dirty="0"/>
              <a:t>Ambiguous prompts </a:t>
            </a:r>
          </a:p>
          <a:p>
            <a:r>
              <a:rPr lang="en-US" dirty="0"/>
              <a:t>No emotions </a:t>
            </a:r>
          </a:p>
          <a:p>
            <a:r>
              <a:rPr lang="en-US" dirty="0"/>
              <a:t>Cannot verify every answer </a:t>
            </a:r>
          </a:p>
          <a:p>
            <a:r>
              <a:rPr lang="en-US" dirty="0"/>
              <a:t>Golden Rule</a:t>
            </a:r>
          </a:p>
          <a:p>
            <a:r>
              <a:rPr lang="en-US" dirty="0"/>
              <a:t>AI should assist human decision-making—not replace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074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C6338-4D2C-E009-EE2B-15709168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Why AI Sometimes Fails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E196F-2710-034A-FDDF-67603FCBA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Artificial Intelligence like I am a 10-year-old.</a:t>
            </a:r>
          </a:p>
          <a:p>
            <a:endParaRPr lang="en-US" dirty="0"/>
          </a:p>
          <a:p>
            <a:r>
              <a:rPr lang="en-US" dirty="0"/>
              <a:t>Explain Artificial Intelligence for a CEO in one paragraph.</a:t>
            </a:r>
          </a:p>
          <a:p>
            <a:endParaRPr lang="en-US" dirty="0"/>
          </a:p>
          <a:p>
            <a:r>
              <a:rPr lang="en-US" dirty="0"/>
              <a:t>Explain Artificial Intelligence for a doctor.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944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4A84-1098-0361-D6CE-5E93C35F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Narrow AI (Weak 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6E99-891C-8ECC-63F2-1D5632C6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Narrow AI is designed to perform </a:t>
            </a:r>
            <a:r>
              <a:rPr lang="en-US" b="1" dirty="0"/>
              <a:t>one specific task extremely well</a:t>
            </a:r>
            <a:r>
              <a:rPr lang="en-US" dirty="0"/>
              <a:t>.</a:t>
            </a:r>
          </a:p>
          <a:p>
            <a:r>
              <a:rPr lang="en-US" dirty="0"/>
              <a:t>Characteristics</a:t>
            </a:r>
          </a:p>
          <a:p>
            <a:r>
              <a:rPr lang="en-US" dirty="0"/>
              <a:t>Specialized </a:t>
            </a:r>
          </a:p>
          <a:p>
            <a:r>
              <a:rPr lang="en-US" dirty="0"/>
              <a:t>Task-specific </a:t>
            </a:r>
          </a:p>
          <a:p>
            <a:r>
              <a:rPr lang="en-US" dirty="0"/>
              <a:t>No understanding beyond its domain </a:t>
            </a:r>
          </a:p>
          <a:p>
            <a:r>
              <a:rPr lang="en-US" dirty="0"/>
              <a:t>Needs human instructions </a:t>
            </a:r>
          </a:p>
          <a:p>
            <a:r>
              <a:rPr lang="en-US" dirty="0"/>
              <a:t>Cannot transfer knowledge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009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619B-3CD8-0A4E-496B-FF7E8420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Narrow AI (Weak 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77E8-B4C6-8C7E-4048-02E31279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Examples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Face Unlock </a:t>
            </a:r>
          </a:p>
          <a:p>
            <a:r>
              <a:rPr lang="en-IN" dirty="0"/>
              <a:t>Spam Detection </a:t>
            </a:r>
          </a:p>
          <a:p>
            <a:r>
              <a:rPr lang="en-IN" dirty="0"/>
              <a:t>Google Translate </a:t>
            </a:r>
          </a:p>
          <a:p>
            <a:r>
              <a:rPr lang="en-IN" dirty="0"/>
              <a:t>Netflix Recommendation </a:t>
            </a:r>
          </a:p>
          <a:p>
            <a:r>
              <a:rPr lang="en-IN" dirty="0"/>
              <a:t>Medical Image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3994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1027-3B7E-0696-1E80-D3410E95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Artificial General Intelligence (AGI)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3B10-4A0B-70F8-3C88-392C40F5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 is General AI?</a:t>
            </a:r>
          </a:p>
          <a:p>
            <a:r>
              <a:rPr lang="en-US" dirty="0"/>
              <a:t>General AI (AGI) refers to an AI system capable of performing </a:t>
            </a:r>
            <a:r>
              <a:rPr lang="en-US" b="1" dirty="0"/>
              <a:t>any intellectual task that a human can perform</a:t>
            </a:r>
            <a:r>
              <a:rPr lang="en-US" dirty="0"/>
              <a:t>.</a:t>
            </a:r>
          </a:p>
          <a:p>
            <a:r>
              <a:rPr lang="en-US" dirty="0"/>
              <a:t>It would be able to</a:t>
            </a:r>
          </a:p>
          <a:p>
            <a:r>
              <a:rPr lang="en-US" dirty="0"/>
              <a:t>Learn new skills independently </a:t>
            </a:r>
          </a:p>
          <a:p>
            <a:r>
              <a:rPr lang="en-US" dirty="0"/>
              <a:t>Apply knowledge across domains </a:t>
            </a:r>
          </a:p>
          <a:p>
            <a:r>
              <a:rPr lang="en-US" dirty="0"/>
              <a:t>Reason </a:t>
            </a:r>
          </a:p>
          <a:p>
            <a:r>
              <a:rPr lang="en-US" dirty="0"/>
              <a:t>Plan </a:t>
            </a:r>
          </a:p>
          <a:p>
            <a:r>
              <a:rPr lang="en-US" dirty="0"/>
              <a:t>Solve unfamiliar problems </a:t>
            </a:r>
          </a:p>
          <a:p>
            <a:r>
              <a:rPr lang="en-US" dirty="0"/>
              <a:t>Adapt to new environments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99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543F-0A9C-293B-332B-97D11E9F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Artificial General Intelligence (AGI)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8995D-A30A-46B3-1787-4ADB9A43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ChatGPT repair your car?</a:t>
            </a:r>
          </a:p>
          <a:p>
            <a:r>
              <a:rPr lang="en-US" dirty="0"/>
              <a:t>Can it cook dinner?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is powerful but still </a:t>
            </a:r>
            <a:r>
              <a:rPr lang="en-US" b="1" dirty="0"/>
              <a:t>Narrow AI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184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F96A-8AF4-BE2A-DE79-30EFEE7E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Agentic AI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A64FC-07FB-BDF7-B611-D61BFC4F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Agentic AI goes beyond generating answers.</a:t>
            </a:r>
          </a:p>
          <a:p>
            <a:r>
              <a:rPr lang="en-US" dirty="0"/>
              <a:t>It can</a:t>
            </a:r>
          </a:p>
          <a:p>
            <a:r>
              <a:rPr lang="en-US" dirty="0"/>
              <a:t>Understand a goal </a:t>
            </a:r>
          </a:p>
          <a:p>
            <a:r>
              <a:rPr lang="en-US" dirty="0"/>
              <a:t>Create a plan </a:t>
            </a:r>
          </a:p>
          <a:p>
            <a:r>
              <a:rPr lang="en-US" dirty="0"/>
              <a:t>Use tools </a:t>
            </a:r>
          </a:p>
          <a:p>
            <a:r>
              <a:rPr lang="en-US" dirty="0"/>
              <a:t>Make decisions </a:t>
            </a:r>
          </a:p>
          <a:p>
            <a:r>
              <a:rPr lang="en-US" dirty="0"/>
              <a:t>Execute tasks </a:t>
            </a:r>
          </a:p>
          <a:p>
            <a:r>
              <a:rPr lang="en-US" dirty="0"/>
              <a:t>Monitor progress </a:t>
            </a:r>
          </a:p>
          <a:p>
            <a:r>
              <a:rPr lang="en-US" dirty="0"/>
              <a:t>Adjust when something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979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FCD7-EC79-B09B-580A-984F4B10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Activity: Travel Agent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33E5E-0D8F-3C36-4090-9D3C55B8E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Plan a 3-day vacation to Goa with a budget of ₹25,000.</a:t>
            </a:r>
          </a:p>
          <a:p>
            <a:endParaRPr lang="en-US" dirty="0"/>
          </a:p>
          <a:p>
            <a:r>
              <a:rPr lang="en-US" dirty="0"/>
              <a:t>ChatGPT only generated a plan.</a:t>
            </a:r>
          </a:p>
          <a:p>
            <a:r>
              <a:rPr lang="en-US" dirty="0"/>
              <a:t>An </a:t>
            </a:r>
            <a:r>
              <a:rPr lang="en-US" b="1" dirty="0"/>
              <a:t>Agentic AI</a:t>
            </a:r>
            <a:r>
              <a:rPr lang="en-US" dirty="0"/>
              <a:t> would also</a:t>
            </a:r>
          </a:p>
          <a:p>
            <a:r>
              <a:rPr lang="en-US" dirty="0"/>
              <a:t>Search flights </a:t>
            </a:r>
          </a:p>
          <a:p>
            <a:r>
              <a:rPr lang="en-US" dirty="0"/>
              <a:t>Compare hotels </a:t>
            </a:r>
          </a:p>
          <a:p>
            <a:r>
              <a:rPr lang="en-US" dirty="0"/>
              <a:t>Book tickets </a:t>
            </a:r>
          </a:p>
          <a:p>
            <a:r>
              <a:rPr lang="en-US" dirty="0"/>
              <a:t>Add calendar events </a:t>
            </a:r>
          </a:p>
          <a:p>
            <a:r>
              <a:rPr lang="en-US" dirty="0"/>
              <a:t>Monitor flight delays </a:t>
            </a:r>
          </a:p>
          <a:p>
            <a:r>
              <a:rPr lang="en-US" dirty="0"/>
              <a:t>Notify changes </a:t>
            </a:r>
          </a:p>
          <a:p>
            <a:r>
              <a:rPr lang="en-US" dirty="0"/>
              <a:t>This is the difference between </a:t>
            </a:r>
            <a:r>
              <a:rPr lang="en-US" b="1" dirty="0"/>
              <a:t>answer generation</a:t>
            </a:r>
            <a:r>
              <a:rPr lang="en-US" dirty="0"/>
              <a:t> and </a:t>
            </a:r>
            <a:r>
              <a:rPr lang="en-US" b="1" dirty="0"/>
              <a:t>task execution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477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5132E-AFD1-4DD6-038F-2BDB1A9B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B82C-95E7-30FA-89C1-C3B08648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Agentic AI in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88F13-F19B-5F32-D021-395A02A0D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7" y="1825625"/>
            <a:ext cx="10638183" cy="474414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Employee says             "Prepare next week's customer meeting."</a:t>
            </a:r>
          </a:p>
          <a:p>
            <a:r>
              <a:rPr lang="en-IN" dirty="0"/>
              <a:t>An AI Agent could</a:t>
            </a:r>
          </a:p>
          <a:p>
            <a:r>
              <a:rPr lang="en-IN" dirty="0"/>
              <a:t>✔ Search CRM</a:t>
            </a:r>
          </a:p>
          <a:p>
            <a:r>
              <a:rPr lang="en-IN" dirty="0"/>
              <a:t>✔ Read previous emails</a:t>
            </a:r>
          </a:p>
          <a:p>
            <a:r>
              <a:rPr lang="en-IN" dirty="0"/>
              <a:t>✔ Create PowerPoint</a:t>
            </a:r>
          </a:p>
          <a:p>
            <a:r>
              <a:rPr lang="en-IN" dirty="0"/>
              <a:t>✔ Schedule meeting</a:t>
            </a:r>
          </a:p>
          <a:p>
            <a:r>
              <a:rPr lang="en-IN" dirty="0"/>
              <a:t>✔ Invite attendees</a:t>
            </a:r>
          </a:p>
          <a:p>
            <a:r>
              <a:rPr lang="en-IN" dirty="0"/>
              <a:t>✔ Summarize customer issues</a:t>
            </a:r>
          </a:p>
          <a:p>
            <a:r>
              <a:rPr lang="en-IN" dirty="0"/>
              <a:t>✔ Generate meeting notes afterward</a:t>
            </a:r>
          </a:p>
          <a:p>
            <a:r>
              <a:rPr lang="en-IN" b="1" dirty="0"/>
              <a:t>Discussion</a:t>
            </a:r>
          </a:p>
          <a:p>
            <a:r>
              <a:rPr lang="en-IN" dirty="0"/>
              <a:t>AI is becoming a </a:t>
            </a:r>
            <a:r>
              <a:rPr lang="en-IN" b="1" dirty="0"/>
              <a:t>digital teammate</a:t>
            </a:r>
            <a:r>
              <a:rPr lang="en-IN" dirty="0"/>
              <a:t> rather than just a chatbot.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901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A675-5E68-03E2-4201-11715554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865E-02BE-A48F-E52B-F5371D38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Evolution of AI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7B4F-964C-F797-17BE-509736C6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AI Has Evolved</a:t>
            </a:r>
          </a:p>
          <a:p>
            <a:r>
              <a:rPr lang="en-US" dirty="0"/>
              <a:t>Artificial Intelligence has evolved from </a:t>
            </a:r>
            <a:r>
              <a:rPr lang="en-US" b="1" dirty="0"/>
              <a:t>rule-based systems</a:t>
            </a:r>
            <a:r>
              <a:rPr lang="en-US" dirty="0"/>
              <a:t> to </a:t>
            </a:r>
            <a:r>
              <a:rPr lang="en-US" b="1" dirty="0"/>
              <a:t>autonomous AI agents</a:t>
            </a:r>
            <a:r>
              <a:rPr lang="en-US" dirty="0"/>
              <a:t> capable of reasoning and taking actions.</a:t>
            </a:r>
          </a:p>
          <a:p>
            <a:r>
              <a:rPr lang="en-US" b="1" dirty="0"/>
              <a:t>AI Evolution Journey</a:t>
            </a:r>
          </a:p>
          <a:p>
            <a:r>
              <a:rPr lang="en-US" b="1" dirty="0"/>
              <a:t>Rule-Based Systems → Machine Learning → Deep Learning → Generative AI → Agentic AI</a:t>
            </a:r>
            <a:endParaRPr lang="en-US" dirty="0"/>
          </a:p>
          <a:p>
            <a:r>
              <a:rPr lang="en-US" b="1" dirty="0"/>
              <a:t>Key Message</a:t>
            </a:r>
          </a:p>
          <a:p>
            <a:r>
              <a:rPr lang="en-US" dirty="0"/>
              <a:t>AI has evolved from </a:t>
            </a:r>
            <a:r>
              <a:rPr lang="en-US" b="1" dirty="0"/>
              <a:t>following instructions</a:t>
            </a:r>
            <a:r>
              <a:rPr lang="en-US" dirty="0"/>
              <a:t> to </a:t>
            </a:r>
            <a:r>
              <a:rPr lang="en-US" b="1" dirty="0"/>
              <a:t>learning</a:t>
            </a:r>
            <a:r>
              <a:rPr lang="en-US" dirty="0"/>
              <a:t>, </a:t>
            </a:r>
            <a:r>
              <a:rPr lang="en-US" b="1" dirty="0"/>
              <a:t>creating</a:t>
            </a:r>
            <a:r>
              <a:rPr lang="en-US" dirty="0"/>
              <a:t>, and now </a:t>
            </a:r>
            <a:r>
              <a:rPr lang="en-US" b="1" dirty="0"/>
              <a:t>acting autonomously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443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40AF-897F-1B79-C8B9-5E81F79D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12EF-8866-3808-0F76-9C17E0D40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Stage 1: Rule-Based AI (1950s–1990s)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8A224-765A-6D97-02C6-F856A1228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 Based on Rules</a:t>
            </a:r>
          </a:p>
          <a:p>
            <a:r>
              <a:rPr lang="en-US" dirty="0"/>
              <a:t>Early AI systems relied on predefined rules written by humans.</a:t>
            </a:r>
          </a:p>
          <a:p>
            <a:r>
              <a:rPr lang="en-US" b="1" dirty="0"/>
              <a:t>How It Works</a:t>
            </a:r>
          </a:p>
          <a:p>
            <a:r>
              <a:rPr lang="en-US" b="1" dirty="0"/>
              <a:t>Input → Rules → Output</a:t>
            </a:r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If balance &lt; ₹500 → Low balance alert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442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59D7-D43C-33FA-05B7-A0A5F269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1F1F-D272-E067-751C-94062D73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Stage 1: Rule-Based AI (1950s–1990s)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25DFC-B778-4AB2-0655-5192D7210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learning </a:t>
            </a:r>
          </a:p>
          <a:p>
            <a:r>
              <a:rPr lang="en-US" dirty="0"/>
              <a:t>Deterministic </a:t>
            </a:r>
          </a:p>
          <a:p>
            <a:r>
              <a:rPr lang="en-US" dirty="0"/>
              <a:t>Easy to explain </a:t>
            </a:r>
          </a:p>
          <a:p>
            <a:r>
              <a:rPr lang="en-US" dirty="0"/>
              <a:t>Limited flexibility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Tax calculators </a:t>
            </a:r>
          </a:p>
          <a:p>
            <a:r>
              <a:rPr lang="en-US" dirty="0"/>
              <a:t>Early expert systems </a:t>
            </a:r>
          </a:p>
          <a:p>
            <a:r>
              <a:rPr lang="en-US" dirty="0"/>
              <a:t>Rule-based chatbots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86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AA4AC-2ED6-262A-E57B-E11543E6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21A9E-4260-0E8B-B6E3-D7D1BB87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2: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E365C-8144-1DEF-0293-406D9613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Rather than coding every fraud rule:</a:t>
            </a:r>
          </a:p>
          <a:p>
            <a:r>
              <a:rPr lang="en-US" dirty="0"/>
              <a:t>Train a model on millions of transactions. </a:t>
            </a:r>
          </a:p>
          <a:p>
            <a:r>
              <a:rPr lang="en-US" dirty="0"/>
              <a:t>The model identifies suspicious patterns. </a:t>
            </a:r>
          </a:p>
          <a:p>
            <a:r>
              <a:rPr lang="en-US" b="1" dirty="0"/>
              <a:t>Applications</a:t>
            </a:r>
          </a:p>
          <a:p>
            <a:r>
              <a:rPr lang="en-US" dirty="0"/>
              <a:t>Spam detection </a:t>
            </a:r>
          </a:p>
          <a:p>
            <a:r>
              <a:rPr lang="en-US" dirty="0"/>
              <a:t>Credit scoring </a:t>
            </a:r>
          </a:p>
          <a:p>
            <a:r>
              <a:rPr lang="en-US" dirty="0"/>
              <a:t>Product recommendations </a:t>
            </a:r>
          </a:p>
          <a:p>
            <a:r>
              <a:rPr lang="en-US" dirty="0"/>
              <a:t>Customer churn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567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4A42-1EF1-2B99-3071-69FC88CB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2E80-91EA-87D8-AE54-E45B3A65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3: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E70C4-3043-8249-F648-8E7E3E4AF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Learning Complex Patterns</a:t>
            </a:r>
          </a:p>
          <a:p>
            <a:r>
              <a:rPr lang="en-US" dirty="0"/>
              <a:t>Deep Learning uses artificial neural networks inspired by the human brain.</a:t>
            </a:r>
          </a:p>
          <a:p>
            <a:r>
              <a:rPr lang="en-US" b="1" dirty="0"/>
              <a:t>What Changed?</a:t>
            </a:r>
          </a:p>
          <a:p>
            <a:r>
              <a:rPr lang="en-US" dirty="0"/>
              <a:t>AI became much better at:</a:t>
            </a:r>
          </a:p>
          <a:p>
            <a:r>
              <a:rPr lang="en-US" dirty="0"/>
              <a:t>Image recognition </a:t>
            </a:r>
          </a:p>
          <a:p>
            <a:r>
              <a:rPr lang="en-US" dirty="0"/>
              <a:t>Speech recognition </a:t>
            </a:r>
          </a:p>
          <a:p>
            <a:r>
              <a:rPr lang="en-US" dirty="0"/>
              <a:t>Language understanding </a:t>
            </a:r>
          </a:p>
          <a:p>
            <a:r>
              <a:rPr lang="en-US" dirty="0"/>
              <a:t>Video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166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32DDD-9415-1192-D9D9-2F287B5D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9F71-38DB-5293-9291-344440F3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3: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48CDF-4CBB-B13E-E709-8673C54BF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Examples</a:t>
            </a:r>
          </a:p>
          <a:p>
            <a:r>
              <a:rPr lang="en-US" dirty="0"/>
              <a:t>Face recognition </a:t>
            </a:r>
          </a:p>
          <a:p>
            <a:r>
              <a:rPr lang="en-US" dirty="0"/>
              <a:t>Self-driving perception </a:t>
            </a:r>
          </a:p>
          <a:p>
            <a:r>
              <a:rPr lang="en-US" dirty="0"/>
              <a:t>Medical image analysis </a:t>
            </a:r>
          </a:p>
          <a:p>
            <a:r>
              <a:rPr lang="en-US" dirty="0"/>
              <a:t>Voice assistants </a:t>
            </a:r>
          </a:p>
          <a:p>
            <a:r>
              <a:rPr lang="en-US" b="1" dirty="0"/>
              <a:t>Activity</a:t>
            </a:r>
          </a:p>
          <a:p>
            <a:r>
              <a:rPr lang="en-US" dirty="0"/>
              <a:t>Show an image and ask participants:</a:t>
            </a:r>
          </a:p>
          <a:p>
            <a:r>
              <a:rPr lang="en-US" dirty="0"/>
              <a:t>"Can AI identify whether this is a cat or a dog?"</a:t>
            </a:r>
          </a:p>
          <a:p>
            <a:r>
              <a:rPr lang="en-US" dirty="0"/>
              <a:t>Discuss how deep learning learns visual patterns instead of handcrafted rules.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236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A4A6-8D08-FA59-0AE4-8A98DD38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31A4-ECC9-40E5-3CEE-0D53ADC4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4: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8A95-6402-13AA-B857-195975BF6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AI That Creates</a:t>
            </a:r>
          </a:p>
          <a:p>
            <a:r>
              <a:rPr lang="en-US" dirty="0"/>
              <a:t>Generative AI doesn't just analyze data—it creates new content.</a:t>
            </a:r>
          </a:p>
          <a:p>
            <a:r>
              <a:rPr lang="en-US" b="1" dirty="0"/>
              <a:t>It Can Generate</a:t>
            </a:r>
          </a:p>
          <a:p>
            <a:r>
              <a:rPr lang="en-US" dirty="0"/>
              <a:t>Text </a:t>
            </a:r>
          </a:p>
          <a:p>
            <a:r>
              <a:rPr lang="en-US" dirty="0"/>
              <a:t>Images </a:t>
            </a:r>
          </a:p>
          <a:p>
            <a:r>
              <a:rPr lang="en-US" dirty="0"/>
              <a:t>Code </a:t>
            </a:r>
          </a:p>
          <a:p>
            <a:r>
              <a:rPr lang="en-US" dirty="0"/>
              <a:t>Audio </a:t>
            </a:r>
          </a:p>
          <a:p>
            <a:r>
              <a:rPr lang="en-US" dirty="0"/>
              <a:t>Video </a:t>
            </a:r>
          </a:p>
          <a:p>
            <a:r>
              <a:rPr lang="en-US" dirty="0"/>
              <a:t>Presentations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0730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9142-FFE7-81B7-B0BD-E29F577F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A865F-DA5E-0B7B-66FE-E325DCD9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4: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11A5-62B3-97C5-4D38-20E2FE2D2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/>
              <a:t>Examples</a:t>
            </a:r>
          </a:p>
          <a:p>
            <a:pPr>
              <a:lnSpc>
                <a:spcPct val="200000"/>
              </a:lnSpc>
            </a:pPr>
            <a:r>
              <a:rPr lang="en-US" dirty="0"/>
              <a:t>ChatGPT </a:t>
            </a:r>
          </a:p>
          <a:p>
            <a:pPr>
              <a:lnSpc>
                <a:spcPct val="200000"/>
              </a:lnSpc>
            </a:pPr>
            <a:r>
              <a:rPr lang="en-US" dirty="0"/>
              <a:t>Image generation tools </a:t>
            </a:r>
          </a:p>
          <a:p>
            <a:pPr>
              <a:lnSpc>
                <a:spcPct val="200000"/>
              </a:lnSpc>
            </a:pPr>
            <a:r>
              <a:rPr lang="en-US" dirty="0"/>
              <a:t>AI coding assistants </a:t>
            </a:r>
          </a:p>
          <a:p>
            <a:pPr>
              <a:lnSpc>
                <a:spcPct val="200000"/>
              </a:lnSpc>
            </a:pPr>
            <a:r>
              <a:rPr lang="en-US" dirty="0"/>
              <a:t>AI presentation tools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0438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9BEC-BEAA-6A63-A22C-7A1ACC61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D734-168D-2FC9-7C57-48D9BEBA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4: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A5DC0-8ECE-A5DC-4CC7-BB9DA07C5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Prompt:</a:t>
            </a:r>
          </a:p>
          <a:p>
            <a:r>
              <a:rPr lang="en-US" dirty="0"/>
              <a:t>"Create a professional email requesting leave.“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Change the prompt:</a:t>
            </a:r>
          </a:p>
          <a:p>
            <a:r>
              <a:rPr lang="en-US" dirty="0"/>
              <a:t>"Make it formal."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5689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20C9-0C0C-86EB-55C5-47570653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2084-8AA7-A0C9-0991-7520E96D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5: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36EBE-6067-B23A-AFCE-3D7C285C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AI That Acts</a:t>
            </a:r>
          </a:p>
          <a:p>
            <a:r>
              <a:rPr lang="en-US" dirty="0"/>
              <a:t>Agentic AI moves beyond generating answers.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can:</a:t>
            </a:r>
          </a:p>
          <a:p>
            <a:r>
              <a:rPr lang="en-US" dirty="0"/>
              <a:t>Plan </a:t>
            </a:r>
          </a:p>
          <a:p>
            <a:r>
              <a:rPr lang="en-US" dirty="0"/>
              <a:t>Reason </a:t>
            </a:r>
          </a:p>
          <a:p>
            <a:r>
              <a:rPr lang="en-US" dirty="0"/>
              <a:t>Use tools </a:t>
            </a:r>
          </a:p>
          <a:p>
            <a:r>
              <a:rPr lang="en-US" dirty="0"/>
              <a:t>Make decisions </a:t>
            </a:r>
          </a:p>
          <a:p>
            <a:r>
              <a:rPr lang="en-US" dirty="0"/>
              <a:t>Complete multi-step tasks </a:t>
            </a:r>
          </a:p>
          <a:p>
            <a:r>
              <a:rPr lang="en-US" dirty="0"/>
              <a:t>Monitor progress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421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BF7B-7CB0-D4AD-1694-426B51CA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827E-B2C0-9238-3957-FB8C1AD0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Stage 5: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FD51-D23B-BCE5-A69F-548238EC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next week's customer meeting."</a:t>
            </a:r>
          </a:p>
          <a:p>
            <a:r>
              <a:rPr lang="en-US" dirty="0"/>
              <a:t>The AI agent can:</a:t>
            </a:r>
          </a:p>
          <a:p>
            <a:r>
              <a:rPr lang="en-US" dirty="0"/>
              <a:t>Read emails </a:t>
            </a:r>
          </a:p>
          <a:p>
            <a:r>
              <a:rPr lang="en-US" dirty="0"/>
              <a:t>Find available meeting slots </a:t>
            </a:r>
          </a:p>
          <a:p>
            <a:r>
              <a:rPr lang="en-US" dirty="0"/>
              <a:t>Create an agenda </a:t>
            </a:r>
          </a:p>
          <a:p>
            <a:r>
              <a:rPr lang="en-US" dirty="0"/>
              <a:t>Generate presentation slides </a:t>
            </a:r>
          </a:p>
          <a:p>
            <a:r>
              <a:rPr lang="en-US" dirty="0"/>
              <a:t>Send calendar invitations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211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DBCF-85B0-E13D-07C7-6A04B3D9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1284-5789-F8CF-C72D-08ABE859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Hands-On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D857-DB5B-0A66-ED4F-C17BB85E1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Challenge: Observe the Evolution in Action</a:t>
            </a:r>
          </a:p>
          <a:p>
            <a:r>
              <a:rPr lang="en-US" dirty="0"/>
              <a:t>Use the same business scenario across different AI stages:</a:t>
            </a:r>
          </a:p>
          <a:p>
            <a:r>
              <a:rPr lang="en-US" b="1" dirty="0"/>
              <a:t>Scenario:</a:t>
            </a:r>
            <a:r>
              <a:rPr lang="en-US" dirty="0"/>
              <a:t> "A customer complains about a delayed product."</a:t>
            </a:r>
          </a:p>
          <a:p>
            <a:r>
              <a:rPr lang="en-US" b="1" dirty="0"/>
              <a:t>Rule-Based AI:</a:t>
            </a:r>
            <a:r>
              <a:rPr lang="en-US" dirty="0"/>
              <a:t> Sends a predefined apology message. </a:t>
            </a:r>
          </a:p>
          <a:p>
            <a:r>
              <a:rPr lang="en-US" b="1" dirty="0"/>
              <a:t>Machine Learning:</a:t>
            </a:r>
            <a:r>
              <a:rPr lang="en-US" dirty="0"/>
              <a:t> Predicts whether the customer is likely to churn. </a:t>
            </a:r>
          </a:p>
          <a:p>
            <a:r>
              <a:rPr lang="en-US" b="1" dirty="0"/>
              <a:t>Deep Learning:</a:t>
            </a:r>
            <a:r>
              <a:rPr lang="en-US" dirty="0"/>
              <a:t> Analyzes the sentiment of the complaint. </a:t>
            </a:r>
          </a:p>
          <a:p>
            <a:r>
              <a:rPr lang="en-US" b="1" dirty="0"/>
              <a:t>Generative AI:</a:t>
            </a:r>
            <a:r>
              <a:rPr lang="en-US" dirty="0"/>
              <a:t> Drafts a personalized response email. </a:t>
            </a:r>
          </a:p>
          <a:p>
            <a:r>
              <a:rPr lang="en-US" b="1" dirty="0"/>
              <a:t>Agentic AI:</a:t>
            </a:r>
            <a:r>
              <a:rPr lang="en-US" dirty="0"/>
              <a:t> Drafts the email, checks order status, initiates a refund if eligible, updates the CRM, and schedules a follow-up task.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660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031E-59CA-8890-41DB-68BB9183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0983"/>
            <a:ext cx="10515600" cy="1410788"/>
          </a:xfrm>
        </p:spPr>
        <p:txBody>
          <a:bodyPr>
            <a:noAutofit/>
          </a:bodyPr>
          <a:lstStyle/>
          <a:p>
            <a:pPr algn="ctr"/>
            <a:br>
              <a:rPr lang="en-IN" sz="5400" b="1" dirty="0"/>
            </a:br>
            <a:r>
              <a:rPr lang="en-IN" sz="5400" b="1" dirty="0"/>
              <a:t>What is Data?</a:t>
            </a:r>
            <a:br>
              <a:rPr lang="en-IN" sz="5400" b="1" dirty="0"/>
            </a:br>
            <a:br>
              <a:rPr lang="en-IN" sz="5400" b="1" dirty="0"/>
            </a:b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1597387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2CD9-E7B9-74A8-4EB9-41A03578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96D48-BF1F-ECAE-04D8-B9DC67BB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270" y="1630017"/>
            <a:ext cx="10242342" cy="42812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Data is a collection of facts, figures, observations, or measurements that can be analyzed to gain insights.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It can be </a:t>
            </a:r>
            <a:r>
              <a:rPr lang="en-US" sz="2400" b="1" dirty="0"/>
              <a:t>structured</a:t>
            </a:r>
            <a:r>
              <a:rPr lang="en-US" sz="2400" dirty="0"/>
              <a:t> (like tables in a database) or </a:t>
            </a:r>
            <a:r>
              <a:rPr lang="en-US" sz="2400" b="1" dirty="0"/>
              <a:t>unstructured</a:t>
            </a:r>
            <a:r>
              <a:rPr lang="en-US" sz="2400" dirty="0"/>
              <a:t> (like text, images, or videos).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Data is crucial for decision-making in businesses, research, and technology.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03762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AD59A5-BF47-136D-1090-6A84AEE10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529" y="241637"/>
            <a:ext cx="6098031" cy="407194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FF0A57-1CB0-F774-FC9E-AA9352AA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365" y="4458866"/>
            <a:ext cx="6721435" cy="215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502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734A-66AF-9062-5F67-8B799B43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26" y="365126"/>
            <a:ext cx="7961244" cy="87726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C6A97E-6ADE-2792-1E91-5E6F32BDA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35" y="365126"/>
            <a:ext cx="5703875" cy="400965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BE9A3-F82E-CAF3-5DED-9119B8141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94" y="365126"/>
            <a:ext cx="5145071" cy="2855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7D31B-578C-94BF-063F-154722C54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792" y="4318950"/>
            <a:ext cx="7404651" cy="25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091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C38C-1352-1C68-E094-F37327BE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Structured or Unstructured?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5862-6D50-4ED2-218E-68D98D057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Customer purchase history in a database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Video recordings of stock market news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Excel sheet with employee salary data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WhatsApp chat messages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Weather sensor readings</a:t>
            </a: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51800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D849-65B7-B2A7-5FD9-4134A79E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ML, CV, NLP, and DL?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79C6-D8D9-180A-9E15-441D61525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Each technique—</a:t>
            </a:r>
            <a:r>
              <a:rPr lang="en-US" sz="2400" b="1" dirty="0"/>
              <a:t>Machine Learning (ML), Computer Vision (CV), Natural Language Processing (NLP), and Deep Learning (DL)</a:t>
            </a:r>
            <a:r>
              <a:rPr lang="en-US" sz="2400" dirty="0"/>
              <a:t>—is used based on the type of data and the problem being solved.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415245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F338-AD35-2C36-6E98-D344853A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Machine Learning (ML)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8F10-1EFD-DDB3-FA84-8A27804C0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977" y="1245326"/>
            <a:ext cx="10665823" cy="49316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 </a:t>
            </a:r>
            <a:r>
              <a:rPr lang="en-US" sz="2400" b="1" dirty="0"/>
              <a:t>Use ML when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have </a:t>
            </a:r>
            <a:r>
              <a:rPr lang="en-US" sz="2400" b="1" dirty="0"/>
              <a:t>structured/tabular data</a:t>
            </a:r>
            <a:r>
              <a:rPr lang="en-US" sz="2400" dirty="0"/>
              <a:t> (e.g., sales records, customer transactions).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need to make </a:t>
            </a:r>
            <a:r>
              <a:rPr lang="en-US" sz="2400" b="1" dirty="0"/>
              <a:t>predictions, classifications, or clustering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 </a:t>
            </a:r>
            <a:r>
              <a:rPr lang="en-US" sz="2400" b="1" dirty="0"/>
              <a:t>Examples: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Predicting loan approvals (Classification)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Customer churn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Fraud detection in banking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Recommender systems (Netflix, Amazon)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05490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52D7-71DC-07CE-79E2-CE6A421A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Computer Vision (CV)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DDEE0-125F-669D-A911-41E82D3A9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17" y="1480930"/>
            <a:ext cx="10103195" cy="44302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Use CV when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are working with </a:t>
            </a:r>
            <a:r>
              <a:rPr lang="en-US" sz="2400" b="1" dirty="0"/>
              <a:t>images or videos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need to analyze, classify, or generate images.</a:t>
            </a:r>
          </a:p>
          <a:p>
            <a:pPr>
              <a:buNone/>
            </a:pPr>
            <a:r>
              <a:rPr lang="en-US" sz="2400" b="1" dirty="0"/>
              <a:t>Examples: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Face recognition in security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Object detection in self-driving cars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Medical image analysis (e.g., detecting tumors in MRI scans)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Defect detection in manufacturing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0039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875B0-0741-4838-D9EA-F0AEFEE8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0707-3C64-A103-783D-FA57A912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Natural Language Processing (NLP)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9B961-C966-0CF0-1A4C-95F4DB4CC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235" y="1540565"/>
            <a:ext cx="10073377" cy="437065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/>
              <a:t>Use NLP when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are working with </a:t>
            </a:r>
            <a:r>
              <a:rPr lang="en-US" sz="2400" b="1" dirty="0"/>
              <a:t>text or speech data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You need to understand, generate, or translate language.</a:t>
            </a:r>
          </a:p>
          <a:p>
            <a:pPr>
              <a:buNone/>
            </a:pPr>
            <a:r>
              <a:rPr lang="en-US" sz="2400" b="1" dirty="0"/>
              <a:t>Examples: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Chatbots and virtual assistants (Siri, Alexa)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Sentiment analysis of customer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Machine translation (e.g., Google Translate)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Email spam detection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352843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217C-9856-DB67-0426-1732E173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D40B-2B74-4FD0-9449-C9C3328D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Deep Learning (DL)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E8521-8416-B6D9-3A02-D18551F51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2696"/>
            <a:ext cx="10590212" cy="47185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/>
              <a:t>Use DL when</a:t>
            </a:r>
            <a:r>
              <a:rPr lang="en-I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Your dataset is </a:t>
            </a:r>
            <a:r>
              <a:rPr lang="en-IN" sz="2400" b="1" dirty="0"/>
              <a:t>large and complex</a:t>
            </a:r>
            <a:r>
              <a:rPr lang="en-IN" sz="2400" dirty="0"/>
              <a:t> (images, speech, unstructured text).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Traditional ML models do not perform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You need high accuracy and have </a:t>
            </a:r>
            <a:r>
              <a:rPr lang="en-IN" sz="2400" b="1" dirty="0"/>
              <a:t>computational power (GPUs/TPUs)</a:t>
            </a:r>
            <a:r>
              <a:rPr lang="en-IN" sz="2400" dirty="0"/>
              <a:t>.</a:t>
            </a:r>
          </a:p>
          <a:p>
            <a:pPr>
              <a:buNone/>
            </a:pPr>
            <a:r>
              <a:rPr lang="en-IN" sz="2400" b="1" dirty="0"/>
              <a:t>Examples: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Autonomous driving (Self-driving cars)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Image generation (Deepfake technology)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Speech recognition (Google Assistant, Alexa)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Large Language Models (ChatGPT, </a:t>
            </a:r>
            <a:r>
              <a:rPr lang="en-IN" sz="2400" dirty="0" err="1"/>
              <a:t>Gemini,COPILOT</a:t>
            </a:r>
            <a:r>
              <a:rPr lang="en-IN" sz="2400" dirty="0"/>
              <a:t>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10357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BC1E-2630-3EEB-BFD4-A63527EC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EA0C2-77B2-FF72-C297-0A809E7E5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1699591"/>
            <a:ext cx="9884534" cy="421163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 bank wants to predict whether a customer will default on a loan based on transaction history and demographics.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 company wants to classify customer support emails as complaints, inquiries, or feedback.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 factory needs an AI system to detect defects in manufactured products by analyzing images.</a:t>
            </a: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518988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86B75-A1D8-0738-B55C-4C9C96CD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65867"/>
            <a:ext cx="8592111" cy="556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810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F00B-2E86-8D43-D338-0DF108CB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AI vs ML vs DL vs Generative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CE10C-680F-5681-94BF-01113AED5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1825624"/>
            <a:ext cx="10757452" cy="478389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AI, Machine Learning, Deep Learning, and Generative AI are </a:t>
            </a:r>
            <a:r>
              <a:rPr lang="en-US" b="1" dirty="0"/>
              <a:t>not competing technologies</a:t>
            </a:r>
            <a:r>
              <a:rPr lang="en-US" dirty="0"/>
              <a:t>—they are </a:t>
            </a:r>
            <a:r>
              <a:rPr lang="en-US" b="1" dirty="0"/>
              <a:t>nested technologies</a:t>
            </a:r>
            <a:r>
              <a:rPr lang="en-US" dirty="0"/>
              <a:t>, where each builds upon the previous one.</a:t>
            </a:r>
          </a:p>
          <a:p>
            <a:r>
              <a:rPr lang="en-US" dirty="0"/>
              <a:t>Artificial Intelligence (AI)</a:t>
            </a:r>
          </a:p>
          <a:p>
            <a:pPr marL="0" indent="0">
              <a:buNone/>
            </a:pPr>
            <a:r>
              <a:rPr lang="en-US" dirty="0"/>
              <a:t>│</a:t>
            </a:r>
          </a:p>
          <a:p>
            <a:pPr marL="0" indent="0">
              <a:buNone/>
            </a:pPr>
            <a:r>
              <a:rPr lang="en-US" dirty="0"/>
              <a:t>├── Machine Learning (ML)</a:t>
            </a:r>
          </a:p>
          <a:p>
            <a:pPr marL="0" indent="0">
              <a:buNone/>
            </a:pPr>
            <a:r>
              <a:rPr lang="en-US" dirty="0"/>
              <a:t>│     │</a:t>
            </a:r>
          </a:p>
          <a:p>
            <a:pPr marL="0" indent="0">
              <a:buNone/>
            </a:pPr>
            <a:r>
              <a:rPr lang="en-US" dirty="0"/>
              <a:t>│     └── Deep Learning (DL)</a:t>
            </a:r>
          </a:p>
          <a:p>
            <a:pPr marL="0" indent="0">
              <a:buNone/>
            </a:pPr>
            <a:r>
              <a:rPr lang="en-US" dirty="0"/>
              <a:t>│            │</a:t>
            </a:r>
          </a:p>
          <a:p>
            <a:pPr marL="0" indent="0">
              <a:buNone/>
            </a:pPr>
            <a:r>
              <a:rPr lang="en-US" dirty="0"/>
              <a:t>│            └── Generative AI (GenAI)</a:t>
            </a:r>
          </a:p>
          <a:p>
            <a:r>
              <a:rPr lang="en-US" b="1" dirty="0"/>
              <a:t>Key Message</a:t>
            </a:r>
          </a:p>
          <a:p>
            <a:r>
              <a:rPr lang="en-US" dirty="0"/>
              <a:t>Every Generative AI model uses Deep Learning, every Deep Learning model is a Machine Learning model, and every Machine Learning model is part of Artificial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9249469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63A5-C44B-493D-9AA4-15D22816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00206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Types of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C6F83-3478-46A4-A368-DCEFA668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635" y="1749287"/>
            <a:ext cx="10301977" cy="4161935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b="0" i="0" dirty="0">
                <a:effectLst/>
                <a:latin typeface="Google Sans"/>
              </a:rPr>
              <a:t>In today's data-driven world, information is king. But raw data itself isn't enough.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b="0" i="0" dirty="0">
                <a:effectLst/>
                <a:latin typeface="Google Sans"/>
              </a:rPr>
              <a:t>We need to analyze it to extract insights and make informed decisions</a:t>
            </a:r>
            <a:endParaRPr lang="en-IN" sz="2400" dirty="0"/>
          </a:p>
          <a:p>
            <a:pPr marL="0" indent="0">
              <a:lnSpc>
                <a:spcPct val="200000"/>
              </a:lnSpc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23314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E84EF3-16DB-2172-4BB4-53469314A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591" y="186488"/>
            <a:ext cx="4718809" cy="31613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0E8227-8E3A-A013-D46F-6497070CE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324" y="230231"/>
            <a:ext cx="4718808" cy="3121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73A82C-17FE-B2AB-1C35-ADDA4FACD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131" y="198190"/>
            <a:ext cx="2149129" cy="32308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DCC2D2-D532-9CAE-4248-E07E3DA912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101" y="3688751"/>
            <a:ext cx="4556293" cy="29827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98A9D6-98EA-52E6-C16A-AE6D4A3F5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608" y="3631151"/>
            <a:ext cx="4556291" cy="30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28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1B2BE6-0A45-41B7-B6C7-996E916DE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8" y="862094"/>
            <a:ext cx="10543264" cy="513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901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DD85-035E-46B5-9F76-51B3CB60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Data Science/Machine Learning</a:t>
            </a:r>
            <a:endParaRPr lang="en-IN" dirty="0">
              <a:solidFill>
                <a:srgbClr val="002060"/>
              </a:solidFill>
              <a:highlight>
                <a:srgbClr val="C0C0C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32E99EC-7ABC-4B2D-AB27-C19BE0F43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568" y="1825625"/>
            <a:ext cx="7160863" cy="4351338"/>
          </a:xfrm>
        </p:spPr>
      </p:pic>
    </p:spTree>
    <p:extLst>
      <p:ext uri="{BB962C8B-B14F-4D97-AF65-F5344CB8AC3E}">
        <p14:creationId xmlns:p14="http://schemas.microsoft.com/office/powerpoint/2010/main" val="14636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17D6-121D-4C78-9887-F7B2ACF4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42A94-0FF7-9E51-238B-80802A67D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2494" y="2454300"/>
            <a:ext cx="6127011" cy="3093988"/>
          </a:xfrm>
        </p:spPr>
      </p:pic>
    </p:spTree>
    <p:extLst>
      <p:ext uri="{BB962C8B-B14F-4D97-AF65-F5344CB8AC3E}">
        <p14:creationId xmlns:p14="http://schemas.microsoft.com/office/powerpoint/2010/main" val="30646051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2720AE-CCE7-9FDB-FCA8-7AA7FA0BA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352" y="1414468"/>
            <a:ext cx="1036464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603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A99479-2D8B-35F3-A527-F4E542496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1276049"/>
            <a:ext cx="8297433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753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127459-19BF-28B9-0DD8-9342B34E1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751" y="657875"/>
            <a:ext cx="8921660" cy="5439791"/>
          </a:xfrm>
        </p:spPr>
      </p:pic>
    </p:spTree>
    <p:extLst>
      <p:ext uri="{BB962C8B-B14F-4D97-AF65-F5344CB8AC3E}">
        <p14:creationId xmlns:p14="http://schemas.microsoft.com/office/powerpoint/2010/main" val="3696715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615F8-B78B-CAB6-F7C9-907B91E63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69" y="319598"/>
            <a:ext cx="8538096" cy="604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239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E3FCE-6FCA-48D4-797D-AE7CAB739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884" y="391577"/>
            <a:ext cx="8071104" cy="57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838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17D6-121D-4C78-9887-F7B2ACF4F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Analytic Approach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7530C5-8992-EAEF-1183-D3452BE4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070" y="1894181"/>
            <a:ext cx="9685859" cy="4214225"/>
          </a:xfrm>
        </p:spPr>
      </p:pic>
    </p:spTree>
    <p:extLst>
      <p:ext uri="{BB962C8B-B14F-4D97-AF65-F5344CB8AC3E}">
        <p14:creationId xmlns:p14="http://schemas.microsoft.com/office/powerpoint/2010/main" val="23019133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9606-9FAB-4E5A-8254-C6570E92E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Supervised Learning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FA990FA-9B9C-463D-8B47-7D4B386E6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853" y="1558911"/>
            <a:ext cx="9101859" cy="457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349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2309F-0429-1096-9CCB-6FC90EA20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724004"/>
            <a:ext cx="8371840" cy="577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112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87299-6EF0-32AC-B0D5-D20009C1E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3" y="1280812"/>
            <a:ext cx="10526594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590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077AD-A7D0-7BE5-F3FD-43F5AE3D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51" y="483205"/>
            <a:ext cx="8643987" cy="5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116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32448-26DD-C62C-29F0-96855EC24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47" y="1872176"/>
            <a:ext cx="9795771" cy="244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1951</Words>
  <Application>Microsoft Office PowerPoint</Application>
  <PresentationFormat>Widescreen</PresentationFormat>
  <Paragraphs>325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-apple-system</vt:lpstr>
      <vt:lpstr>Arial</vt:lpstr>
      <vt:lpstr>Calibri</vt:lpstr>
      <vt:lpstr>Calibri Light</vt:lpstr>
      <vt:lpstr>Google Sans</vt:lpstr>
      <vt:lpstr>Times New Roman</vt:lpstr>
      <vt:lpstr>Office Theme</vt:lpstr>
      <vt:lpstr> Stages of AI-  Rule based to Agentic AI</vt:lpstr>
      <vt:lpstr>WHO  AM I?</vt:lpstr>
      <vt:lpstr>TECHNICAL EXPERTISE </vt:lpstr>
      <vt:lpstr>TECHNICAL EXPERTISE </vt:lpstr>
      <vt:lpstr>TECHNICAL EXPERTISE </vt:lpstr>
      <vt:lpstr>What is Artificial Intelligence?</vt:lpstr>
      <vt:lpstr>AI Around Us</vt:lpstr>
      <vt:lpstr>How many AI applications have you already used before reaching office today</vt:lpstr>
      <vt:lpstr>AI is Like a Student</vt:lpstr>
      <vt:lpstr>AI is Like a Student</vt:lpstr>
      <vt:lpstr>Activity</vt:lpstr>
      <vt:lpstr>Create an image of a man  writing with Left hand</vt:lpstr>
      <vt:lpstr>Image Generation</vt:lpstr>
      <vt:lpstr>According to our communication sofar, Which hindi movie character do you relate me with? Justify.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AI Sometimes Fails</vt:lpstr>
      <vt:lpstr>Why AI Sometimes Fails</vt:lpstr>
      <vt:lpstr>Narrow AI (Weak AI)</vt:lpstr>
      <vt:lpstr>Narrow AI (Weak AI)</vt:lpstr>
      <vt:lpstr>Artificial General Intelligence (AGI)</vt:lpstr>
      <vt:lpstr>Artificial General Intelligence (AGI)</vt:lpstr>
      <vt:lpstr>Agentic AI </vt:lpstr>
      <vt:lpstr>Activity: Travel Agent Example</vt:lpstr>
      <vt:lpstr>Agentic AI in Business</vt:lpstr>
      <vt:lpstr>Evolution of AI Systems</vt:lpstr>
      <vt:lpstr>Stage 1: Rule-Based AI (1950s–1990s)</vt:lpstr>
      <vt:lpstr>Stage 1: Rule-Based AI (1950s–1990s)</vt:lpstr>
      <vt:lpstr>Stage 2: Machine Learning</vt:lpstr>
      <vt:lpstr>Stage 3: Deep Learning</vt:lpstr>
      <vt:lpstr>Stage 3: Deep Learning</vt:lpstr>
      <vt:lpstr>Stage 4: Generative AI</vt:lpstr>
      <vt:lpstr>Stage 4: Generative AI</vt:lpstr>
      <vt:lpstr>Stage 4: Generative AI</vt:lpstr>
      <vt:lpstr>Stage 5: Agentic AI</vt:lpstr>
      <vt:lpstr>Stage 5: Agentic AI</vt:lpstr>
      <vt:lpstr>Hands-On Demonstration</vt:lpstr>
      <vt:lpstr> What is Data?  </vt:lpstr>
      <vt:lpstr>What is DATA?</vt:lpstr>
      <vt:lpstr>PowerPoint Presentation</vt:lpstr>
      <vt:lpstr>PowerPoint Presentation</vt:lpstr>
      <vt:lpstr>Structured or Unstructured?</vt:lpstr>
      <vt:lpstr>When to Use ML, CV, NLP, and DL? </vt:lpstr>
      <vt:lpstr>Machine Learning (ML) </vt:lpstr>
      <vt:lpstr>Computer Vision (CV)</vt:lpstr>
      <vt:lpstr>Natural Language Processing (NLP)</vt:lpstr>
      <vt:lpstr>Deep Learning (DL) </vt:lpstr>
      <vt:lpstr>Problem Statements</vt:lpstr>
      <vt:lpstr>PowerPoint Presentation</vt:lpstr>
      <vt:lpstr>AI vs ML vs DL vs Generative AI</vt:lpstr>
      <vt:lpstr>Types of Analytics</vt:lpstr>
      <vt:lpstr>PowerPoint Presentation</vt:lpstr>
      <vt:lpstr>PowerPoint Presentation</vt:lpstr>
      <vt:lpstr>Data Science/Machine Learning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Analytic Approach</vt:lpstr>
      <vt:lpstr>Supervised Learning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Latha T K</dc:creator>
  <cp:lastModifiedBy>Latha T K</cp:lastModifiedBy>
  <cp:revision>3</cp:revision>
  <dcterms:created xsi:type="dcterms:W3CDTF">2026-10-12T04:50:04Z</dcterms:created>
  <dcterms:modified xsi:type="dcterms:W3CDTF">2026-10-12T05:25:29Z</dcterms:modified>
</cp:coreProperties>
</file>