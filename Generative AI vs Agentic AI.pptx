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929" r:id="rId3"/>
    <p:sldId id="257" r:id="rId4"/>
    <p:sldId id="1108" r:id="rId5"/>
    <p:sldId id="1063" r:id="rId6"/>
    <p:sldId id="1041" r:id="rId7"/>
    <p:sldId id="1039" r:id="rId8"/>
    <p:sldId id="1040" r:id="rId9"/>
    <p:sldId id="1035" r:id="rId10"/>
    <p:sldId id="1036" r:id="rId11"/>
    <p:sldId id="1037" r:id="rId12"/>
    <p:sldId id="1072" r:id="rId13"/>
    <p:sldId id="1095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73" r:id="rId23"/>
    <p:sldId id="283" r:id="rId24"/>
    <p:sldId id="275" r:id="rId25"/>
    <p:sldId id="276" r:id="rId26"/>
    <p:sldId id="267" r:id="rId27"/>
    <p:sldId id="278" r:id="rId28"/>
    <p:sldId id="272" r:id="rId29"/>
    <p:sldId id="274" r:id="rId30"/>
    <p:sldId id="282" r:id="rId31"/>
    <p:sldId id="284" r:id="rId32"/>
    <p:sldId id="281" r:id="rId33"/>
    <p:sldId id="1109" r:id="rId34"/>
    <p:sldId id="286" r:id="rId35"/>
    <p:sldId id="285" r:id="rId36"/>
    <p:sldId id="288" r:id="rId37"/>
    <p:sldId id="287" r:id="rId38"/>
    <p:sldId id="266" r:id="rId39"/>
    <p:sldId id="279" r:id="rId40"/>
    <p:sldId id="268" r:id="rId41"/>
    <p:sldId id="269" r:id="rId42"/>
    <p:sldId id="292" r:id="rId43"/>
    <p:sldId id="271" r:id="rId44"/>
    <p:sldId id="280" r:id="rId45"/>
    <p:sldId id="289" r:id="rId46"/>
    <p:sldId id="270" r:id="rId47"/>
    <p:sldId id="291" r:id="rId48"/>
    <p:sldId id="290" r:id="rId49"/>
    <p:sldId id="277" r:id="rId50"/>
    <p:sldId id="293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29AE02-18F6-4B38-A4E3-2FDEAEC229FB}">
          <p14:sldIdLst>
            <p14:sldId id="256"/>
            <p14:sldId id="929"/>
            <p14:sldId id="257"/>
            <p14:sldId id="1108"/>
          </p14:sldIdLst>
        </p14:section>
        <p14:section name="Untitled Section" id="{80F3E603-4E2E-4C14-82F6-89F2696FB048}">
          <p14:sldIdLst>
            <p14:sldId id="1063"/>
            <p14:sldId id="1041"/>
            <p14:sldId id="1039"/>
            <p14:sldId id="1040"/>
            <p14:sldId id="1035"/>
            <p14:sldId id="1036"/>
            <p14:sldId id="1037"/>
            <p14:sldId id="1072"/>
            <p14:sldId id="1095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73"/>
            <p14:sldId id="283"/>
            <p14:sldId id="275"/>
            <p14:sldId id="276"/>
            <p14:sldId id="267"/>
            <p14:sldId id="278"/>
            <p14:sldId id="272"/>
            <p14:sldId id="274"/>
            <p14:sldId id="282"/>
            <p14:sldId id="284"/>
            <p14:sldId id="281"/>
            <p14:sldId id="1109"/>
            <p14:sldId id="286"/>
            <p14:sldId id="285"/>
            <p14:sldId id="288"/>
            <p14:sldId id="287"/>
            <p14:sldId id="266"/>
            <p14:sldId id="279"/>
            <p14:sldId id="268"/>
            <p14:sldId id="269"/>
            <p14:sldId id="292"/>
            <p14:sldId id="271"/>
            <p14:sldId id="280"/>
            <p14:sldId id="289"/>
            <p14:sldId id="270"/>
            <p14:sldId id="291"/>
            <p14:sldId id="290"/>
            <p14:sldId id="277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Script 1 — project setup (copy from here)</a:t>
            </a:r>
          </a:p>
          <a:p>
            <a:r>
              <a:rPr lang="en-US"/>
              <a:t># 1. create and activate a virtual environment</a:t>
            </a:r>
          </a:p>
          <a:p>
            <a:r>
              <a:rPr lang="en-US"/>
              <a:t>python -m venv .venv</a:t>
            </a:r>
          </a:p>
          <a:p>
            <a:r>
              <a:rPr lang="en-US"/>
              <a:t>source .venv/bin/activate      # Windows: .venv\Scripts\activate</a:t>
            </a:r>
          </a:p>
          <a:p>
            <a:r>
              <a:rPr lang="en-US"/>
              <a:t>pip install openai mcp python-dotenv requests</a:t>
            </a:r>
          </a:p>
          <a:p>
            <a:endParaRPr lang="en-US"/>
          </a:p>
          <a:p>
            <a:r>
              <a:rPr lang="en-US"/>
              <a:t># 2. .env  (never commit this file)</a:t>
            </a:r>
          </a:p>
          <a:p>
            <a:r>
              <a:rPr lang="en-US"/>
              <a:t>AZURE_OPENAI_ENDPOINT=https://your-resource.openai.azure.com</a:t>
            </a:r>
          </a:p>
          <a:p>
            <a:r>
              <a:rPr lang="en-US"/>
              <a:t>AZURE_OPENAI_API_KEY=your-key</a:t>
            </a:r>
          </a:p>
          <a:p>
            <a:r>
              <a:rPr lang="en-US"/>
              <a:t>DEVOPS_ORG_URL=https://dev.azure.com/your-org</a:t>
            </a:r>
          </a:p>
          <a:p>
            <a:r>
              <a:rPr lang="en-US"/>
              <a:t>DEVOPS_TOKEN=your-read-only-token</a:t>
            </a:r>
          </a:p>
          <a:p>
            <a:endParaRPr lang="en-US"/>
          </a:p>
          <a:p>
            <a:r>
              <a:rPr lang="en-US"/>
              <a:t># 3. config.py</a:t>
            </a:r>
          </a:p>
          <a:p>
            <a:r>
              <a:rPr lang="en-US"/>
              <a:t>import os</a:t>
            </a:r>
          </a:p>
          <a:p>
            <a:r>
              <a:rPr lang="en-US"/>
              <a:t>from dotenv import load_dotenv</a:t>
            </a:r>
          </a:p>
          <a:p>
            <a:r>
              <a:rPr lang="en-US"/>
              <a:t>load_dotenv()</a:t>
            </a:r>
          </a:p>
          <a:p>
            <a:r>
              <a:rPr lang="en-US"/>
              <a:t>MODEL = 'gpt-4o'</a:t>
            </a:r>
          </a:p>
          <a:p>
            <a:r>
              <a:rPr lang="en-US"/>
              <a:t>MAX_STEPS = 8</a:t>
            </a:r>
          </a:p>
          <a:p>
            <a:r>
              <a:rPr lang="en-US"/>
              <a:t>DEVOPS_TOKEN = os.environ['DEVOPS_TOKEN']</a:t>
            </a:r>
          </a:p>
          <a:p>
            <a:r>
              <a:rPr lang="en-US"/>
              <a:t>DEVOPS_ORG_URL = os.environ['DEVOPS_ORG_URL']</a:t>
            </a:r>
          </a:p>
          <a:p>
            <a:endParaRPr lang="en-US"/>
          </a:p>
          <a:p>
            <a:r>
              <a:rPr lang="en-US"/>
              <a:t>Files: agent.py, tools.py, config.py, mcp_servers.json, .env, requirements.txt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Script 2 — tools.py (copy from here)</a:t>
            </a:r>
          </a:p>
          <a:p>
            <a:r>
              <a:rPr lang="en-US"/>
              <a:t>import requests</a:t>
            </a:r>
          </a:p>
          <a:p>
            <a:r>
              <a:rPr lang="en-US"/>
              <a:t>from config import DEVOPS_ORG_URL, DEVOPS_TOKEN</a:t>
            </a:r>
          </a:p>
          <a:p>
            <a:endParaRPr lang="en-US"/>
          </a:p>
          <a:p>
            <a:r>
              <a:rPr lang="en-US"/>
              <a:t>AUTH = ('', DEVOPS_TOKEN)</a:t>
            </a:r>
          </a:p>
          <a:p>
            <a:endParaRPr lang="en-US"/>
          </a:p>
          <a:p>
            <a:r>
              <a:rPr lang="en-US"/>
              <a:t>def get_build_log(run_id: str) -&gt; str:</a:t>
            </a:r>
          </a:p>
          <a:p>
            <a:r>
              <a:rPr lang="en-US"/>
              <a:t>    'Return the raw log for a failed pipeline run.'</a:t>
            </a:r>
          </a:p>
          <a:p>
            <a:r>
              <a:rPr lang="en-US"/>
              <a:t>    url = f'{DEVOPS_ORG_URL}/_apis/build/builds/{run_id}/logs?api-version=7.0'</a:t>
            </a:r>
          </a:p>
          <a:p>
            <a:r>
              <a:rPr lang="en-US"/>
              <a:t>    r = requests.get(url, auth=AUTH, timeout=30)</a:t>
            </a:r>
          </a:p>
          <a:p>
            <a:r>
              <a:rPr lang="en-US"/>
              <a:t>    r.raise_for_status()</a:t>
            </a:r>
          </a:p>
          <a:p>
            <a:r>
              <a:rPr lang="en-US"/>
              <a:t>    return r.text[:8000]</a:t>
            </a:r>
          </a:p>
          <a:p>
            <a:endParaRPr lang="en-US"/>
          </a:p>
          <a:p>
            <a:r>
              <a:rPr lang="en-US"/>
              <a:t>def find_commit(branch: str) -&gt; dict:</a:t>
            </a:r>
          </a:p>
          <a:p>
            <a:r>
              <a:rPr lang="en-US"/>
              <a:t>    'Return the last commit on a branch and its author.'</a:t>
            </a:r>
          </a:p>
          <a:p>
            <a:r>
              <a:rPr lang="en-US"/>
              <a:t>    url = f'{DEVOPS_ORG_URL}/_apis/git/repositories/payments/commits'</a:t>
            </a:r>
          </a:p>
          <a:p>
            <a:r>
              <a:rPr lang="en-US"/>
              <a:t>    r = requests.get(url, params={'searchCriteria.itemVersion.version': branch,</a:t>
            </a:r>
          </a:p>
          <a:p>
            <a:r>
              <a:rPr lang="en-US"/>
              <a:t>                                 '$top': 1}, auth=AUTH, timeout=30)</a:t>
            </a:r>
          </a:p>
          <a:p>
            <a:r>
              <a:rPr lang="en-US"/>
              <a:t>    c = r.json()['value'][0]</a:t>
            </a:r>
          </a:p>
          <a:p>
            <a:r>
              <a:rPr lang="en-US"/>
              <a:t>    return {'id': c['commitId'][:8], 'author': c['author']['name']}</a:t>
            </a:r>
          </a:p>
          <a:p>
            <a:endParaRPr lang="en-US"/>
          </a:p>
          <a:p>
            <a:r>
              <a:rPr lang="en-US"/>
              <a:t>TOOLS = [</a:t>
            </a:r>
          </a:p>
          <a:p>
            <a:r>
              <a:rPr lang="en-US"/>
              <a:t>  {'type': 'function', 'function': {</a:t>
            </a:r>
          </a:p>
          <a:p>
            <a:r>
              <a:rPr lang="en-US"/>
              <a:t>     'name': 'get_build_log',</a:t>
            </a:r>
          </a:p>
          <a:p>
            <a:r>
              <a:rPr lang="en-US"/>
              <a:t>     'description': 'Fetch the log for a failed build run',</a:t>
            </a:r>
          </a:p>
          <a:p>
            <a:r>
              <a:rPr lang="en-US"/>
              <a:t>     'parameters': {'type': 'object',</a:t>
            </a:r>
          </a:p>
          <a:p>
            <a:r>
              <a:rPr lang="en-US"/>
              <a:t>                    'properties': {'run_id': {'type': 'string'}},</a:t>
            </a:r>
          </a:p>
          <a:p>
            <a:r>
              <a:rPr lang="en-US"/>
              <a:t>                    'required': ['run_id']}}},</a:t>
            </a:r>
          </a:p>
          <a:p>
            <a:r>
              <a:rPr lang="en-US"/>
              <a:t>  {'type': 'function', 'function': {</a:t>
            </a:r>
          </a:p>
          <a:p>
            <a:r>
              <a:rPr lang="en-US"/>
              <a:t>     'name': 'find_commit',</a:t>
            </a:r>
          </a:p>
          <a:p>
            <a:r>
              <a:rPr lang="en-US"/>
              <a:t>     'description': 'Find the last commit on a branch and its author',</a:t>
            </a:r>
          </a:p>
          <a:p>
            <a:r>
              <a:rPr lang="en-US"/>
              <a:t>     'parameters': {'type': 'object',</a:t>
            </a:r>
          </a:p>
          <a:p>
            <a:r>
              <a:rPr lang="en-US"/>
              <a:t>                    'properties': {'branch': {'type': 'string'}},</a:t>
            </a:r>
          </a:p>
          <a:p>
            <a:r>
              <a:rPr lang="en-US"/>
              <a:t>                    'required': ['branch']}}}]</a:t>
            </a:r>
          </a:p>
          <a:p>
            <a:endParaRPr lang="en-US"/>
          </a:p>
          <a:p>
            <a:r>
              <a:rPr lang="en-US"/>
              <a:t>TOOL_MAP = {'get_build_log': get_build_log, 'find_commit': find_commit}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Script 3 — agent.py (copy from here)</a:t>
            </a:r>
          </a:p>
          <a:p>
            <a:r>
              <a:rPr lang="en-US"/>
              <a:t>import json, sys</a:t>
            </a:r>
          </a:p>
          <a:p>
            <a:r>
              <a:rPr lang="en-US"/>
              <a:t>from openai import AzureOpenAI</a:t>
            </a:r>
          </a:p>
          <a:p>
            <a:r>
              <a:rPr lang="en-US"/>
              <a:t>from config import MODEL, MAX_STEPS</a:t>
            </a:r>
          </a:p>
          <a:p>
            <a:r>
              <a:rPr lang="en-US"/>
              <a:t>from tools import TOOLS, TOOL_MAP</a:t>
            </a:r>
          </a:p>
          <a:p>
            <a:endParaRPr lang="en-US"/>
          </a:p>
          <a:p>
            <a:r>
              <a:rPr lang="en-US"/>
              <a:t>client = AzureOpenAI(api_version='2024-10-21')</a:t>
            </a:r>
          </a:p>
          <a:p>
            <a:endParaRPr lang="en-US"/>
          </a:p>
          <a:p>
            <a:r>
              <a:rPr lang="en-US"/>
              <a:t>INSTRUCTIONS = '''You are a build-failure assistant for the Payments</a:t>
            </a:r>
          </a:p>
          <a:p>
            <a:r>
              <a:rPr lang="en-US"/>
              <a:t>nightly pipeline. Retrieve the failed log, identify the failing stage</a:t>
            </a:r>
          </a:p>
          <a:p>
            <a:r>
              <a:rPr lang="en-US"/>
              <a:t>and first real error, find the last commit and its author, then write</a:t>
            </a:r>
          </a:p>
          <a:p>
            <a:r>
              <a:rPr lang="en-US"/>
              <a:t>a short summary. Never change pipelines, code or releases. If the</a:t>
            </a:r>
          </a:p>
          <a:p>
            <a:r>
              <a:rPr lang="en-US"/>
              <a:t>cause is unclear, say so and ask a human.'''</a:t>
            </a:r>
          </a:p>
          <a:p>
            <a:endParaRPr lang="en-US"/>
          </a:p>
          <a:p>
            <a:r>
              <a:rPr lang="en-US"/>
              <a:t>def run(goal: str) -&gt; str:</a:t>
            </a:r>
          </a:p>
          <a:p>
            <a:r>
              <a:rPr lang="en-US"/>
              <a:t>    messages = [{'role': 'system', 'content': INSTRUCTIONS},</a:t>
            </a:r>
          </a:p>
          <a:p>
            <a:r>
              <a:rPr lang="en-US"/>
              <a:t>                {'role': 'user', 'content': goal}]</a:t>
            </a:r>
          </a:p>
          <a:p>
            <a:r>
              <a:rPr lang="en-US"/>
              <a:t>    for step in range(MAX_STEPS):</a:t>
            </a:r>
          </a:p>
          <a:p>
            <a:r>
              <a:rPr lang="en-US"/>
              <a:t>        reply = client.chat.completions.create(</a:t>
            </a:r>
          </a:p>
          <a:p>
            <a:r>
              <a:rPr lang="en-US"/>
              <a:t>            model=MODEL, messages=messages, tools=TOOLS).choices[0].message</a:t>
            </a:r>
          </a:p>
          <a:p>
            <a:r>
              <a:rPr lang="en-US"/>
              <a:t>        messages.append(reply)</a:t>
            </a:r>
          </a:p>
          <a:p>
            <a:r>
              <a:rPr lang="en-US"/>
              <a:t>        if not reply.tool_calls:</a:t>
            </a:r>
          </a:p>
          <a:p>
            <a:r>
              <a:rPr lang="en-US"/>
              <a:t>            return reply.content</a:t>
            </a:r>
          </a:p>
          <a:p>
            <a:r>
              <a:rPr lang="en-US"/>
              <a:t>        for call in reply.tool_calls:</a:t>
            </a:r>
          </a:p>
          <a:p>
            <a:r>
              <a:rPr lang="en-US"/>
              <a:t>            args = json.loads(call.function.arguments)</a:t>
            </a:r>
          </a:p>
          <a:p>
            <a:r>
              <a:rPr lang="en-US"/>
              <a:t>            print('tool:', call.function.name, args)   # the trace to read aloud</a:t>
            </a:r>
          </a:p>
          <a:p>
            <a:r>
              <a:rPr lang="en-US"/>
              <a:t>            result = TOOL_MAP[call.function.name](**args)</a:t>
            </a:r>
          </a:p>
          <a:p>
            <a:r>
              <a:rPr lang="en-US"/>
              <a:t>            messages.append({'role': 'tool', 'tool_call_id': call.id,</a:t>
            </a:r>
          </a:p>
          <a:p>
            <a:r>
              <a:rPr lang="en-US"/>
              <a:t>                             'content': str(result)})</a:t>
            </a:r>
          </a:p>
          <a:p>
            <a:r>
              <a:rPr lang="en-US"/>
              <a:t>    return 'Stopped: step limit reached. Handing over to a human.'</a:t>
            </a:r>
          </a:p>
          <a:p>
            <a:endParaRPr lang="en-US"/>
          </a:p>
          <a:p>
            <a:r>
              <a:rPr lang="en-US"/>
              <a:t>if __name__ == '__main__':</a:t>
            </a:r>
          </a:p>
          <a:p>
            <a:r>
              <a:rPr lang="en-US"/>
              <a:t>    print(run(f'Diagnose failed build {sys.argv[1]} and summarise it.'))</a:t>
            </a:r>
          </a:p>
          <a:p>
            <a:endParaRPr lang="en-US"/>
          </a:p>
          <a:p>
            <a:r>
              <a:rPr lang="en-US"/>
              <a:t>Run it:  python agent.py 20487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FB96-0C0A-A2D8-10C1-72FDA921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8DF9F-E175-33A5-31C7-063AA7F2B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9E020-1EA7-6F4F-2850-E1C8F123D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83F72-C59C-C3E5-5F81-863413F8E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43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60020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2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231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20240"/>
            <a:ext cx="74980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7448-AE66-E44C-4E5B-5BF29E8C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BB5DC-5E25-3BB9-B22E-282E3037D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D8425-F16C-70A8-30DF-EE5D65BD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46D5E-6C96-45F2-BE99-F174F3FFBC2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9D0EA-B1CA-4207-F46C-18C83E33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3D045-6E30-B47F-A7F6-78402FAC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FF7DE-1CAA-43AD-845A-5733D4F75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CCA8-87FF-4203-6D05-AF95F5C7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CE82E-C353-5517-A19C-64B88D5D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46D5E-6C96-45F2-BE99-F174F3FFBC2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AE48B-8526-9431-E5A3-E9E50218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30F32-5EA7-027C-30E6-2494F60C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FF7DE-1CAA-43AD-845A-5733D4F75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70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8E9AD-BEDC-39F1-D618-4048166F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46D5E-6C96-45F2-BE99-F174F3FFBC27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52D5B-9550-9A66-D141-D78C78F9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F46F1-9008-F6A9-AC83-5354FEE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FF7DE-1CAA-43AD-845A-5733D4F75F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87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47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6002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 vs Agentic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 two with simple block diagrams</a:t>
            </a:r>
            <a:endParaRPr lang="en-US" sz="1700" dirty="0"/>
          </a:p>
        </p:txBody>
      </p:sp>
      <p:sp>
        <p:nvSpPr>
          <p:cNvPr id="4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310128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beginner-friendly session  |  Instructor: Premalatha 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C03A-BDF6-F6B0-B50D-13FA2F03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50495"/>
          </a:xfrm>
        </p:spPr>
        <p:txBody>
          <a:bodyPr/>
          <a:lstStyle/>
          <a:p>
            <a:r>
              <a:rPr lang="en-IN" dirty="0"/>
              <a:t>WHO 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BFD3-09A2-176B-838F-D9D9C84A2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24340"/>
            <a:ext cx="7886700" cy="3708383"/>
          </a:xfrm>
        </p:spPr>
        <p:txBody>
          <a:bodyPr>
            <a:normAutofit/>
          </a:bodyPr>
          <a:lstStyle/>
          <a:p>
            <a:r>
              <a:rPr lang="en-IN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LinkedIn:https</a:t>
            </a:r>
            <a:r>
              <a:rPr lang="en-IN" sz="1500" dirty="0">
                <a:latin typeface="Segoe UI" panose="020B0502040204020203" pitchFamily="34" charset="0"/>
                <a:cs typeface="Segoe UI" panose="020B0502040204020203" pitchFamily="34" charset="0"/>
              </a:rPr>
              <a:t>://www.linkedin.com/in/premalatha-t-b21018128/</a:t>
            </a:r>
          </a:p>
          <a:p>
            <a:endParaRPr lang="en-IN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Python | SQL | R | Power BI | Tableau | Apache Spark | PySpark | Big Data | Data Science | Data Engineering | Git | GitHub Copilot | Azure | AWS | GCP | OCI | CI/CD | Docker | Kubernetes | OpenAI | OpenAI SDK | Azure OpenAI | ChatGPT | Microsoft Copilot | Anthropic Claude | Claude API/SDK | Gemini | Gemini API/SDK | Google ADK | Generative AI | LLMs | AI Engineering | AI Agents | Agentic AI | MCP | LangChain | LangGraph | </a:t>
            </a:r>
            <a:r>
              <a:rPr lang="en-US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CrewAI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| </a:t>
            </a:r>
            <a:r>
              <a:rPr lang="en-US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AutoGen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| n8n | Machine Learning | Deep Learning | NLP | Computer Vision | RAG | Vector Databases | Embeddings | Fine-Tuning | Prompt Engineering | AI Evaluation | Responsible AI | AI Security | </a:t>
            </a:r>
            <a:r>
              <a:rPr lang="en-US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LlamaIndex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| Hugging Face | Sentence Transformers | </a:t>
            </a:r>
            <a:r>
              <a:rPr lang="en-US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FastAPI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| </a:t>
            </a:r>
            <a:r>
              <a:rPr lang="en-US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Streamlit</a:t>
            </a: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| MLOps | AIOps | AI Application Development | AI Deployment| Cloud</a:t>
            </a:r>
            <a:endParaRPr lang="en-IN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5BF6F-44AF-67E7-69EF-BC21F5AE9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086" y="3556437"/>
            <a:ext cx="1141228" cy="93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0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 today</a:t>
            </a:r>
            <a:endParaRPr lang="en-US" sz="2500" dirty="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874520" cy="228600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5B"/>
                </a:solidFill>
                <a:latin typeface="Segoe UI" pitchFamily="34" charset="0"/>
                <a:cs typeface="Segoe U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234440"/>
            <a:ext cx="1874520" cy="228600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23444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24912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24912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5B"/>
                </a:solidFill>
                <a:latin typeface="Segoe UI" pitchFamily="34" charset="0"/>
                <a:cs typeface="Segoe U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234440"/>
            <a:ext cx="1874520" cy="228600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23444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9744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9744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5B"/>
                </a:solidFill>
                <a:latin typeface="Segoe UI" pitchFamily="34" charset="0"/>
                <a:cs typeface="Segoe UI" pitchFamily="34" charset="-120"/>
              </a:rPr>
              <a:t>LLMs as Reasoning Engines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9744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234440"/>
            <a:ext cx="1874520" cy="228600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23444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94576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0296" y="1920239"/>
            <a:ext cx="1554480" cy="596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5B"/>
                </a:solidFill>
                <a:latin typeface="Segoe UI" pitchFamily="34" charset="0"/>
                <a:cs typeface="Segoe UI" pitchFamily="34" charset="-120"/>
              </a:rPr>
              <a:t>The Perceive-Plan-Act-React Loop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94576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by the end, you can look at any AI system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say which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kind 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is, and build a simple agent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5BFB-F1C5-ED09-2A10-191983E72117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IN" dirty="0"/>
              <a:t>Create an image of a man writing with his left hand</a:t>
            </a:r>
          </a:p>
        </p:txBody>
      </p:sp>
    </p:spTree>
    <p:extLst>
      <p:ext uri="{BB962C8B-B14F-4D97-AF65-F5344CB8AC3E}">
        <p14:creationId xmlns:p14="http://schemas.microsoft.com/office/powerpoint/2010/main" val="9084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34F9-C7A3-B55D-9E5C-298941E3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883" y="1446143"/>
            <a:ext cx="7662822" cy="251373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According to our communication </a:t>
            </a:r>
            <a:r>
              <a:rPr lang="en-IN" b="1" dirty="0" err="1"/>
              <a:t>sofar</a:t>
            </a:r>
            <a:r>
              <a:rPr lang="en-IN" b="1" dirty="0"/>
              <a:t>,</a:t>
            </a:r>
            <a:br>
              <a:rPr lang="en-IN" b="1" dirty="0"/>
            </a:br>
            <a:r>
              <a:rPr lang="en-IN" b="1" dirty="0"/>
              <a:t>Which </a:t>
            </a:r>
            <a:r>
              <a:rPr lang="en-IN" b="1" dirty="0" err="1"/>
              <a:t>hindi</a:t>
            </a:r>
            <a:r>
              <a:rPr lang="en-IN" b="1" dirty="0"/>
              <a:t> movie character do you relate me with? Justify.</a:t>
            </a:r>
          </a:p>
        </p:txBody>
      </p:sp>
    </p:spTree>
    <p:extLst>
      <p:ext uri="{BB962C8B-B14F-4D97-AF65-F5344CB8AC3E}">
        <p14:creationId xmlns:p14="http://schemas.microsoft.com/office/powerpoint/2010/main" val="203053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0E4A8-8A1F-2A3F-5938-23A007C5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42" y="704291"/>
            <a:ext cx="3588672" cy="373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9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33242-9559-7DBE-8920-36F6C2F96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583" y="485484"/>
            <a:ext cx="4236835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5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F404-5945-8BDF-789F-865355A5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0921B-EB58-D963-D4E9-5E00B6F87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27" y="274320"/>
            <a:ext cx="4474747" cy="448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1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B92121-7259-88F6-CEFC-8D2B5D6E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98" y="477069"/>
            <a:ext cx="6621014" cy="400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8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928B-05CD-A097-6831-7B9477BE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611F58-4178-52BD-2E91-C69443F43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082" y="892735"/>
            <a:ext cx="5865837" cy="33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62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091F-EE97-2173-6496-BE69AF36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00F9AB-702A-C8F3-2677-4AEC16990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436" y="565368"/>
            <a:ext cx="6149998" cy="401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5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F963-6AB7-548B-6854-610C7FEE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                                                                      </a:t>
            </a: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Why AI Sometimes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9FD14-7C00-0A23-E383-3802B7E17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85" y="1369219"/>
            <a:ext cx="7941365" cy="3632649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Bias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Hallucination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Outdated knowledge (depending on the model)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Lack of common sense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Ambiguous prompts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No emotions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Cannot verify every answer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Golden Rule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AI should assist human decision-making—not replace it.</a:t>
            </a:r>
          </a:p>
          <a:p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074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86B75-A1D8-0738-B55C-4C9C96CD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349400"/>
            <a:ext cx="6444083" cy="417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81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AI: creates content on request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model trained on large amounts of text, code, images or audio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give a prompt; it produces an output — text, image, summary, code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turn in, one turn out: it responds, then stops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 not decide what to do next, and it does not act on the world</a:t>
            </a:r>
            <a:endParaRPr lang="en-US" sz="150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143000"/>
            <a:ext cx="3200400" cy="265176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0" y="13716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it as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brilliant writer who answers exactly the question you asked — and waits for your next question.</a:t>
            </a:r>
            <a:endParaRPr lang="en-US" sz="1300" dirty="0"/>
          </a:p>
        </p:txBody>
      </p:sp>
      <p:sp>
        <p:nvSpPr>
          <p:cNvPr id="6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Everyday examples: drafting an email, summarising a report, generating an image, explaining code.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diagram: how Generative AI works</a:t>
            </a:r>
            <a:endParaRPr lang="en-US" sz="2500" dirty="0"/>
          </a:p>
        </p:txBody>
      </p:sp>
      <p:sp>
        <p:nvSpPr>
          <p:cNvPr id="3" name="block User Promp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Prompt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request</a:t>
            </a:r>
            <a:endParaRPr lang="en-US" sz="1300" dirty="0"/>
          </a:p>
        </p:txBody>
      </p:sp>
      <p:sp>
        <p:nvSpPr>
          <p:cNvPr id="5" name="flow arrow"/>
          <p:cNvSpPr/>
          <p:nvPr/>
        </p:nvSpPr>
        <p:spPr>
          <a:xfrm>
            <a:off x="2148840" y="1810512"/>
            <a:ext cx="41148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lock Input Process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1760" y="14630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Processing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tokenise, encode</a:t>
            </a:r>
            <a:endParaRPr lang="en-US" sz="1300" dirty="0"/>
          </a:p>
        </p:txBody>
      </p:sp>
      <p:sp>
        <p:nvSpPr>
          <p:cNvPr id="8" name="flow arrow"/>
          <p:cNvSpPr/>
          <p:nvPr/>
        </p:nvSpPr>
        <p:spPr>
          <a:xfrm>
            <a:off x="4297680" y="1810512"/>
            <a:ext cx="41148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lock Foundation Mod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4630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46304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learned patterns</a:t>
            </a:r>
            <a:endParaRPr lang="en-US" sz="1300" dirty="0"/>
          </a:p>
        </p:txBody>
      </p:sp>
      <p:sp>
        <p:nvSpPr>
          <p:cNvPr id="11" name="flow arrow"/>
          <p:cNvSpPr/>
          <p:nvPr/>
        </p:nvSpPr>
        <p:spPr>
          <a:xfrm>
            <a:off x="6629400" y="1810512"/>
            <a:ext cx="41148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lock Generated Outpu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0" y="146304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1463040"/>
            <a:ext cx="1508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Output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text, image, code</a:t>
            </a:r>
            <a:endParaRPr lang="en-US" sz="1300" dirty="0"/>
          </a:p>
        </p:txBody>
      </p:sp>
      <p:sp>
        <p:nvSpPr>
          <p:cNvPr id="14" name="training data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2880360"/>
            <a:ext cx="1737360" cy="566928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28803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16" name="arrow from training data into the model"/>
          <p:cNvSpPr/>
          <p:nvPr/>
        </p:nvSpPr>
        <p:spPr>
          <a:xfrm>
            <a:off x="5532120" y="2487168"/>
            <a:ext cx="274320" cy="365760"/>
          </a:xfrm>
          <a:prstGeom prst="upArrow">
            <a:avLst/>
          </a:prstGeom>
          <a:solidFill>
            <a:srgbClr val="C7D6E2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pass: prompt goes in, output comes out. No memory of the goal, no tools, no follow-up action.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AI: strengths and limits</a:t>
            </a:r>
            <a:endParaRPr lang="en-US" sz="2500" dirty="0"/>
          </a:p>
        </p:txBody>
      </p:sp>
      <p:sp>
        <p:nvSpPr>
          <p:cNvPr id="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3977640" cy="301752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188720"/>
            <a:ext cx="3977640" cy="301752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Struggles with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Drafting and rewriting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Summarising long material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Explaining and translating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Brainstorming ideas quickly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8288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 tasks over 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Checking its own work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live data or systems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Recovering when a step fails</a:t>
            </a:r>
            <a:endParaRPr lang="en-US" sz="1400" dirty="0"/>
          </a:p>
        </p:txBody>
      </p:sp>
      <p:sp>
        <p:nvSpPr>
          <p:cNvPr id="9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gaps are exactly what agentic systems were built to close.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20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answering to acting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wraps a model in goals, tools and a feedback loop</a:t>
            </a:r>
            <a:endParaRPr lang="en-US" sz="1600" dirty="0"/>
          </a:p>
        </p:txBody>
      </p:sp>
      <p:sp>
        <p:nvSpPr>
          <p:cNvPr id="4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60020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AI: pursues a goal, step by step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give a goal, not a single prompt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plans the steps needed to reach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uses tools — search, databases, APIs, code, other agents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observes each result and adjusts, repeating until the goal is met</a:t>
            </a:r>
            <a:endParaRPr lang="en-US" sz="150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143000"/>
            <a:ext cx="3200400" cy="265176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0" y="13716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it as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assistant given an outcome — who works out the steps, does them, and checks the result.</a:t>
            </a:r>
            <a:endParaRPr lang="en-US" sz="1300" dirty="0"/>
          </a:p>
        </p:txBody>
      </p:sp>
      <p:sp>
        <p:nvSpPr>
          <p:cNvPr id="6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is still the engine — agency comes from the loop and the tools built around it.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diagram: how an AI agent works</a:t>
            </a:r>
            <a:endParaRPr lang="en-US" sz="2500" dirty="0"/>
          </a:p>
        </p:txBody>
      </p:sp>
      <p:sp>
        <p:nvSpPr>
          <p:cNvPr id="3" name="block Go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user</a:t>
            </a:r>
            <a:endParaRPr lang="en-US" sz="1300" dirty="0"/>
          </a:p>
        </p:txBody>
      </p:sp>
      <p:sp>
        <p:nvSpPr>
          <p:cNvPr id="5" name="flow arrow"/>
          <p:cNvSpPr/>
          <p:nvPr/>
        </p:nvSpPr>
        <p:spPr>
          <a:xfrm>
            <a:off x="196596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lock Pl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16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2316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into steps</a:t>
            </a:r>
            <a:endParaRPr lang="en-US" sz="1300" dirty="0"/>
          </a:p>
        </p:txBody>
      </p:sp>
      <p:sp>
        <p:nvSpPr>
          <p:cNvPr id="8" name="flow arrow"/>
          <p:cNvSpPr/>
          <p:nvPr/>
        </p:nvSpPr>
        <p:spPr>
          <a:xfrm>
            <a:off x="406908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lock Reasoning Mod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action</a:t>
            </a:r>
            <a:endParaRPr lang="en-US" sz="1300" dirty="0"/>
          </a:p>
        </p:txBody>
      </p:sp>
      <p:sp>
        <p:nvSpPr>
          <p:cNvPr id="11" name="flow arrow"/>
          <p:cNvSpPr/>
          <p:nvPr/>
        </p:nvSpPr>
        <p:spPr>
          <a:xfrm>
            <a:off x="617220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lock Tool / Ac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/ 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search, API, code</a:t>
            </a:r>
            <a:endParaRPr lang="en-US" sz="1300" dirty="0"/>
          </a:p>
        </p:txBody>
      </p:sp>
      <p:sp>
        <p:nvSpPr>
          <p:cNvPr id="14" name="block Observ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2514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of action</a:t>
            </a:r>
            <a:endParaRPr lang="en-US" sz="1300" dirty="0"/>
          </a:p>
        </p:txBody>
      </p:sp>
      <p:sp>
        <p:nvSpPr>
          <p:cNvPr id="16" name="action produces an observation"/>
          <p:cNvSpPr/>
          <p:nvPr/>
        </p:nvSpPr>
        <p:spPr>
          <a:xfrm>
            <a:off x="7269480" y="2084832"/>
            <a:ext cx="274320" cy="365760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bservation feeds back to the reasoning model"/>
          <p:cNvSpPr/>
          <p:nvPr/>
        </p:nvSpPr>
        <p:spPr>
          <a:xfrm>
            <a:off x="5266944" y="2843784"/>
            <a:ext cx="136245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oop pa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66944" y="2240280"/>
            <a:ext cx="64008" cy="6675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oop returns to the reasoning model"/>
          <p:cNvSpPr/>
          <p:nvPr/>
        </p:nvSpPr>
        <p:spPr>
          <a:xfrm>
            <a:off x="5157216" y="1975104"/>
            <a:ext cx="292608" cy="310896"/>
          </a:xfrm>
          <a:prstGeom prst="up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lock Memo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160" y="2514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2316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so far</a:t>
            </a:r>
            <a:endParaRPr lang="en-US" sz="1300" dirty="0"/>
          </a:p>
        </p:txBody>
      </p:sp>
      <p:sp>
        <p:nvSpPr>
          <p:cNvPr id="22" name="memory supplies context to the planner"/>
          <p:cNvSpPr/>
          <p:nvPr/>
        </p:nvSpPr>
        <p:spPr>
          <a:xfrm>
            <a:off x="3063240" y="2084832"/>
            <a:ext cx="274320" cy="384048"/>
          </a:xfrm>
          <a:prstGeom prst="up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lock Goal met? → deliver final result. If not, loop again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611880"/>
            <a:ext cx="76809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 met? → deliver final result. If not, loop again.</a:t>
            </a:r>
            <a:endParaRPr lang="en-US" sz="1300" dirty="0"/>
          </a:p>
        </p:txBody>
      </p:sp>
      <p:sp>
        <p:nvSpPr>
          <p:cNvPr id="25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is the difference: plan → act → observe → re-plan, until the goal is satisfied.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Conceptual architecture: everything an agent needs</a:t>
            </a:r>
            <a:endParaRPr lang="en-US" sz="2500" dirty="0"/>
          </a:p>
        </p:txBody>
      </p:sp>
      <p:sp>
        <p:nvSpPr>
          <p:cNvPr id="3" name="block Us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6916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691640"/>
            <a:ext cx="12344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 / request</a:t>
            </a:r>
            <a:endParaRPr lang="en-US" sz="1300" dirty="0"/>
          </a:p>
        </p:txBody>
      </p:sp>
      <p:sp>
        <p:nvSpPr>
          <p:cNvPr id="5" name="block Resul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27889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answer</a:t>
            </a:r>
            <a:endParaRPr lang="en-US" sz="1300" dirty="0"/>
          </a:p>
        </p:txBody>
      </p:sp>
      <p:sp>
        <p:nvSpPr>
          <p:cNvPr id="7" name="user goal enters the agent co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0" y="1975104"/>
            <a:ext cx="320040" cy="201168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gent returns the result to the us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0" y="3054096"/>
            <a:ext cx="320040" cy="201168"/>
          </a:xfrm>
          <a:prstGeom prst="lef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gent cor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11680" y="1097280"/>
            <a:ext cx="3200400" cy="292608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Core</a:t>
            </a:r>
            <a:endParaRPr lang="en-US" sz="1300" dirty="0"/>
          </a:p>
        </p:txBody>
      </p:sp>
      <p:sp>
        <p:nvSpPr>
          <p:cNvPr id="11" name="block Orchestra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1536192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1536192"/>
            <a:ext cx="2926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the loop</a:t>
            </a:r>
            <a:endParaRPr lang="en-US" sz="1300" dirty="0"/>
          </a:p>
        </p:txBody>
      </p:sp>
      <p:sp>
        <p:nvSpPr>
          <p:cNvPr id="13" name="block Reasoning Model (LLM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2157984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48840" y="2157984"/>
            <a:ext cx="2926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Model (LLM)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next action</a:t>
            </a:r>
            <a:endParaRPr lang="en-US" sz="1300" dirty="0"/>
          </a:p>
        </p:txBody>
      </p:sp>
      <p:sp>
        <p:nvSpPr>
          <p:cNvPr id="15" name="block Pl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2779776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2779776"/>
            <a:ext cx="2926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 → ordered steps</a:t>
            </a:r>
            <a:endParaRPr lang="en-US" sz="1300" dirty="0"/>
          </a:p>
        </p:txBody>
      </p:sp>
      <p:sp>
        <p:nvSpPr>
          <p:cNvPr id="17" name="block Memo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3401568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48840" y="3401568"/>
            <a:ext cx="2926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short-term + long-term</a:t>
            </a:r>
            <a:endParaRPr lang="en-US" sz="1300" dirty="0"/>
          </a:p>
        </p:txBody>
      </p:sp>
      <p:sp>
        <p:nvSpPr>
          <p:cNvPr id="19" name="resourc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1097280"/>
            <a:ext cx="306324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1188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Resources</a:t>
            </a:r>
            <a:endParaRPr lang="en-US" sz="1300" dirty="0"/>
          </a:p>
        </p:txBody>
      </p:sp>
      <p:sp>
        <p:nvSpPr>
          <p:cNvPr id="21" name="block APIs &amp; System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1536192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1536192"/>
            <a:ext cx="2788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 &amp; Systems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on the real world</a:t>
            </a:r>
            <a:endParaRPr lang="en-US" sz="1300" dirty="0"/>
          </a:p>
        </p:txBody>
      </p:sp>
      <p:sp>
        <p:nvSpPr>
          <p:cNvPr id="23" name="block Knowledge B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2157984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2157984"/>
            <a:ext cx="2788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documents, vector store</a:t>
            </a:r>
            <a:endParaRPr lang="en-US" sz="1300" dirty="0"/>
          </a:p>
        </p:txBody>
      </p:sp>
      <p:sp>
        <p:nvSpPr>
          <p:cNvPr id="25" name="block Data &amp; Code Too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2779776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2779776"/>
            <a:ext cx="2788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Code Tools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query, compute, execute</a:t>
            </a:r>
            <a:endParaRPr lang="en-US" sz="1300" dirty="0"/>
          </a:p>
        </p:txBody>
      </p:sp>
      <p:sp>
        <p:nvSpPr>
          <p:cNvPr id="27" name="block Other Agent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3401568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0" y="3401568"/>
            <a:ext cx="2788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Agents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delegate sub-tasks</a:t>
            </a:r>
            <a:endParaRPr lang="en-US" sz="1300" dirty="0"/>
          </a:p>
        </p:txBody>
      </p:sp>
      <p:sp>
        <p:nvSpPr>
          <p:cNvPr id="29" name="agent core calls tools and resources"/>
          <p:cNvSpPr/>
          <p:nvPr/>
        </p:nvSpPr>
        <p:spPr>
          <a:xfrm>
            <a:off x="5285232" y="19659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ools return results to the agent core"/>
          <p:cNvSpPr/>
          <p:nvPr/>
        </p:nvSpPr>
        <p:spPr>
          <a:xfrm>
            <a:off x="5285232" y="2788920"/>
            <a:ext cx="365760" cy="219456"/>
          </a:xfrm>
          <a:prstGeom prst="lef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overnanc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 ·  Prompts &amp; Instructions  ·  Monitoring &amp; Logging  ·  Evaluation  ·  Human in the Loop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flow when you build an agent</a:t>
            </a:r>
            <a:endParaRPr lang="en-US" sz="2500" dirty="0"/>
          </a:p>
        </p:txBody>
      </p:sp>
      <p:sp>
        <p:nvSpPr>
          <p:cNvPr id="3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4712" y="13533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the goal</a:t>
            </a:r>
            <a:endParaRPr lang="en-US" sz="14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Scope, success criteria, boundaries</a:t>
            </a:r>
            <a:endParaRPr lang="en-US" sz="1200" dirty="0"/>
          </a:p>
        </p:txBody>
      </p:sp>
      <p:sp>
        <p:nvSpPr>
          <p:cNvPr id="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1887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472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13632" y="13533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strength, cost, latency</a:t>
            </a:r>
            <a:endParaRPr lang="en-US" sz="1200" dirty="0"/>
          </a:p>
        </p:txBody>
      </p:sp>
      <p:sp>
        <p:nvSpPr>
          <p:cNvPr id="13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887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02552" y="13533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tools &amp; data</a:t>
            </a:r>
            <a:endParaRPr lang="en-US" sz="1400" dirty="0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APIs, knowledge base, permissions</a:t>
            </a:r>
            <a:endParaRPr lang="en-US" sz="1200" dirty="0"/>
          </a:p>
        </p:txBody>
      </p:sp>
      <p:sp>
        <p:nvSpPr>
          <p:cNvPr id="1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4712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the loop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Plan, act, observe, stop conditions</a:t>
            </a:r>
            <a:endParaRPr lang="en-US" sz="1200" dirty="0"/>
          </a:p>
        </p:txBody>
      </p:sp>
      <p:sp>
        <p:nvSpPr>
          <p:cNvPr id="23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7432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7432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13632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guardrails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Limits, approvals, error handling</a:t>
            </a:r>
            <a:endParaRPr lang="en-US" sz="1200" dirty="0"/>
          </a:p>
        </p:txBody>
      </p:sp>
      <p:sp>
        <p:nvSpPr>
          <p:cNvPr id="2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7432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7432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02552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&amp; improve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runs, log, refine prompts</a:t>
            </a:r>
            <a:endParaRPr lang="en-US" sz="1200" dirty="0"/>
          </a:p>
        </p:txBody>
      </p:sp>
      <p:sp>
        <p:nvSpPr>
          <p:cNvPr id="33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narrow: one goal, two or three tools, tight guardrails — then widen once it behaves.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 by side: the two block diagrams</a:t>
            </a:r>
            <a:endParaRPr lang="en-US" sz="2500" dirty="0"/>
          </a:p>
        </p:txBody>
      </p:sp>
      <p:sp>
        <p:nvSpPr>
          <p:cNvPr id="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3108960"/>
          </a:xfrm>
          <a:prstGeom prst="rect">
            <a:avLst/>
          </a:prstGeom>
          <a:solidFill>
            <a:srgbClr val="E8F4F8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 — a straight 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— a loop</a:t>
            </a:r>
            <a:endParaRPr lang="en-US" sz="1400" dirty="0"/>
          </a:p>
        </p:txBody>
      </p:sp>
      <p:sp>
        <p:nvSpPr>
          <p:cNvPr id="7" name="block Promp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691640"/>
            <a:ext cx="3337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337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</a:t>
            </a:r>
            <a:endParaRPr lang="en-US" sz="1300" dirty="0"/>
          </a:p>
        </p:txBody>
      </p:sp>
      <p:sp>
        <p:nvSpPr>
          <p:cNvPr id="9" name="flows down to the model"/>
          <p:cNvSpPr/>
          <p:nvPr/>
        </p:nvSpPr>
        <p:spPr>
          <a:xfrm>
            <a:off x="2359152" y="2286000"/>
            <a:ext cx="256032" cy="292608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lock Mod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633472"/>
            <a:ext cx="333756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633472"/>
            <a:ext cx="3337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flows down to the output"/>
          <p:cNvSpPr/>
          <p:nvPr/>
        </p:nvSpPr>
        <p:spPr>
          <a:xfrm>
            <a:off x="2359152" y="3227832"/>
            <a:ext cx="256032" cy="292608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lock Output — do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56616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3337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— done</a:t>
            </a:r>
            <a:endParaRPr lang="en-US" sz="1300" dirty="0"/>
          </a:p>
        </p:txBody>
      </p:sp>
      <p:sp>
        <p:nvSpPr>
          <p:cNvPr id="15" name="block Go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6916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300" dirty="0"/>
          </a:p>
        </p:txBody>
      </p:sp>
      <p:sp>
        <p:nvSpPr>
          <p:cNvPr id="17" name="block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16916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300" dirty="0"/>
          </a:p>
        </p:txBody>
      </p:sp>
      <p:sp>
        <p:nvSpPr>
          <p:cNvPr id="19" name="block Observ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2633472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633472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</a:t>
            </a:r>
            <a:endParaRPr lang="en-US" sz="1300" dirty="0"/>
          </a:p>
        </p:txBody>
      </p:sp>
      <p:sp>
        <p:nvSpPr>
          <p:cNvPr id="21" name="block Act (tools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2633472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2633472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(tools)</a:t>
            </a:r>
            <a:endParaRPr lang="en-US" sz="1300" dirty="0"/>
          </a:p>
        </p:txBody>
      </p:sp>
      <p:sp>
        <p:nvSpPr>
          <p:cNvPr id="23" name="goal leads to plan"/>
          <p:cNvSpPr/>
          <p:nvPr/>
        </p:nvSpPr>
        <p:spPr>
          <a:xfrm>
            <a:off x="6510528" y="1856232"/>
            <a:ext cx="18288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plan leads to action"/>
          <p:cNvSpPr/>
          <p:nvPr/>
        </p:nvSpPr>
        <p:spPr>
          <a:xfrm>
            <a:off x="7370064" y="2267712"/>
            <a:ext cx="256032" cy="310896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ction produces an observation"/>
          <p:cNvSpPr/>
          <p:nvPr/>
        </p:nvSpPr>
        <p:spPr>
          <a:xfrm>
            <a:off x="6510528" y="2798064"/>
            <a:ext cx="182880" cy="219456"/>
          </a:xfrm>
          <a:prstGeom prst="lef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bservation loops back to the goal"/>
          <p:cNvSpPr/>
          <p:nvPr/>
        </p:nvSpPr>
        <p:spPr>
          <a:xfrm>
            <a:off x="5586984" y="2267712"/>
            <a:ext cx="256032" cy="310896"/>
          </a:xfrm>
          <a:prstGeom prst="up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Repeats until the goal is met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them point by point</a:t>
            </a:r>
            <a:endParaRPr lang="en-US" sz="25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38160" cy="28163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Generative AI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Agentic AI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Input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prompt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goal or outcome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direct each step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plans its own steps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Memory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Mostly the current chat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Carries state across steps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Usually none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Search, APIs, code, data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Feedback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 — one pass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Observes and self-corrects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Ends when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Output is produced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Goal is achieved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43000"/>
            <a:ext cx="8138160" cy="402336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7784" y="11430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2569464" y="11430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</a:t>
            </a:r>
            <a:endParaRPr lang="en-US" sz="1300"/>
          </a:p>
        </p:txBody>
      </p:sp>
      <p:sp>
        <p:nvSpPr>
          <p:cNvPr id="7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11430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</a:t>
            </a:r>
            <a:endParaRPr lang="en-US" sz="1300"/>
          </a:p>
        </p:txBody>
      </p:sp>
      <p:sp>
        <p:nvSpPr>
          <p:cNvPr id="8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 to remember: generative AI produces, agentic AI pursues.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00136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task, two approaches</a:t>
            </a:r>
            <a:endParaRPr lang="en-US" sz="2500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Task: "Prepare a summary of last quarter's sales for Monday's review."</a:t>
            </a:r>
            <a:endParaRPr lang="en-US" sz="150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77640" cy="260604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3977640" cy="2606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9204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paste the sales figures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writes a clear summary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check the numbers yourself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format and send it</a:t>
            </a:r>
            <a:endParaRPr lang="en-US" sz="1300" dirty="0"/>
          </a:p>
        </p:txBody>
      </p:sp>
      <p:sp>
        <p:nvSpPr>
          <p:cNvPr id="9" name="Tex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040" y="21031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the figures from the system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Drafts the summary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Cross-checks totals, fixes gaps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Places it in the review deck</a:t>
            </a:r>
            <a:endParaRPr lang="en-US" sz="1300" dirty="0"/>
          </a:p>
        </p:txBody>
      </p:sp>
      <p:sp>
        <p:nvSpPr>
          <p:cNvPr id="10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output; the difference is how much of the work you still have to do.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one should you reach for?</a:t>
            </a:r>
            <a:endParaRPr lang="en-US" sz="2500" dirty="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3977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39776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Generative AI when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task is one clear step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want a draft you'll review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matters more than autonomy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of a wrong answer is low</a:t>
            </a:r>
            <a:endParaRPr lang="en-US" sz="130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188720"/>
            <a:ext cx="3977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188720"/>
            <a:ext cx="3977640" cy="64008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Agentic AI when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task spans several steps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data or systems are needed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must be checked and retried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workflow repeats often</a:t>
            </a:r>
            <a:endParaRPr lang="en-US" sz="1300" dirty="0"/>
          </a:p>
        </p:txBody>
      </p:sp>
      <p:sp>
        <p:nvSpPr>
          <p:cNvPr id="11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real systems combine both: an agent that calls a generative model at each step.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 sets an agent uses</a:t>
            </a:r>
            <a:endParaRPr lang="en-US" sz="2500" dirty="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Retrieval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search</a:t>
            </a: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vector search over your own documents</a:t>
            </a:r>
            <a:endParaRPr lang="en-US" sz="11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Records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a database, read a spreadsheet, fetch a record</a:t>
            </a:r>
            <a:endParaRPr lang="en-US" sz="11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APIs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ticket</a:t>
            </a: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a message</a:t>
            </a: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a pipeline</a:t>
            </a:r>
            <a:endParaRPr lang="en-US" sz="115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</a:t>
            </a: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</a:t>
            </a: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947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script, calculate</a:t>
            </a: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 or generate a file</a:t>
            </a:r>
            <a:endParaRPr lang="en-US" sz="11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in the Loop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</a:t>
            </a: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clarifying question</a:t>
            </a: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approval before acting</a:t>
            </a:r>
            <a:endParaRPr lang="en-US" sz="1150" dirty="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Agents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947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a sub-task to </a:t>
            </a: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agent and use its answer</a:t>
            </a:r>
            <a:endParaRPr lang="en-US" sz="1150" dirty="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tools are safe 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early; action and code 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belong behind permissions and approval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diagram: how a tool call flows</a:t>
            </a:r>
            <a:endParaRPr lang="en-US" sz="2500"/>
          </a:p>
        </p:txBody>
      </p:sp>
      <p:sp>
        <p:nvSpPr>
          <p:cNvPr id="3" name="block Go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Step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plan</a:t>
            </a:r>
            <a:endParaRPr lang="en-US" sz="1300"/>
          </a:p>
        </p:txBody>
      </p:sp>
      <p:sp>
        <p:nvSpPr>
          <p:cNvPr id="5" name="flow arrow"/>
          <p:cNvSpPr/>
          <p:nvPr/>
        </p:nvSpPr>
        <p:spPr>
          <a:xfrm>
            <a:off x="196596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lock Pl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16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2316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Selection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tool fits</a:t>
            </a:r>
            <a:endParaRPr lang="en-US" sz="1300"/>
          </a:p>
        </p:txBody>
      </p:sp>
      <p:sp>
        <p:nvSpPr>
          <p:cNvPr id="8" name="flow arrow"/>
          <p:cNvSpPr/>
          <p:nvPr/>
        </p:nvSpPr>
        <p:spPr>
          <a:xfrm>
            <a:off x="406908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lock Reasoning Mod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Building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the parameters</a:t>
            </a:r>
            <a:endParaRPr lang="en-US" sz="1300"/>
          </a:p>
        </p:txBody>
      </p:sp>
      <p:sp>
        <p:nvSpPr>
          <p:cNvPr id="11" name="flow arrow"/>
          <p:cNvSpPr/>
          <p:nvPr/>
        </p:nvSpPr>
        <p:spPr>
          <a:xfrm>
            <a:off x="617220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lock Tool / Ac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Execution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API, query, code</a:t>
            </a:r>
            <a:endParaRPr lang="en-US" sz="1300"/>
          </a:p>
        </p:txBody>
      </p:sp>
      <p:sp>
        <p:nvSpPr>
          <p:cNvPr id="14" name="block Observ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2514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Returned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or an error</a:t>
            </a:r>
            <a:endParaRPr lang="en-US" sz="1300"/>
          </a:p>
        </p:txBody>
      </p:sp>
      <p:sp>
        <p:nvSpPr>
          <p:cNvPr id="16" name="action produces an observation"/>
          <p:cNvSpPr/>
          <p:nvPr/>
        </p:nvSpPr>
        <p:spPr>
          <a:xfrm>
            <a:off x="7269480" y="2084832"/>
            <a:ext cx="274320" cy="365760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bservation feeds back to the reasoning model"/>
          <p:cNvSpPr/>
          <p:nvPr/>
        </p:nvSpPr>
        <p:spPr>
          <a:xfrm>
            <a:off x="5266944" y="2843784"/>
            <a:ext cx="136245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oop pa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66944" y="2240280"/>
            <a:ext cx="64008" cy="6675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oop returns to the reasoning model"/>
          <p:cNvSpPr/>
          <p:nvPr/>
        </p:nvSpPr>
        <p:spPr>
          <a:xfrm>
            <a:off x="5157216" y="1975104"/>
            <a:ext cx="292608" cy="310896"/>
          </a:xfrm>
          <a:prstGeom prst="up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lock Memo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160" y="2514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2316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Registry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purpose, schema</a:t>
            </a:r>
            <a:endParaRPr lang="en-US" sz="1300"/>
          </a:p>
        </p:txBody>
      </p:sp>
      <p:sp>
        <p:nvSpPr>
          <p:cNvPr id="22" name="memory supplies context to the planner"/>
          <p:cNvSpPr/>
          <p:nvPr/>
        </p:nvSpPr>
        <p:spPr>
          <a:xfrm>
            <a:off x="3063240" y="2084832"/>
            <a:ext cx="274320" cy="384048"/>
          </a:xfrm>
          <a:prstGeom prst="up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lock Goal met? → deliver final result. If not, loop again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611880"/>
            <a:ext cx="76809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usable? → continue the plan. If not, retry, switch tool or ask a human.</a:t>
            </a:r>
            <a:endParaRPr lang="en-US" sz="1300"/>
          </a:p>
        </p:txBody>
      </p:sp>
      <p:sp>
        <p:nvSpPr>
          <p:cNvPr id="25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tool call has the same four beats: choose the tool, fill the inputs, run it, judge the result.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21346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Wiring tools well: rules of thumb</a:t>
            </a:r>
            <a:endParaRPr lang="en-US" sz="2500" dirty="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tools by their job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15361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get_build_log", not "api_call_2</a:t>
            </a:r>
            <a:r>
              <a:rPr lang="en-US" sz="11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endParaRPr lang="en-US" sz="11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tool, one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5361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Narrow tools are far easier to choose correctly</a:t>
            </a:r>
            <a:endParaRPr lang="en-US" sz="11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76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when to use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25877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description is what the model reasons over</a:t>
            </a:r>
            <a:endParaRPr lang="en-US" sz="1150" dirty="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76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the inputs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9472" y="25877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parameters cause most silent tool failures</a:t>
            </a:r>
            <a:endParaRPr lang="en-US" sz="11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small, clean 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" y="36393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Trim payloads to what the next step actually needs</a:t>
            </a:r>
            <a:endParaRPr lang="en-US" sz="1150" dirty="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every call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9472" y="36393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traces are how you debug an agent's behaviour</a:t>
            </a:r>
            <a:endParaRPr lang="en-US" sz="1150" dirty="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rarely fail at reasoning — they fail at tool choice and tool inputs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sets in detail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910187"/>
              </p:ext>
            </p:extLst>
          </p:nvPr>
        </p:nvGraphicFramePr>
        <p:xfrm>
          <a:off x="502920" y="1143000"/>
          <a:ext cx="8138160" cy="296265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set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actually does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our CI/CD agent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 &amp; retrieval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Finds passages in docs or the web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Looks up the runbook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&amp; records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Reads a table, record or object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Fetches the failed build log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 APIs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Changes another system, with permissions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Opens a work item, posts to Teams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 &amp; compute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Runs a script or query, returns the result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Parses the log, counts errors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Human in the loop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Pauses to ask or collect approval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Sign-off before any change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 agents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Delegates a sub-task to a specialist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Asks a security agent to check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43000"/>
            <a:ext cx="8138160" cy="402336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7784" y="11430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set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569464" y="11430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actually does</a:t>
            </a:r>
            <a:endParaRPr lang="en-US" sz="1300" dirty="0"/>
          </a:p>
        </p:txBody>
      </p:sp>
      <p:sp>
        <p:nvSpPr>
          <p:cNvPr id="7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11430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our CI/CD agent</a:t>
            </a:r>
            <a:endParaRPr lang="en-US" sz="1300" dirty="0"/>
          </a:p>
        </p:txBody>
      </p:sp>
      <p:sp>
        <p:nvSpPr>
          <p:cNvPr id="8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tool needs a clear name, typed inputs and outputs, and a description of when 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Project, skills and the other building blocks</a:t>
            </a:r>
            <a:endParaRPr lang="en-US" sz="250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5895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container for one agent: its model, files, connections and settings</a:t>
            </a:r>
            <a:endParaRPr lang="en-US" sz="115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91947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packaged capability: related tools plus the know-how for using them</a:t>
            </a:r>
            <a:endParaRPr lang="en-US" sz="115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Actions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5895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concrete operation, with typed inputs and a predictable output</a:t>
            </a:r>
            <a:endParaRPr lang="en-US" sz="115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91947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documents and data the agent reads to ground its answers</a:t>
            </a:r>
            <a:endParaRPr lang="en-US" sz="115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5895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links to systems; they carry the permissions the agent inherits</a:t>
            </a:r>
            <a:endParaRPr lang="en-US" sz="115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1947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instructions and loop that pick which skill or tool comes next</a:t>
            </a:r>
            <a:endParaRPr lang="en-US" sz="115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project holds skills, a skill holds tools, a tool does one thing. Keep every layer narrow.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8786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project, skills and tools nest together</a:t>
            </a:r>
            <a:endParaRPr lang="en-US" sz="2500"/>
          </a:p>
        </p:txBody>
      </p:sp>
      <p:sp>
        <p:nvSpPr>
          <p:cNvPr id="3" name="block Us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6916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1691640"/>
            <a:ext cx="12344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nightly build failed</a:t>
            </a:r>
            <a:endParaRPr lang="en-US" sz="1300"/>
          </a:p>
        </p:txBody>
      </p:sp>
      <p:sp>
        <p:nvSpPr>
          <p:cNvPr id="5" name="block Resul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27889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+ work item</a:t>
            </a:r>
            <a:endParaRPr lang="en-US" sz="1300"/>
          </a:p>
        </p:txBody>
      </p:sp>
      <p:sp>
        <p:nvSpPr>
          <p:cNvPr id="7" name="user goal enters the agent co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0" y="1975104"/>
            <a:ext cx="320040" cy="201168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gent returns the result to the us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0" y="3054096"/>
            <a:ext cx="320040" cy="201168"/>
          </a:xfrm>
          <a:prstGeom prst="lef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gent cor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11680" y="1097280"/>
            <a:ext cx="3200400" cy="292608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— one agent</a:t>
            </a:r>
            <a:endParaRPr lang="en-US" sz="1300"/>
          </a:p>
        </p:txBody>
      </p:sp>
      <p:sp>
        <p:nvSpPr>
          <p:cNvPr id="11" name="block Orchestra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1536192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1536192"/>
            <a:ext cx="2926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role, steps, limits</a:t>
            </a:r>
            <a:endParaRPr lang="en-US" sz="1300"/>
          </a:p>
        </p:txBody>
      </p:sp>
      <p:sp>
        <p:nvSpPr>
          <p:cNvPr id="13" name="block Reasoning Model (LLM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2157984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48840" y="2157984"/>
            <a:ext cx="2926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deployment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model, version</a:t>
            </a:r>
            <a:endParaRPr lang="en-US" sz="1300"/>
          </a:p>
        </p:txBody>
      </p:sp>
      <p:sp>
        <p:nvSpPr>
          <p:cNvPr id="15" name="block Pl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2779776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2779776"/>
            <a:ext cx="2926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runbooks, owner list</a:t>
            </a:r>
            <a:endParaRPr lang="en-US" sz="1300"/>
          </a:p>
        </p:txBody>
      </p:sp>
      <p:sp>
        <p:nvSpPr>
          <p:cNvPr id="17" name="block Memo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3401568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48840" y="3401568"/>
            <a:ext cx="29260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Connections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access</a:t>
            </a:r>
            <a:endParaRPr lang="en-US" sz="1300"/>
          </a:p>
        </p:txBody>
      </p:sp>
      <p:sp>
        <p:nvSpPr>
          <p:cNvPr id="19" name="resourc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1097280"/>
            <a:ext cx="306324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1188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— each holding tools</a:t>
            </a:r>
            <a:endParaRPr lang="en-US" sz="1300"/>
          </a:p>
        </p:txBody>
      </p:sp>
      <p:sp>
        <p:nvSpPr>
          <p:cNvPr id="21" name="block APIs &amp; System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1536192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1536192"/>
            <a:ext cx="2788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Skill: Build Diagnostics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get_log · classify_error</a:t>
            </a:r>
            <a:endParaRPr lang="en-US" sz="1300"/>
          </a:p>
        </p:txBody>
      </p:sp>
      <p:sp>
        <p:nvSpPr>
          <p:cNvPr id="23" name="block Knowledge B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2157984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2157984"/>
            <a:ext cx="2788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Skill: Source Control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find_commit · get_owner</a:t>
            </a:r>
            <a:endParaRPr lang="en-US" sz="1300"/>
          </a:p>
        </p:txBody>
      </p:sp>
      <p:sp>
        <p:nvSpPr>
          <p:cNvPr id="25" name="block Data &amp; Code Too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2779776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2779776"/>
            <a:ext cx="2788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Skill: Work Tracking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create_work_item</a:t>
            </a:r>
            <a:endParaRPr lang="en-US" sz="1300"/>
          </a:p>
        </p:txBody>
      </p:sp>
      <p:sp>
        <p:nvSpPr>
          <p:cNvPr id="27" name="block Other Agent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3401568"/>
            <a:ext cx="2788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0" y="3401568"/>
            <a:ext cx="2788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Skill: Notify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post_teams_message</a:t>
            </a:r>
            <a:endParaRPr lang="en-US" sz="1300"/>
          </a:p>
        </p:txBody>
      </p:sp>
      <p:sp>
        <p:nvSpPr>
          <p:cNvPr id="29" name="agent core calls tools and resources"/>
          <p:cNvSpPr/>
          <p:nvPr/>
        </p:nvSpPr>
        <p:spPr>
          <a:xfrm>
            <a:off x="5285232" y="19659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ools return results to the agent core"/>
          <p:cNvSpPr/>
          <p:nvPr/>
        </p:nvSpPr>
        <p:spPr>
          <a:xfrm>
            <a:off x="5285232" y="2788920"/>
            <a:ext cx="365760" cy="219456"/>
          </a:xfrm>
          <a:prstGeom prst="lef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overnanc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Environments  ·  Identity &amp; Permissions  ·  Versioning  ·  Evaluation  ·  Monitoring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59313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rest of the build kit</a:t>
            </a:r>
            <a:endParaRPr lang="en-US" sz="250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Environments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58952" y="15361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Dev, test and production, so experiments never touch live systems</a:t>
            </a:r>
            <a:endParaRPr lang="en-US" sz="115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deployment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919472" y="15361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model and version, at what cost and rate limit</a:t>
            </a:r>
            <a:endParaRPr lang="en-US" sz="115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76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permissions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58952" y="25877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acts as an account — give it least privilege</a:t>
            </a:r>
            <a:endParaRPr lang="en-US" sz="115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76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Versioning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919472" y="25877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Instructions, skills and tools change; version them like code</a:t>
            </a:r>
            <a:endParaRPr lang="en-US" sz="115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58952" y="36393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test set of real tasks, scored on every change you make</a:t>
            </a:r>
            <a:endParaRPr lang="en-US" sz="115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19472" y="36393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traces, tool-call logs, cost and failure alerts in production</a:t>
            </a:r>
            <a:endParaRPr lang="en-US" sz="115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what turn a working demo into an agent you can trust to run every night.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42539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DC59-8E94-4588-93AF-B421869FD9E2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748145" y="2070625"/>
            <a:ext cx="7892934" cy="914399"/>
          </a:xfrm>
        </p:spPr>
        <p:txBody>
          <a:bodyPr/>
          <a:lstStyle/>
          <a:p>
            <a:pPr algn="ctr"/>
            <a:r>
              <a:rPr lang="en-IN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7406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MCP: a standard way to plug tools in</a:t>
            </a:r>
            <a:endParaRPr lang="en-US" sz="250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MCP is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5895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Context Protocol — one open standard for exposing tools and data to agents</a:t>
            </a:r>
            <a:endParaRPr lang="en-US" sz="115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91947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Wraps a system and publishes what it offers: tools, resources, prompts</a:t>
            </a:r>
            <a:endParaRPr lang="en-US" sz="115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Client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5895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Sits inside the agent, discovers the servers' tools and calls them</a:t>
            </a:r>
            <a:endParaRPr lang="en-US" sz="115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Resources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91947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are actions to run; resources are read-only context to pull in</a:t>
            </a:r>
            <a:endParaRPr lang="en-US" sz="115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5895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connector once — any MCP-aware agent can use it</a:t>
            </a:r>
            <a:endParaRPr lang="en-US" sz="115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fits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1947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MCP server is just another skill your project connects to</a:t>
            </a:r>
            <a:endParaRPr lang="en-US" sz="115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MCP every agent needs its own custom connector; with it, tools become reusable plug-ins.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65656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diagram: how an MCP tool call flows</a:t>
            </a:r>
            <a:endParaRPr lang="en-US" sz="2500"/>
          </a:p>
        </p:txBody>
      </p:sp>
      <p:sp>
        <p:nvSpPr>
          <p:cNvPr id="3" name="block Go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a tool</a:t>
            </a:r>
            <a:endParaRPr lang="en-US" sz="1300"/>
          </a:p>
        </p:txBody>
      </p:sp>
      <p:sp>
        <p:nvSpPr>
          <p:cNvPr id="5" name="flow arrow"/>
          <p:cNvSpPr/>
          <p:nvPr/>
        </p:nvSpPr>
        <p:spPr>
          <a:xfrm>
            <a:off x="196596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lock Plann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16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2316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Client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agent</a:t>
            </a:r>
            <a:endParaRPr lang="en-US" sz="1300"/>
          </a:p>
        </p:txBody>
      </p:sp>
      <p:sp>
        <p:nvSpPr>
          <p:cNvPr id="8" name="flow arrow"/>
          <p:cNvSpPr/>
          <p:nvPr/>
        </p:nvSpPr>
        <p:spPr>
          <a:xfrm>
            <a:off x="406908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lock Reasoning Mod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its tools</a:t>
            </a:r>
            <a:endParaRPr lang="en-US" sz="1300"/>
          </a:p>
        </p:txBody>
      </p:sp>
      <p:sp>
        <p:nvSpPr>
          <p:cNvPr id="11" name="flow arrow"/>
          <p:cNvSpPr/>
          <p:nvPr/>
        </p:nvSpPr>
        <p:spPr>
          <a:xfrm>
            <a:off x="6172200" y="1508760"/>
            <a:ext cx="36576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lock Tool / Ac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12344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Invoked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typed inputs</a:t>
            </a:r>
            <a:endParaRPr lang="en-US" sz="1300"/>
          </a:p>
        </p:txBody>
      </p:sp>
      <p:sp>
        <p:nvSpPr>
          <p:cNvPr id="14" name="block Observ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2514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or error</a:t>
            </a:r>
            <a:endParaRPr lang="en-US" sz="1300"/>
          </a:p>
        </p:txBody>
      </p:sp>
      <p:sp>
        <p:nvSpPr>
          <p:cNvPr id="16" name="action produces an observation"/>
          <p:cNvSpPr/>
          <p:nvPr/>
        </p:nvSpPr>
        <p:spPr>
          <a:xfrm>
            <a:off x="7269480" y="2084832"/>
            <a:ext cx="274320" cy="365760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bservation feeds back to the reasoning model"/>
          <p:cNvSpPr/>
          <p:nvPr/>
        </p:nvSpPr>
        <p:spPr>
          <a:xfrm>
            <a:off x="5266944" y="2843784"/>
            <a:ext cx="1362456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oop pa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66944" y="2240280"/>
            <a:ext cx="64008" cy="6675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oop returns to the reasoning model"/>
          <p:cNvSpPr/>
          <p:nvPr/>
        </p:nvSpPr>
        <p:spPr>
          <a:xfrm>
            <a:off x="5157216" y="1975104"/>
            <a:ext cx="292608" cy="310896"/>
          </a:xfrm>
          <a:prstGeom prst="up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lock Memo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160" y="2514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2316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Catalog</a:t>
            </a:r>
            <a:endParaRPr lang="en-US" sz="1300"/>
          </a:p>
          <a:p>
            <a:pPr marL="0" indent="0" algn="ctr">
              <a:buNone/>
            </a:pPr>
            <a:r>
              <a:rPr lang="en-US" sz="10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discovered from servers</a:t>
            </a:r>
            <a:endParaRPr lang="en-US" sz="1300"/>
          </a:p>
        </p:txBody>
      </p:sp>
      <p:sp>
        <p:nvSpPr>
          <p:cNvPr id="22" name="memory supplies context to the planner"/>
          <p:cNvSpPr/>
          <p:nvPr/>
        </p:nvSpPr>
        <p:spPr>
          <a:xfrm>
            <a:off x="3063240" y="2084832"/>
            <a:ext cx="274320" cy="384048"/>
          </a:xfrm>
          <a:prstGeom prst="up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lock Goal met? → deliver final result. If not, loop again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611880"/>
            <a:ext cx="76809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once, then call many times — the agent reasons over the tool descriptions it was given.</a:t>
            </a:r>
            <a:endParaRPr lang="en-US" sz="1300"/>
          </a:p>
        </p:txBody>
      </p:sp>
      <p:sp>
        <p:nvSpPr>
          <p:cNvPr id="25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MCP server fronts the real system — Azure DevOps, files, a database — and speaks one standard protocol.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43331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 your class can try</a:t>
            </a:r>
            <a:endParaRPr lang="en-US" sz="250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Filesystem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5895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and write files inside a folder you explicitly allow</a:t>
            </a:r>
            <a:endParaRPr lang="en-US" sz="115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&amp; GitHub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91947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repositories, commits, issues and pull requests</a:t>
            </a:r>
            <a:endParaRPr lang="en-US" sz="115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5895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read-only queries against a Postgres or SQL sandbox</a:t>
            </a:r>
            <a:endParaRPr lang="en-US" sz="115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fetch &amp; search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91947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a page or a search result in as context</a:t>
            </a:r>
            <a:endParaRPr lang="en-US" sz="115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trackers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5895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and update work items straight from the agent</a:t>
            </a:r>
            <a:endParaRPr lang="en-US" sz="115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own server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1947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 an internal API in a handful of tools of your own</a:t>
            </a:r>
            <a:endParaRPr lang="en-US" sz="115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commonly available reference servers — start read-only on a sandbox account, add write tools later.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830802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CI/CD agent, expressed as MCP tools</a:t>
            </a:r>
            <a:endParaRPr lang="en-US" sz="25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96549"/>
              </p:ext>
            </p:extLst>
          </p:nvPr>
        </p:nvGraphicFramePr>
        <p:xfrm>
          <a:off x="502920" y="1143000"/>
          <a:ext cx="8138160" cy="28163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MCP server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it exposes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comes back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Pipeline server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get_build(run_id)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Status, failing stage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Pipeline server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get_build_log(run_id)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raw log text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 server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find_commit(branch)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commit and its author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 server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search_runbook(error)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Matching runbook steps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item server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create_work_item(...)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item id and link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 server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post_message(channel)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Delivery confirmation</a:t>
                      </a:r>
                      <a:endParaRPr lang="en-US" sz="13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43000"/>
            <a:ext cx="8138160" cy="402336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7784" y="11430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2569464" y="11430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it exposes</a:t>
            </a:r>
            <a:endParaRPr lang="en-US" sz="1300"/>
          </a:p>
        </p:txBody>
      </p:sp>
      <p:sp>
        <p:nvSpPr>
          <p:cNvPr id="7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704" y="11430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comes back</a:t>
            </a:r>
            <a:endParaRPr lang="en-US" sz="1300"/>
          </a:p>
        </p:txBody>
      </p:sp>
      <p:sp>
        <p:nvSpPr>
          <p:cNvPr id="8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six capabilities as before — only now each one is a typed tool published by an MCP server.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905890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20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Hands-on: building an agent with Microsoft Copilot</a:t>
            </a:r>
            <a:endParaRPr lang="en-US" sz="3400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 — a DevOps CI/CD pipeline assistant</a:t>
            </a:r>
            <a:endParaRPr lang="en-US" sz="1600" dirty="0"/>
          </a:p>
        </p:txBody>
      </p:sp>
      <p:sp>
        <p:nvSpPr>
          <p:cNvPr id="4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60020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build with in Microsoft Copilot</a:t>
            </a:r>
            <a:endParaRPr lang="en-US" sz="250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5895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maker canvas: create the agent, describe it, publish it</a:t>
            </a:r>
            <a:endParaRPr lang="en-US" sz="115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91947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Plain-language rules for what the agent does and never does</a:t>
            </a:r>
            <a:endParaRPr lang="en-US" sz="115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5895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Docs, SharePoint, sites and data the agent can read</a:t>
            </a:r>
            <a:endParaRPr lang="en-US" sz="115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Actions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91947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Connectors, Power Automate flows and APIs it can call</a:t>
            </a:r>
            <a:endParaRPr lang="en-US" sz="115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5895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starts it: a chat message, an event or a schedule</a:t>
            </a:r>
            <a:endParaRPr lang="en-US" sz="115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1947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people meet it: Teams, Microsoft 365 Copilot, a web chat</a:t>
            </a:r>
            <a:endParaRPr lang="en-US" sz="115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piece here maps back to the nesting diagram: project, skills, tools, knowledge and connections.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364891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example: a CI/CD build-failure agent</a:t>
            </a:r>
            <a:endParaRPr lang="en-US" sz="2500" dirty="0"/>
          </a:p>
        </p:txBody>
      </p:sp>
      <p:sp>
        <p:nvSpPr>
          <p:cNvPr id="3" name="scenario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8138160" cy="56692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05156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when a nightly pipeline build fails, diagnose it, notify the right team and open a work item.</a:t>
            </a:r>
            <a:endParaRPr lang="en-US" sz="1400" dirty="0"/>
          </a:p>
        </p:txBody>
      </p:sp>
      <p:sp>
        <p:nvSpPr>
          <p:cNvPr id="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3977640" cy="237744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783080"/>
            <a:ext cx="3977640" cy="237744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agent does</a:t>
            </a:r>
            <a:endParaRPr lang="en-US" sz="140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04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must never 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the failed build log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Classifies the failure type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the likely commit and owner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Posts a summary to the Teams channel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work item with details</a:t>
            </a:r>
            <a:endParaRPr lang="en-US" sz="1250" dirty="0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04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Re-run or cancel production releases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pipeline definitions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or revert code on its own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outside the listed repositories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anyone outside the team channel</a:t>
            </a:r>
            <a:endParaRPr lang="en-US" sz="1250" dirty="0"/>
          </a:p>
        </p:txBody>
      </p:sp>
      <p:sp>
        <p:nvSpPr>
          <p:cNvPr id="11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tight, well-bounded goal is what makes a first agent succeed. Read-and-report before act-and-change.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by step: building it in Copilot Studio</a:t>
            </a:r>
            <a:endParaRPr lang="en-US" sz="2500" dirty="0"/>
          </a:p>
        </p:txBody>
      </p:sp>
      <p:sp>
        <p:nvSpPr>
          <p:cNvPr id="3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43000"/>
            <a:ext cx="18836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43000"/>
            <a:ext cx="1883664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71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63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agent</a:t>
            </a:r>
            <a:endParaRPr lang="en-US" sz="125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928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it in plain language and name it</a:t>
            </a:r>
            <a:endParaRPr lang="en-US" sz="1050" dirty="0"/>
          </a:p>
        </p:txBody>
      </p:sp>
      <p:sp>
        <p:nvSpPr>
          <p:cNvPr id="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51176" y="1143000"/>
            <a:ext cx="18836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51176" y="1143000"/>
            <a:ext cx="1883664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88336" y="1271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88336" y="1563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instructions</a:t>
            </a:r>
            <a:endParaRPr lang="en-US" sz="1250" dirty="0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88336" y="18928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Role, tone, the exact steps, the hard limits</a:t>
            </a:r>
            <a:endParaRPr lang="en-US" sz="1050" dirty="0"/>
          </a:p>
        </p:txBody>
      </p:sp>
      <p:sp>
        <p:nvSpPr>
          <p:cNvPr id="13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9432" y="1143000"/>
            <a:ext cx="18836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9432" y="1143000"/>
            <a:ext cx="1883664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1271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36592" y="1563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knowledge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36592" y="18928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Runbooks, error catalogue, team ownership list</a:t>
            </a:r>
            <a:endParaRPr lang="en-US" sz="1050" dirty="0"/>
          </a:p>
        </p:txBody>
      </p:sp>
      <p:sp>
        <p:nvSpPr>
          <p:cNvPr id="1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7688" y="1143000"/>
            <a:ext cx="18836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7688" y="1143000"/>
            <a:ext cx="1883664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84848" y="1271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84848" y="15636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tools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84848" y="18928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API, repo, work items, Teams message</a:t>
            </a:r>
            <a:endParaRPr lang="en-US" sz="1050" dirty="0"/>
          </a:p>
        </p:txBody>
      </p:sp>
      <p:sp>
        <p:nvSpPr>
          <p:cNvPr id="23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18836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1883664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31638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trigger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34930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 on "build failed" event, or on request</a:t>
            </a:r>
            <a:endParaRPr lang="en-US" sz="1050" dirty="0"/>
          </a:p>
        </p:txBody>
      </p:sp>
      <p:sp>
        <p:nvSpPr>
          <p:cNvPr id="2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51176" y="2743200"/>
            <a:ext cx="18836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51176" y="2743200"/>
            <a:ext cx="1883664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88336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688336" y="31638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in the canvas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688336" y="34930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real failures, inspect each step taken</a:t>
            </a:r>
            <a:endParaRPr lang="en-US" sz="1050" dirty="0"/>
          </a:p>
        </p:txBody>
      </p:sp>
      <p:sp>
        <p:nvSpPr>
          <p:cNvPr id="33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9432" y="2743200"/>
            <a:ext cx="18836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9432" y="2743200"/>
            <a:ext cx="1883664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36592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36592" y="31638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approvals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736592" y="34930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sign-off before anything is changed</a:t>
            </a:r>
            <a:endParaRPr lang="en-US" sz="1050" dirty="0"/>
          </a:p>
        </p:txBody>
      </p:sp>
      <p:sp>
        <p:nvSpPr>
          <p:cNvPr id="3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7688" y="2743200"/>
            <a:ext cx="188366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7688" y="2743200"/>
            <a:ext cx="1883664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84848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784848" y="31638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&amp; monitor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784848" y="34930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to Teams, then watch analytics and logs</a:t>
            </a:r>
            <a:endParaRPr lang="en-US" sz="1050" dirty="0"/>
          </a:p>
        </p:txBody>
      </p:sp>
      <p:sp>
        <p:nvSpPr>
          <p:cNvPr id="43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1–4 make it capable. Steps 5–8 make it safe and dependable — don't skip them.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instructions you would give this agent</a:t>
            </a:r>
            <a:endParaRPr lang="en-US" sz="2500"/>
          </a:p>
        </p:txBody>
      </p:sp>
      <p:sp>
        <p:nvSpPr>
          <p:cNvPr id="3" name="instruc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5074920" cy="3108960"/>
          </a:xfrm>
          <a:prstGeom prst="rect">
            <a:avLst/>
          </a:prstGeom>
          <a:solidFill>
            <a:srgbClr val="0F20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64008" cy="3108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build-failure assistant for the Payments team's nightly pipeline.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Retrieve the failed build log for the run ID you are given.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Identify the failing stage and the first real error.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Match it to the error catalogue; name the likely cause.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Find the last commit on that branch and its author.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Post a summary to #payments-builds and open a work item.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change pipelines, code or releases. If the cause is unclear, say so and ask a human.</a:t>
            </a:r>
            <a:endParaRPr lang="en-US" sz="1150"/>
          </a:p>
        </p:txBody>
      </p:sp>
      <p:sp>
        <p:nvSpPr>
          <p:cNvPr id="6" name="tip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1051560"/>
            <a:ext cx="288036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it work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single, named role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Numbered, testable steps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hard limits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 fallback to a human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 the exact channel and team</a:t>
            </a:r>
            <a:endParaRPr lang="en-US" sz="1200"/>
          </a:p>
        </p:txBody>
      </p:sp>
      <p:sp>
        <p:nvSpPr>
          <p:cNvPr id="9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instructions the way you would brief a new team member on their first day.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90622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diagram: the agent inside your CI/CD pipeline</a:t>
            </a:r>
            <a:endParaRPr lang="en-US" sz="2500" dirty="0"/>
          </a:p>
        </p:txBody>
      </p:sp>
      <p:sp>
        <p:nvSpPr>
          <p:cNvPr id="3" name="block CI/CD Pip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17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17320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fails</a:t>
            </a:r>
            <a:endParaRPr lang="en-US" sz="1300" dirty="0"/>
          </a:p>
        </p:txBody>
      </p:sp>
      <p:sp>
        <p:nvSpPr>
          <p:cNvPr id="5" name="build failure event starts the agent"/>
          <p:cNvSpPr/>
          <p:nvPr/>
        </p:nvSpPr>
        <p:spPr>
          <a:xfrm>
            <a:off x="1828800" y="1719072"/>
            <a:ext cx="32004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lock Trigg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1417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1417320"/>
            <a:ext cx="1371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event</a:t>
            </a:r>
            <a:endParaRPr lang="en-US" sz="1300" dirty="0"/>
          </a:p>
        </p:txBody>
      </p:sp>
      <p:sp>
        <p:nvSpPr>
          <p:cNvPr id="8" name="trigger invokes the agent"/>
          <p:cNvSpPr/>
          <p:nvPr/>
        </p:nvSpPr>
        <p:spPr>
          <a:xfrm>
            <a:off x="3611880" y="1719072"/>
            <a:ext cx="32004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lock Copilot Ag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12801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Agent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+ model</a:t>
            </a:r>
            <a:endParaRPr lang="en-US" sz="1300" dirty="0"/>
          </a:p>
        </p:txBody>
      </p:sp>
      <p:sp>
        <p:nvSpPr>
          <p:cNvPr id="11" name="agent calls its tools"/>
          <p:cNvSpPr/>
          <p:nvPr/>
        </p:nvSpPr>
        <p:spPr>
          <a:xfrm>
            <a:off x="5852160" y="1719072"/>
            <a:ext cx="32004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ool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051560"/>
            <a:ext cx="251460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0972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7648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logs API</a:t>
            </a:r>
            <a:endParaRPr lang="en-US" sz="1100" dirty="0"/>
          </a:p>
        </p:txBody>
      </p:sp>
      <p:sp>
        <p:nvSpPr>
          <p:cNvPr id="15" name="Text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 &amp; commit history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27648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item tracker</a:t>
            </a:r>
            <a:endParaRPr lang="en-US" sz="1100" dirty="0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2276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notification</a:t>
            </a:r>
            <a:endParaRPr lang="en-US" sz="1100" dirty="0"/>
          </a:p>
        </p:txBody>
      </p:sp>
      <p:sp>
        <p:nvSpPr>
          <p:cNvPr id="18" name="block Knowl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27432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4560" y="2743200"/>
            <a:ext cx="1371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runbooks, owners</a:t>
            </a:r>
            <a:endParaRPr lang="en-US" sz="1300" dirty="0"/>
          </a:p>
        </p:txBody>
      </p:sp>
      <p:sp>
        <p:nvSpPr>
          <p:cNvPr id="20" name="knowledge informs the agent"/>
          <p:cNvSpPr/>
          <p:nvPr/>
        </p:nvSpPr>
        <p:spPr>
          <a:xfrm>
            <a:off x="3611880" y="3017520"/>
            <a:ext cx="32004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lock Human Approv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27432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7764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Approval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any change</a:t>
            </a:r>
            <a:endParaRPr lang="en-US" sz="1300" dirty="0"/>
          </a:p>
        </p:txBody>
      </p:sp>
      <p:sp>
        <p:nvSpPr>
          <p:cNvPr id="23" name="approved action produces the outcome"/>
          <p:cNvSpPr/>
          <p:nvPr/>
        </p:nvSpPr>
        <p:spPr>
          <a:xfrm>
            <a:off x="5852160" y="3017520"/>
            <a:ext cx="320040" cy="219456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lock Outco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27432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2743200"/>
            <a:ext cx="2514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in Teams + work item</a:t>
            </a:r>
            <a:endParaRPr lang="en-US" sz="1300" dirty="0"/>
          </a:p>
        </p:txBody>
      </p:sp>
      <p:sp>
        <p:nvSpPr>
          <p:cNvPr id="26" name="governanc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794760"/>
            <a:ext cx="8321040" cy="43891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 ·  Least-privilege access  ·  Run history &amp; logging  ·  Analytics</a:t>
            </a:r>
            <a:endParaRPr lang="en-US" sz="1150" dirty="0"/>
          </a:p>
        </p:txBody>
      </p:sp>
      <p:sp>
        <p:nvSpPr>
          <p:cNvPr id="28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tools first; add write actions behind approval once the agent proves itself.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 on your first agent</a:t>
            </a:r>
            <a:endParaRPr lang="en-US" sz="250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 too broad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58952" y="15361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"Manage our DevOps" — scope it to one job</a:t>
            </a:r>
            <a:endParaRPr lang="en-US" sz="115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25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Vague instructions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919472" y="15361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steps, no limits, so behaviour drifts</a:t>
            </a:r>
            <a:endParaRPr lang="en-US" sz="115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76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access too early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58952" y="25877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it read and report before it acts</a:t>
            </a:r>
            <a:endParaRPr lang="en-US" sz="115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76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knowledge source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919472" y="25877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guesses instead of citing your runbooks</a:t>
            </a:r>
            <a:endParaRPr lang="en-US" sz="115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only happy paths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58952" y="36393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real, messy failures too</a:t>
            </a:r>
            <a:endParaRPr lang="en-US" sz="115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and forget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19472" y="36393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logs and reviews, quality decays</a:t>
            </a:r>
            <a:endParaRPr lang="en-US" sz="115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Almost every failed pilot traces back to the first two: too broad a goal, too vague an instruction.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30486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lab: build it in 20 minutes</a:t>
            </a:r>
            <a:endParaRPr lang="en-US" sz="2500"/>
          </a:p>
        </p:txBody>
      </p:sp>
      <p:sp>
        <p:nvSpPr>
          <p:cNvPr id="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0–3 min · Set up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75895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the starter project and put your keys in the .env file</a:t>
            </a:r>
            <a:endParaRPr lang="en-US" sz="115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3–7 min · Connect a server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91947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the agent at one MCP server and list the tools it offers</a:t>
            </a:r>
            <a:endParaRPr lang="en-US" sz="115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7–11 min · Add a tool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5895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get_build_log and the description the model will read</a:t>
            </a:r>
            <a:endParaRPr lang="en-US" sz="1150"/>
          </a:p>
        </p:txBody>
      </p:sp>
      <p:sp>
        <p:nvSpPr>
          <p:cNvPr id="1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4884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11–15 min · Run the loop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919472" y="25694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it a goal and watch every tool call it decides to make</a:t>
            </a:r>
            <a:endParaRPr lang="en-US" sz="115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15–18 min · Break it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5895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the tool description and watch the agent guess wrong</a:t>
            </a:r>
            <a:endParaRPr lang="en-US" sz="115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E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20040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310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18–20 min · Compare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19472" y="36210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what changed once the loop had good tools to work with</a:t>
            </a:r>
            <a:endParaRPr lang="en-US" sz="1150"/>
          </a:p>
        </p:txBody>
      </p:sp>
      <p:sp>
        <p:nvSpPr>
          <p:cNvPr id="27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 up: one drives, one reads the tool-call log aloud. That log is where the learning happens.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42666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script 1: set up the project</a:t>
            </a:r>
            <a:endParaRPr lang="en-US" sz="2500" dirty="0"/>
          </a:p>
        </p:txBody>
      </p:sp>
      <p:sp>
        <p:nvSpPr>
          <p:cNvPr id="3" name="instruc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5074920" cy="3108960"/>
          </a:xfrm>
          <a:prstGeom prst="rect">
            <a:avLst/>
          </a:prstGeom>
          <a:solidFill>
            <a:srgbClr val="0F20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64008" cy="3108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1150" dirty="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openai mcp python-dotenv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 — .env</a:t>
            </a:r>
            <a:endParaRPr lang="en-US" sz="1150" dirty="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AZURE_OPENAI_ENDPOINT=https://…</a:t>
            </a:r>
            <a:endParaRPr lang="en-US" sz="1150" dirty="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AZURE_OPENAI_API_KEY=…</a:t>
            </a:r>
            <a:endParaRPr lang="en-US" sz="1150" dirty="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DEVOPS_TOKEN=…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layout</a:t>
            </a:r>
            <a:endParaRPr lang="en-US" sz="1150" dirty="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   ·   tools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  ·   mcp_servers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  ·   .env</a:t>
            </a:r>
            <a:endParaRPr lang="en-US" sz="1150" dirty="0"/>
          </a:p>
        </p:txBody>
      </p:sp>
      <p:sp>
        <p:nvSpPr>
          <p:cNvPr id="6" name="tip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1051560"/>
            <a:ext cx="288036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start 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stay out of the code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 per concern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 your package versions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layout in dev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everything except .env</a:t>
            </a:r>
            <a:endParaRPr lang="en-US" sz="1200" dirty="0"/>
          </a:p>
        </p:txBody>
      </p:sp>
      <p:sp>
        <p:nvSpPr>
          <p:cNvPr id="9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skeleton before 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line of agent logic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script 2: define the tools</a:t>
            </a:r>
            <a:endParaRPr lang="en-US" sz="2500"/>
          </a:p>
        </p:txBody>
      </p:sp>
      <p:sp>
        <p:nvSpPr>
          <p:cNvPr id="3" name="instruc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5074920" cy="3108960"/>
          </a:xfrm>
          <a:prstGeom prst="rect">
            <a:avLst/>
          </a:prstGeom>
          <a:solidFill>
            <a:srgbClr val="0F20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64008" cy="3108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get_build_log(run_id: str) -&gt; str: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'Return the raw log for a failed pipeline run.'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devops.get(f'/builds/{run_id}/logs')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r.text[:8000]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'name': 'get_build_log',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'description': 'Fetch the log for a failed build run',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'parameters': {'run_id': 'string'}}]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TOOL_MAP = {'get_build_log': get_build_log}</a:t>
            </a:r>
            <a:endParaRPr lang="en-US" sz="1150"/>
          </a:p>
        </p:txBody>
      </p:sp>
      <p:sp>
        <p:nvSpPr>
          <p:cNvPr id="6" name="tip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1051560"/>
            <a:ext cx="288036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checklist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description is the interface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inputs only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Trim what you return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tools first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job per tool</a:t>
            </a:r>
            <a:endParaRPr lang="en-US" sz="1200"/>
          </a:p>
        </p:txBody>
      </p:sp>
      <p:sp>
        <p:nvSpPr>
          <p:cNvPr id="9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name, description and type hints are all the model has when it decides to call this tool.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200395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script 3: the agent loop</a:t>
            </a:r>
            <a:endParaRPr lang="en-US" sz="2500"/>
          </a:p>
        </p:txBody>
      </p:sp>
      <p:sp>
        <p:nvSpPr>
          <p:cNvPr id="3" name="instruc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5074920" cy="3108960"/>
          </a:xfrm>
          <a:prstGeom prst="rect">
            <a:avLst/>
          </a:prstGeom>
          <a:solidFill>
            <a:srgbClr val="0F20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64008" cy="3108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[{'role': 'system', 'content': INSTRUCTIONS},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{'role': 'user', 'content': goal}]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range(MAX_STEPS):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client.chat(MODEL, messages, tools=TOOLS)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reply.tool_calls: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call in reply.tool_calls: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TOOL_MAP[call.name](**call.arguments)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messages.append(tool_msg(call, result))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print(reply.content)      # the summary posted to Teams</a:t>
            </a:r>
            <a:endParaRPr lang="en-US" sz="1150"/>
          </a:p>
        </p:txBody>
      </p:sp>
      <p:sp>
        <p:nvSpPr>
          <p:cNvPr id="6" name="tip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1051560"/>
            <a:ext cx="288036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in code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decides the next action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run, results go back in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until no tool is called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 the number of steps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every call you make</a:t>
            </a:r>
            <a:endParaRPr lang="en-US" sz="1200"/>
          </a:p>
        </p:txBody>
      </p:sp>
      <p:sp>
        <p:nvSpPr>
          <p:cNvPr id="9" name="not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loop is the whole difference between generative AI and an agent — everything else is plumbing.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41071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3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0"/>
            <a:ext cx="384048" cy="384048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234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 responds to a prompt and produces content — one pass, no memory of a goal.</a:t>
            </a:r>
            <a:endParaRPr lang="en-US" sz="1500" dirty="0"/>
          </a:p>
        </p:txBody>
      </p:sp>
      <p:sp>
        <p:nvSpPr>
          <p:cNvPr id="6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84832"/>
            <a:ext cx="384048" cy="384048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0391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is given a goal and loops: plan, act with tools, observe, adjust.</a:t>
            </a:r>
            <a:endParaRPr lang="en-US" sz="1500" dirty="0"/>
          </a:p>
        </p:txBody>
      </p:sp>
      <p:sp>
        <p:nvSpPr>
          <p:cNvPr id="9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9504"/>
            <a:ext cx="384048" cy="384048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84378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needs a model, instructions, knowledge, tools and guardrails around them.</a:t>
            </a:r>
            <a:endParaRPr lang="en-US" sz="1500" dirty="0"/>
          </a:p>
        </p:txBody>
      </p:sp>
      <p:sp>
        <p:nvSpPr>
          <p:cNvPr id="12" name="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94176"/>
            <a:ext cx="384048" cy="384048"/>
          </a:xfrm>
          <a:prstGeom prst="ellipse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64845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a narrow, read-only use case — like the CI/CD failure agent — then widen.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61CFA-87C7-3D32-9C63-4FEC1B2A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DFDC791-D356-0DE3-76DC-1342213269FB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 today</a:t>
            </a:r>
            <a:endParaRPr lang="en-US" sz="2500" dirty="0"/>
          </a:p>
        </p:txBody>
      </p:sp>
      <p:sp>
        <p:nvSpPr>
          <p:cNvPr id="3" name="card">
            <a:extLst>
              <a:ext uri="{FF2B5EF4-FFF2-40B4-BE49-F238E27FC236}">
                <a16:creationId xmlns:a16="http://schemas.microsoft.com/office/drawing/2014/main" id="{8D9CCF2A-E0F6-440A-DB6E-EAD50D0C2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874520" cy="228600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">
            <a:extLst>
              <a:ext uri="{FF2B5EF4-FFF2-40B4-BE49-F238E27FC236}">
                <a16:creationId xmlns:a16="http://schemas.microsoft.com/office/drawing/2014/main" id="{E570736A-1FBD-E008-24AF-ACE29977B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3444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79D04E-C4C9-EC9F-5980-B67C1F5ADEA7}"/>
              </a:ext>
            </a:extLst>
          </p:cNvPr>
          <p:cNvSpPr/>
          <p:nvPr/>
        </p:nvSpPr>
        <p:spPr>
          <a:xfrm>
            <a:off x="6400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1704E8-0E24-866E-8738-8BDBA3F78F0C}"/>
              </a:ext>
            </a:extLst>
          </p:cNvPr>
          <p:cNvSpPr/>
          <p:nvPr/>
        </p:nvSpPr>
        <p:spPr>
          <a:xfrm>
            <a:off x="640080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kinds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903F52-16F3-EF97-E141-2F3F85F9A81B}"/>
              </a:ext>
            </a:extLst>
          </p:cNvPr>
          <p:cNvSpPr/>
          <p:nvPr/>
        </p:nvSpPr>
        <p:spPr>
          <a:xfrm>
            <a:off x="64008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works</a:t>
            </a: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2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compared</a:t>
            </a:r>
            <a:endParaRPr lang="en-US" sz="1200" dirty="0"/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490542A1-8378-6428-4139-A93E59397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234440"/>
            <a:ext cx="1874520" cy="228600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ccent">
            <a:extLst>
              <a:ext uri="{FF2B5EF4-FFF2-40B4-BE49-F238E27FC236}">
                <a16:creationId xmlns:a16="http://schemas.microsoft.com/office/drawing/2014/main" id="{329149D0-FA31-EDD9-9C45-03D8052F2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23444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76EBD38-C56D-E3ED-2EB8-DF21F11B2993}"/>
              </a:ext>
            </a:extLst>
          </p:cNvPr>
          <p:cNvSpPr/>
          <p:nvPr/>
        </p:nvSpPr>
        <p:spPr>
          <a:xfrm>
            <a:off x="2724912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8D2C2E7-757E-DC71-0679-EFFCC9908A38}"/>
              </a:ext>
            </a:extLst>
          </p:cNvPr>
          <p:cNvSpPr/>
          <p:nvPr/>
        </p:nvSpPr>
        <p:spPr>
          <a:xfrm>
            <a:off x="2724912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MCP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BF6F3E9-D9C5-3310-E978-2A76C858420B}"/>
              </a:ext>
            </a:extLst>
          </p:cNvPr>
          <p:cNvSpPr/>
          <p:nvPr/>
        </p:nvSpPr>
        <p:spPr>
          <a:xfrm>
            <a:off x="2724912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agents call</a:t>
            </a: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2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how</a:t>
            </a:r>
            <a:endParaRPr lang="en-US" sz="1200" dirty="0"/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32217A24-DE05-4CA3-E8DF-414258C0B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234440"/>
            <a:ext cx="1874520" cy="228600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ccent">
            <a:extLst>
              <a:ext uri="{FF2B5EF4-FFF2-40B4-BE49-F238E27FC236}">
                <a16:creationId xmlns:a16="http://schemas.microsoft.com/office/drawing/2014/main" id="{B541139B-7797-E86E-7C1A-F469AB83F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23444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A2DA8BC-A57C-C22A-8A56-34E5B2FEC44A}"/>
              </a:ext>
            </a:extLst>
          </p:cNvPr>
          <p:cNvSpPr/>
          <p:nvPr/>
        </p:nvSpPr>
        <p:spPr>
          <a:xfrm>
            <a:off x="4809744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8A61815-7CCF-BBE8-2429-E781F43A6C45}"/>
              </a:ext>
            </a:extLst>
          </p:cNvPr>
          <p:cNvSpPr/>
          <p:nvPr/>
        </p:nvSpPr>
        <p:spPr>
          <a:xfrm>
            <a:off x="4809744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an agent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B85CB7-B420-C8E3-6A59-32FCD8A8DA47}"/>
              </a:ext>
            </a:extLst>
          </p:cNvPr>
          <p:cNvSpPr/>
          <p:nvPr/>
        </p:nvSpPr>
        <p:spPr>
          <a:xfrm>
            <a:off x="4809744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+ a CI/CD example</a:t>
            </a:r>
            <a:endParaRPr lang="en-US" sz="1200" dirty="0"/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31BFA35C-F2BF-F6D4-2697-A11DD66E0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234440"/>
            <a:ext cx="1874520" cy="2286000"/>
          </a:xfrm>
          <a:prstGeom prst="rect">
            <a:avLst/>
          </a:prstGeom>
          <a:solidFill>
            <a:srgbClr val="F4F8FB"/>
          </a:solidFill>
          <a:ln w="12700">
            <a:solidFill>
              <a:srgbClr val="C7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ccent">
            <a:extLst>
              <a:ext uri="{FF2B5EF4-FFF2-40B4-BE49-F238E27FC236}">
                <a16:creationId xmlns:a16="http://schemas.microsoft.com/office/drawing/2014/main" id="{91AE0CE1-3F17-E3DF-AA42-C90770A87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23444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BC12F2D-092F-5951-6D7A-E62278F1BE3E}"/>
              </a:ext>
            </a:extLst>
          </p:cNvPr>
          <p:cNvSpPr/>
          <p:nvPr/>
        </p:nvSpPr>
        <p:spPr>
          <a:xfrm>
            <a:off x="6894576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0119376-3BF0-B4C2-DD43-485B2AF768A9}"/>
              </a:ext>
            </a:extLst>
          </p:cNvPr>
          <p:cNvSpPr/>
          <p:nvPr/>
        </p:nvSpPr>
        <p:spPr>
          <a:xfrm>
            <a:off x="6894576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231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</a:t>
            </a:r>
            <a:endParaRPr lang="en-US" sz="15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9F7E54F-F9CF-612C-5FB7-D13AEAA3679E}"/>
              </a:ext>
            </a:extLst>
          </p:cNvPr>
          <p:cNvSpPr/>
          <p:nvPr/>
        </p:nvSpPr>
        <p:spPr>
          <a:xfrm>
            <a:off x="6894576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lab and the full scripts</a:t>
            </a:r>
            <a:endParaRPr lang="en-US" sz="1200" dirty="0"/>
          </a:p>
        </p:txBody>
      </p:sp>
      <p:sp>
        <p:nvSpPr>
          <p:cNvPr id="23" name="note bar">
            <a:extLst>
              <a:ext uri="{FF2B5EF4-FFF2-40B4-BE49-F238E27FC236}">
                <a16:creationId xmlns:a16="http://schemas.microsoft.com/office/drawing/2014/main" id="{765DDC8B-7214-B4E8-3426-427CA9590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4CB5F68-7A9B-10F4-7BF3-FF01FF877175}"/>
              </a:ext>
            </a:extLst>
          </p:cNvPr>
          <p:cNvSpPr/>
          <p:nvPr/>
        </p:nvSpPr>
        <p:spPr>
          <a:xfrm>
            <a:off x="68580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by the end, you can look at any AI system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say which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kind 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</a:t>
            </a:r>
            <a:r>
              <a:rPr lang="en-US" sz="1200" i="1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is, and build a simple agent</a:t>
            </a:r>
            <a:r>
              <a:rPr lang="en-US" sz="1200" i="1" dirty="0">
                <a:solidFill>
                  <a:srgbClr val="5B66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827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2618</TotalTime>
  <Words>4637</Words>
  <Application>Microsoft Office PowerPoint</Application>
  <PresentationFormat>On-screen Show (16:9)</PresentationFormat>
  <Paragraphs>720</Paragraphs>
  <Slides>50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Consolas</vt:lpstr>
      <vt:lpstr>Segoe UI</vt:lpstr>
      <vt:lpstr>Office Theme</vt:lpstr>
      <vt:lpstr>Generative AI vs Agentic AI</vt:lpstr>
      <vt:lpstr>WHO  AM I?</vt:lpstr>
      <vt:lpstr>What we'll cover today</vt:lpstr>
      <vt:lpstr>Create an image of a man writing with his left hand</vt:lpstr>
      <vt:lpstr>According to our communication sofar, Which hindi movie character do you relate me with? Justify.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Why AI Sometimes Fails</vt:lpstr>
      <vt:lpstr>PowerPoint Presentation</vt:lpstr>
      <vt:lpstr>Generative AI: creates content on request</vt:lpstr>
      <vt:lpstr>Block diagram: how Generative AI works</vt:lpstr>
      <vt:lpstr>Generative AI: strengths and limits</vt:lpstr>
      <vt:lpstr>From answering to acting</vt:lpstr>
      <vt:lpstr>Agentic AI: pursues a goal, step by step</vt:lpstr>
      <vt:lpstr>Block diagram: how an AI agent works</vt:lpstr>
      <vt:lpstr>Conceptual architecture: everything an agent needs</vt:lpstr>
      <vt:lpstr>The flow when you build an agent</vt:lpstr>
      <vt:lpstr>Side by side: the two block diagrams</vt:lpstr>
      <vt:lpstr>Comparing them point by point</vt:lpstr>
      <vt:lpstr>Same task, two approaches</vt:lpstr>
      <vt:lpstr>Which one should you reach for?</vt:lpstr>
      <vt:lpstr>The tool sets an agent uses</vt:lpstr>
      <vt:lpstr>Block diagram: how a tool call flows</vt:lpstr>
      <vt:lpstr>Wiring tools well: rules of thumb</vt:lpstr>
      <vt:lpstr>Tool sets in detail</vt:lpstr>
      <vt:lpstr>Project, skills and the other building blocks</vt:lpstr>
      <vt:lpstr>How project, skills and tools nest together</vt:lpstr>
      <vt:lpstr>The rest of the build kit</vt:lpstr>
      <vt:lpstr>Questions?</vt:lpstr>
      <vt:lpstr>MCP: a standard way to plug tools in</vt:lpstr>
      <vt:lpstr>Block diagram: how an MCP tool call flows</vt:lpstr>
      <vt:lpstr>MCP servers your class can try</vt:lpstr>
      <vt:lpstr>Our CI/CD agent, expressed as MCP tools</vt:lpstr>
      <vt:lpstr>Hands-on: building an agent with Microsoft Copilot</vt:lpstr>
      <vt:lpstr>What you build with in Microsoft Copilot</vt:lpstr>
      <vt:lpstr>Our example: a CI/CD build-failure agent</vt:lpstr>
      <vt:lpstr>Step by step: building it in Copilot Studio</vt:lpstr>
      <vt:lpstr>The instructions you would give this agent</vt:lpstr>
      <vt:lpstr>Block diagram: the agent inside your CI/CD pipeline</vt:lpstr>
      <vt:lpstr>Common mistakes on your first agent</vt:lpstr>
      <vt:lpstr>Hands-on lab: build it in 20 minutes</vt:lpstr>
      <vt:lpstr>End-to-end script 1: set up the project</vt:lpstr>
      <vt:lpstr>End-to-end script 2: define the tools</vt:lpstr>
      <vt:lpstr>End-to-end script 3: the agent loop</vt:lpstr>
      <vt:lpstr>Key takeaways</vt:lpstr>
      <vt:lpstr>What we'll cover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KHARAT</dc:creator>
  <cp:lastModifiedBy>Latha T K</cp:lastModifiedBy>
  <cp:revision>11</cp:revision>
  <dcterms:created xsi:type="dcterms:W3CDTF">2026-08-08T17:05:38Z</dcterms:created>
  <dcterms:modified xsi:type="dcterms:W3CDTF">2026-10-12T04:03:19Z</dcterms:modified>
</cp:coreProperties>
</file>